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359" r:id="rId3"/>
    <p:sldId id="606" r:id="rId4"/>
    <p:sldId id="590" r:id="rId5"/>
    <p:sldId id="591" r:id="rId6"/>
    <p:sldId id="599" r:id="rId7"/>
    <p:sldId id="603" r:id="rId8"/>
    <p:sldId id="595" r:id="rId9"/>
    <p:sldId id="596" r:id="rId10"/>
    <p:sldId id="597" r:id="rId11"/>
    <p:sldId id="601" r:id="rId12"/>
    <p:sldId id="602" r:id="rId13"/>
    <p:sldId id="459" r:id="rId14"/>
    <p:sldId id="598" r:id="rId15"/>
    <p:sldId id="607" r:id="rId16"/>
    <p:sldId id="491" r:id="rId17"/>
    <p:sldId id="443" r:id="rId18"/>
    <p:sldId id="440" r:id="rId19"/>
    <p:sldId id="550" r:id="rId20"/>
    <p:sldId id="575" r:id="rId21"/>
    <p:sldId id="576" r:id="rId22"/>
    <p:sldId id="577" r:id="rId23"/>
    <p:sldId id="568" r:id="rId24"/>
    <p:sldId id="570" r:id="rId25"/>
    <p:sldId id="571" r:id="rId26"/>
    <p:sldId id="572" r:id="rId27"/>
    <p:sldId id="573" r:id="rId28"/>
    <p:sldId id="559" r:id="rId29"/>
    <p:sldId id="586" r:id="rId30"/>
    <p:sldId id="587" r:id="rId31"/>
    <p:sldId id="609" r:id="rId32"/>
    <p:sldId id="610" r:id="rId33"/>
    <p:sldId id="589" r:id="rId34"/>
    <p:sldId id="588" r:id="rId35"/>
    <p:sldId id="608" r:id="rId36"/>
    <p:sldId id="551" r:id="rId37"/>
    <p:sldId id="555" r:id="rId38"/>
    <p:sldId id="564" r:id="rId39"/>
    <p:sldId id="585" r:id="rId40"/>
    <p:sldId id="552" r:id="rId41"/>
    <p:sldId id="553" r:id="rId42"/>
    <p:sldId id="554" r:id="rId43"/>
    <p:sldId id="605" r:id="rId44"/>
    <p:sldId id="600" r:id="rId45"/>
    <p:sldId id="604" r:id="rId46"/>
    <p:sldId id="592" r:id="rId47"/>
    <p:sldId id="594" r:id="rId48"/>
    <p:sldId id="301" r:id="rId49"/>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3" userDrawn="1">
          <p15:clr>
            <a:srgbClr val="A4A3A4"/>
          </p15:clr>
        </p15:guide>
        <p15:guide id="2" pos="21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chard" initials="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00C0A5-F939-4BED-8973-FCC31FDDCC19}" v="1288" dt="2025-06-23T19:36:11.944"/>
    <p1510:client id="{0A8B7E00-9028-C533-7655-41D312A818C4}" v="389" dt="2025-06-23T22:32:39.979"/>
    <p1510:client id="{28CA9047-B77E-49FB-BF94-7FFD13B13EC4}" v="285" dt="2025-06-24T18:07:51.466"/>
    <p1510:client id="{3557C18A-0750-9CB9-9520-775CF3EC6BB2}" v="972" dt="2025-06-24T08:42:16.566"/>
    <p1510:client id="{49B0B1CD-B3C3-4DD1-B8FE-296B160A0135}" v="6" dt="2025-06-24T20:50:53.298"/>
    <p1510:client id="{4AA2C06E-B237-4358-8528-E3CC00CF15DC}" v="236" dt="2025-06-24T02:30:13.177"/>
    <p1510:client id="{61383811-553F-48CB-8604-85F67E0CA535}" v="67" dt="2025-06-23T21:05:55.396"/>
    <p1510:client id="{6CEB0E57-BEAC-480C-9F51-40D3EAF86E6A}" v="21" dt="2025-06-25T13:47:10.361"/>
    <p1510:client id="{90939192-9422-405F-8F38-062BCD3D9EF5}" v="82" dt="2025-06-25T10:30:15.054"/>
    <p1510:client id="{BB3B2097-295C-7EB4-1A58-5ACBD910F72F}" v="521" dt="2025-06-24T18:12:45.268"/>
    <p1510:client id="{C5B4165A-4B24-D0F0-2743-2270F3778ABD}" v="205" dt="2025-06-25T17:14:41.799"/>
    <p1510:client id="{C7DDCF7F-CB68-CB65-673E-DFD448025521}" v="12" dt="2025-06-24T12:03:19.767"/>
    <p1510:client id="{E2F202E6-A2EA-4152-9D29-A2C9FB58A562}" v="9" dt="2025-06-25T13:51:22.79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43"/>
        <p:guide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comments/comment7.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702880FF-4FCB-42DC-B8CA-5F43E197EBE2}" type="datetimeFigureOut">
              <a:rPr lang="en-US" smtClean="0"/>
              <a:t>6/25/2025</a:t>
            </a:fld>
            <a:endParaRPr lang="en-US"/>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C5C1F1E3-D0FF-4924-8EFC-E0C5A02E169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692130" cy="326390"/>
          </a:xfrm>
          <a:custGeom>
            <a:avLst/>
            <a:gdLst/>
            <a:ahLst/>
            <a:cxnLst/>
            <a:rect l="l" t="t" r="r" b="b"/>
            <a:pathLst>
              <a:path w="10692130" h="326390">
                <a:moveTo>
                  <a:pt x="0" y="326134"/>
                </a:moveTo>
                <a:lnTo>
                  <a:pt x="10692000" y="326134"/>
                </a:lnTo>
                <a:lnTo>
                  <a:pt x="10692000" y="0"/>
                </a:lnTo>
                <a:lnTo>
                  <a:pt x="0" y="0"/>
                </a:lnTo>
                <a:lnTo>
                  <a:pt x="0" y="326134"/>
                </a:lnTo>
                <a:close/>
              </a:path>
            </a:pathLst>
          </a:custGeom>
          <a:solidFill>
            <a:srgbClr val="EEEDF6"/>
          </a:solidFill>
        </p:spPr>
        <p:txBody>
          <a:bodyPr wrap="square" lIns="0" tIns="0" rIns="0" bIns="0" rtlCol="0"/>
          <a:lstStyle/>
          <a:p>
            <a:endParaRPr/>
          </a:p>
        </p:txBody>
      </p:sp>
      <p:sp>
        <p:nvSpPr>
          <p:cNvPr id="17" name="bg object 17"/>
          <p:cNvSpPr/>
          <p:nvPr/>
        </p:nvSpPr>
        <p:spPr>
          <a:xfrm>
            <a:off x="0" y="1874768"/>
            <a:ext cx="10692130" cy="5685790"/>
          </a:xfrm>
          <a:custGeom>
            <a:avLst/>
            <a:gdLst/>
            <a:ahLst/>
            <a:cxnLst/>
            <a:rect l="l" t="t" r="r" b="b"/>
            <a:pathLst>
              <a:path w="10692130" h="5685790">
                <a:moveTo>
                  <a:pt x="10691990" y="108064"/>
                </a:moveTo>
                <a:lnTo>
                  <a:pt x="0" y="108064"/>
                </a:lnTo>
                <a:lnTo>
                  <a:pt x="0" y="5685231"/>
                </a:lnTo>
                <a:lnTo>
                  <a:pt x="10691990" y="5685231"/>
                </a:lnTo>
                <a:lnTo>
                  <a:pt x="10691990" y="108064"/>
                </a:lnTo>
                <a:close/>
              </a:path>
              <a:path w="10692130" h="5685790">
                <a:moveTo>
                  <a:pt x="10691990" y="0"/>
                </a:moveTo>
                <a:lnTo>
                  <a:pt x="0" y="0"/>
                </a:lnTo>
                <a:lnTo>
                  <a:pt x="0" y="3683"/>
                </a:lnTo>
                <a:lnTo>
                  <a:pt x="10691990" y="3683"/>
                </a:lnTo>
                <a:lnTo>
                  <a:pt x="10691990" y="0"/>
                </a:lnTo>
                <a:close/>
              </a:path>
            </a:pathLst>
          </a:custGeom>
          <a:solidFill>
            <a:srgbClr val="EEEDF6"/>
          </a:solidFill>
        </p:spPr>
        <p:txBody>
          <a:bodyPr wrap="square" lIns="0" tIns="0" rIns="0" bIns="0" rtlCol="0"/>
          <a:lstStyle/>
          <a:p>
            <a:endParaRPr/>
          </a:p>
        </p:txBody>
      </p:sp>
      <p:sp>
        <p:nvSpPr>
          <p:cNvPr id="18" name="bg object 18"/>
          <p:cNvSpPr/>
          <p:nvPr/>
        </p:nvSpPr>
        <p:spPr>
          <a:xfrm>
            <a:off x="0" y="430513"/>
            <a:ext cx="10692130" cy="1444625"/>
          </a:xfrm>
          <a:custGeom>
            <a:avLst/>
            <a:gdLst/>
            <a:ahLst/>
            <a:cxnLst/>
            <a:rect l="l" t="t" r="r" b="b"/>
            <a:pathLst>
              <a:path w="10692130" h="1444625">
                <a:moveTo>
                  <a:pt x="10692000" y="0"/>
                </a:moveTo>
                <a:lnTo>
                  <a:pt x="0" y="0"/>
                </a:lnTo>
                <a:lnTo>
                  <a:pt x="0" y="1444251"/>
                </a:lnTo>
                <a:lnTo>
                  <a:pt x="10692000" y="1444251"/>
                </a:lnTo>
                <a:lnTo>
                  <a:pt x="10692000" y="0"/>
                </a:lnTo>
                <a:close/>
              </a:path>
            </a:pathLst>
          </a:custGeom>
          <a:solidFill>
            <a:srgbClr val="282781"/>
          </a:solidFill>
        </p:spPr>
        <p:txBody>
          <a:bodyPr wrap="square" lIns="0" tIns="0" rIns="0" bIns="0" rtlCol="0"/>
          <a:lstStyle/>
          <a:p>
            <a:endParaRPr/>
          </a:p>
        </p:txBody>
      </p:sp>
      <p:sp>
        <p:nvSpPr>
          <p:cNvPr id="19" name="bg object 19"/>
          <p:cNvSpPr/>
          <p:nvPr/>
        </p:nvSpPr>
        <p:spPr>
          <a:xfrm>
            <a:off x="0" y="326142"/>
            <a:ext cx="10692130" cy="1656714"/>
          </a:xfrm>
          <a:custGeom>
            <a:avLst/>
            <a:gdLst/>
            <a:ahLst/>
            <a:cxnLst/>
            <a:rect l="l" t="t" r="r" b="b"/>
            <a:pathLst>
              <a:path w="10692130" h="1656714">
                <a:moveTo>
                  <a:pt x="10691990" y="1552308"/>
                </a:moveTo>
                <a:lnTo>
                  <a:pt x="0" y="1552308"/>
                </a:lnTo>
                <a:lnTo>
                  <a:pt x="0" y="1656689"/>
                </a:lnTo>
                <a:lnTo>
                  <a:pt x="10691990" y="1656689"/>
                </a:lnTo>
                <a:lnTo>
                  <a:pt x="10691990" y="1552308"/>
                </a:lnTo>
                <a:close/>
              </a:path>
              <a:path w="10692130" h="1656714">
                <a:moveTo>
                  <a:pt x="10691990" y="0"/>
                </a:moveTo>
                <a:lnTo>
                  <a:pt x="0" y="0"/>
                </a:lnTo>
                <a:lnTo>
                  <a:pt x="0" y="104381"/>
                </a:lnTo>
                <a:lnTo>
                  <a:pt x="10691990" y="104381"/>
                </a:lnTo>
                <a:lnTo>
                  <a:pt x="10691990" y="0"/>
                </a:lnTo>
                <a:close/>
              </a:path>
            </a:pathLst>
          </a:custGeom>
          <a:solidFill>
            <a:srgbClr val="D2AB67"/>
          </a:solidFill>
        </p:spPr>
        <p:txBody>
          <a:bodyPr wrap="square" lIns="0" tIns="0" rIns="0" bIns="0" rtlCol="0"/>
          <a:lstStyle/>
          <a:p>
            <a:endParaRPr/>
          </a:p>
        </p:txBody>
      </p:sp>
      <p:sp>
        <p:nvSpPr>
          <p:cNvPr id="2" name="Holder 2"/>
          <p:cNvSpPr>
            <a:spLocks noGrp="1"/>
          </p:cNvSpPr>
          <p:nvPr>
            <p:ph type="title"/>
          </p:nvPr>
        </p:nvSpPr>
        <p:spPr>
          <a:xfrm>
            <a:off x="4776001" y="922297"/>
            <a:ext cx="1141397" cy="695960"/>
          </a:xfrm>
          <a:prstGeom prst="rect">
            <a:avLst/>
          </a:prstGeom>
        </p:spPr>
        <p:txBody>
          <a:bodyPr wrap="square" lIns="0" tIns="0" rIns="0" bIns="0">
            <a:spAutoFit/>
          </a:bodyPr>
          <a:lstStyle>
            <a:lvl1pPr>
              <a:defRPr sz="4400" b="1" i="0">
                <a:solidFill>
                  <a:schemeClr val="bg1"/>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534670" y="1739455"/>
            <a:ext cx="9624060"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715147" y="6899328"/>
            <a:ext cx="1635125" cy="163829"/>
          </a:xfrm>
          <a:prstGeom prst="rect">
            <a:avLst/>
          </a:prstGeom>
        </p:spPr>
        <p:txBody>
          <a:bodyPr wrap="square" lIns="0" tIns="0" rIns="0" bIns="0">
            <a:spAutoFit/>
          </a:bodyPr>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6/25/2025</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0692130" cy="5039995"/>
            <a:chOff x="0" y="0"/>
            <a:chExt cx="10692130" cy="5039995"/>
          </a:xfrm>
        </p:grpSpPr>
        <p:sp>
          <p:nvSpPr>
            <p:cNvPr id="3" name="object 3"/>
            <p:cNvSpPr/>
            <p:nvPr/>
          </p:nvSpPr>
          <p:spPr>
            <a:xfrm>
              <a:off x="0" y="0"/>
              <a:ext cx="10692130" cy="4720590"/>
            </a:xfrm>
            <a:custGeom>
              <a:avLst/>
              <a:gdLst/>
              <a:ahLst/>
              <a:cxnLst/>
              <a:rect l="l" t="t" r="r" b="b"/>
              <a:pathLst>
                <a:path w="10692130" h="4720590">
                  <a:moveTo>
                    <a:pt x="10692000" y="0"/>
                  </a:moveTo>
                  <a:lnTo>
                    <a:pt x="0" y="0"/>
                  </a:lnTo>
                  <a:lnTo>
                    <a:pt x="0" y="4720226"/>
                  </a:lnTo>
                  <a:lnTo>
                    <a:pt x="10692000" y="4720226"/>
                  </a:lnTo>
                  <a:lnTo>
                    <a:pt x="10692000" y="0"/>
                  </a:lnTo>
                  <a:close/>
                </a:path>
              </a:pathLst>
            </a:custGeom>
            <a:solidFill>
              <a:srgbClr val="282781"/>
            </a:solidFill>
          </p:spPr>
          <p:txBody>
            <a:bodyPr wrap="square" lIns="0" tIns="0" rIns="0" bIns="0" rtlCol="0"/>
            <a:lstStyle/>
            <a:p>
              <a:endParaRPr/>
            </a:p>
          </p:txBody>
        </p:sp>
        <p:sp>
          <p:nvSpPr>
            <p:cNvPr id="4" name="object 4"/>
            <p:cNvSpPr/>
            <p:nvPr/>
          </p:nvSpPr>
          <p:spPr>
            <a:xfrm>
              <a:off x="0" y="4720226"/>
              <a:ext cx="10692130" cy="319405"/>
            </a:xfrm>
            <a:custGeom>
              <a:avLst/>
              <a:gdLst/>
              <a:ahLst/>
              <a:cxnLst/>
              <a:rect l="l" t="t" r="r" b="b"/>
              <a:pathLst>
                <a:path w="10692130" h="319404">
                  <a:moveTo>
                    <a:pt x="10692000" y="0"/>
                  </a:moveTo>
                  <a:lnTo>
                    <a:pt x="0" y="0"/>
                  </a:lnTo>
                  <a:lnTo>
                    <a:pt x="0" y="319218"/>
                  </a:lnTo>
                  <a:lnTo>
                    <a:pt x="10692000" y="319218"/>
                  </a:lnTo>
                  <a:lnTo>
                    <a:pt x="10692000" y="0"/>
                  </a:lnTo>
                  <a:close/>
                </a:path>
              </a:pathLst>
            </a:custGeom>
            <a:solidFill>
              <a:srgbClr val="D2AB67"/>
            </a:solidFill>
          </p:spPr>
          <p:txBody>
            <a:bodyPr wrap="square" lIns="0" tIns="0" rIns="0" bIns="0" rtlCol="0"/>
            <a:lstStyle/>
            <a:p>
              <a:endParaRPr/>
            </a:p>
          </p:txBody>
        </p:sp>
      </p:grpSp>
      <p:sp>
        <p:nvSpPr>
          <p:cNvPr id="5" name="object 5"/>
          <p:cNvSpPr txBox="1">
            <a:spLocks noGrp="1"/>
          </p:cNvSpPr>
          <p:nvPr>
            <p:ph type="title"/>
          </p:nvPr>
        </p:nvSpPr>
        <p:spPr>
          <a:xfrm>
            <a:off x="165101" y="257761"/>
            <a:ext cx="10230724" cy="2598147"/>
          </a:xfrm>
          <a:prstGeom prst="rect">
            <a:avLst/>
          </a:prstGeom>
        </p:spPr>
        <p:txBody>
          <a:bodyPr vert="horz" wrap="square" lIns="0" tIns="12700" rIns="0" bIns="0" rtlCol="0" anchor="t">
            <a:spAutoFit/>
          </a:bodyPr>
          <a:lstStyle/>
          <a:p>
            <a:pPr marL="27940" algn="ctr">
              <a:spcBef>
                <a:spcPts val="100"/>
              </a:spcBef>
            </a:pPr>
            <a:r>
              <a:rPr lang="en-US" sz="4200">
                <a:solidFill>
                  <a:srgbClr val="FFFFFF"/>
                </a:solidFill>
                <a:latin typeface="Times New Roman" panose="02020603050405020304"/>
                <a:cs typeface="Times New Roman" panose="02020603050405020304"/>
                <a:sym typeface="Lora"/>
              </a:rPr>
              <a:t>DEVELOPMENT OF INTEGRATED WEARABLE DEVICE FOR REMOTE MONITORING OF PREGNANT WOMEN IN GHANA</a:t>
            </a:r>
            <a:endParaRPr lang="en-US" sz="4200" spc="-5">
              <a:latin typeface="Times New Roman" panose="02020603050405020304"/>
              <a:cs typeface="Times New Roman" panose="02020603050405020304"/>
            </a:endParaRPr>
          </a:p>
        </p:txBody>
      </p:sp>
      <p:sp>
        <p:nvSpPr>
          <p:cNvPr id="7" name="object 7"/>
          <p:cNvSpPr/>
          <p:nvPr/>
        </p:nvSpPr>
        <p:spPr>
          <a:xfrm>
            <a:off x="722036" y="5645484"/>
            <a:ext cx="1097474" cy="1316949"/>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2146300" y="5915025"/>
            <a:ext cx="6562725" cy="676466"/>
          </a:xfrm>
          <a:prstGeom prst="rect">
            <a:avLst/>
          </a:prstGeom>
        </p:spPr>
        <p:txBody>
          <a:bodyPr vert="horz" wrap="square" lIns="0" tIns="14604" rIns="0" bIns="0" rtlCol="0">
            <a:spAutoFit/>
          </a:bodyPr>
          <a:lstStyle/>
          <a:p>
            <a:pPr marL="12700">
              <a:lnSpc>
                <a:spcPct val="100000"/>
              </a:lnSpc>
              <a:spcBef>
                <a:spcPts val="115"/>
              </a:spcBef>
            </a:pPr>
            <a:r>
              <a:rPr sz="4300" b="1" spc="-80">
                <a:solidFill>
                  <a:srgbClr val="282781"/>
                </a:solidFill>
                <a:latin typeface="Times New Roman" panose="02020603050405020304" pitchFamily="18" charset="0"/>
                <a:cs typeface="Times New Roman" panose="02020603050405020304" pitchFamily="18" charset="0"/>
              </a:rPr>
              <a:t>UNIVERSITY </a:t>
            </a:r>
            <a:r>
              <a:rPr sz="4300" b="1" spc="35">
                <a:solidFill>
                  <a:srgbClr val="282781"/>
                </a:solidFill>
                <a:latin typeface="Times New Roman" panose="02020603050405020304" pitchFamily="18" charset="0"/>
                <a:cs typeface="Times New Roman" panose="02020603050405020304" pitchFamily="18" charset="0"/>
              </a:rPr>
              <a:t>OF</a:t>
            </a:r>
            <a:r>
              <a:rPr sz="4300" b="1" spc="285">
                <a:solidFill>
                  <a:srgbClr val="282781"/>
                </a:solidFill>
                <a:latin typeface="Times New Roman" panose="02020603050405020304" pitchFamily="18" charset="0"/>
                <a:cs typeface="Times New Roman" panose="02020603050405020304" pitchFamily="18" charset="0"/>
              </a:rPr>
              <a:t> </a:t>
            </a:r>
            <a:r>
              <a:rPr sz="4300" b="1" spc="160">
                <a:solidFill>
                  <a:srgbClr val="282781"/>
                </a:solidFill>
                <a:latin typeface="Times New Roman" panose="02020603050405020304" pitchFamily="18" charset="0"/>
                <a:cs typeface="Times New Roman" panose="02020603050405020304" pitchFamily="18" charset="0"/>
              </a:rPr>
              <a:t>GHANA</a:t>
            </a:r>
            <a:endParaRPr sz="4300">
              <a:latin typeface="Times New Roman" panose="02020603050405020304" pitchFamily="18" charset="0"/>
              <a:cs typeface="Times New Roman" panose="02020603050405020304" pitchFamily="18" charset="0"/>
            </a:endParaRPr>
          </a:p>
        </p:txBody>
      </p:sp>
      <p:sp>
        <p:nvSpPr>
          <p:cNvPr id="9" name="TextBox 8"/>
          <p:cNvSpPr txBox="1"/>
          <p:nvPr/>
        </p:nvSpPr>
        <p:spPr>
          <a:xfrm>
            <a:off x="165101" y="2709567"/>
            <a:ext cx="10363198" cy="1938992"/>
          </a:xfrm>
          <a:prstGeom prst="rect">
            <a:avLst/>
          </a:prstGeom>
          <a:noFill/>
        </p:spPr>
        <p:txBody>
          <a:bodyPr wrap="square" lIns="91440" tIns="45720" rIns="91440" bIns="45720" rtlCol="0" anchor="t">
            <a:spAutoFit/>
          </a:bodyPr>
          <a:lstStyle/>
          <a:p>
            <a:r>
              <a:rPr lang="en-US" sz="2400" b="1" u="sng">
                <a:solidFill>
                  <a:schemeClr val="bg1"/>
                </a:solidFill>
                <a:latin typeface="Times New Roman" panose="02020603050405020304"/>
                <a:ea typeface="Inter" panose="020B0604020202020204" charset="0"/>
                <a:cs typeface="Times New Roman" panose="02020603050405020304"/>
              </a:rPr>
              <a:t>Group Members</a:t>
            </a:r>
          </a:p>
          <a:p>
            <a:r>
              <a:rPr lang="en-US" sz="2400">
                <a:solidFill>
                  <a:schemeClr val="bg1"/>
                </a:solidFill>
                <a:latin typeface="Times New Roman" panose="02020603050405020304"/>
                <a:ea typeface="Inter" panose="020B0604020202020204" charset="0"/>
                <a:cs typeface="Times New Roman" panose="02020603050405020304"/>
              </a:rPr>
              <a:t>Owoh </a:t>
            </a:r>
            <a:r>
              <a:rPr lang="en-US" sz="2400" err="1">
                <a:solidFill>
                  <a:schemeClr val="bg1"/>
                </a:solidFill>
                <a:latin typeface="Times New Roman" panose="02020603050405020304"/>
                <a:ea typeface="Inter" panose="020B0604020202020204" charset="0"/>
                <a:cs typeface="Times New Roman" panose="02020603050405020304"/>
              </a:rPr>
              <a:t>Einsteina</a:t>
            </a:r>
            <a:r>
              <a:rPr lang="en-US" sz="2400">
                <a:solidFill>
                  <a:schemeClr val="bg1"/>
                </a:solidFill>
                <a:latin typeface="Times New Roman" panose="02020603050405020304"/>
                <a:ea typeface="Inter" panose="020B0604020202020204" charset="0"/>
                <a:cs typeface="Times New Roman" panose="02020603050405020304"/>
              </a:rPr>
              <a:t> </a:t>
            </a:r>
            <a:r>
              <a:rPr lang="en-US" sz="2400" err="1">
                <a:solidFill>
                  <a:schemeClr val="bg1"/>
                </a:solidFill>
                <a:latin typeface="Times New Roman" panose="02020603050405020304"/>
                <a:ea typeface="Inter" panose="020B0604020202020204" charset="0"/>
                <a:cs typeface="Times New Roman" panose="02020603050405020304"/>
              </a:rPr>
              <a:t>Ofunne</a:t>
            </a:r>
            <a:r>
              <a:rPr lang="en-US" sz="2400">
                <a:solidFill>
                  <a:schemeClr val="bg1"/>
                </a:solidFill>
                <a:latin typeface="Times New Roman" panose="02020603050405020304"/>
                <a:ea typeface="Inter" panose="020B0604020202020204" charset="0"/>
                <a:cs typeface="Times New Roman" panose="02020603050405020304"/>
              </a:rPr>
              <a:t> - 10943874</a:t>
            </a:r>
          </a:p>
          <a:p>
            <a:r>
              <a:rPr lang="en-US" sz="2400">
                <a:solidFill>
                  <a:schemeClr val="bg1"/>
                </a:solidFill>
                <a:latin typeface="Times New Roman" panose="02020603050405020304"/>
                <a:ea typeface="Inter" panose="020B0604020202020204" charset="0"/>
                <a:cs typeface="Times New Roman" panose="02020603050405020304"/>
              </a:rPr>
              <a:t>Anane George Nyarko – 10947340</a:t>
            </a:r>
          </a:p>
          <a:p>
            <a:r>
              <a:rPr lang="en-US" sz="2400">
                <a:solidFill>
                  <a:schemeClr val="bg1"/>
                </a:solidFill>
                <a:latin typeface="Times New Roman" panose="02020603050405020304"/>
                <a:ea typeface="Inter" panose="020B0604020202020204" charset="0"/>
                <a:cs typeface="Times New Roman" panose="02020603050405020304"/>
              </a:rPr>
              <a:t>Adika Nathaniel - 10957036</a:t>
            </a:r>
          </a:p>
          <a:p>
            <a:r>
              <a:rPr lang="en-US" sz="2400">
                <a:solidFill>
                  <a:schemeClr val="bg1"/>
                </a:solidFill>
                <a:latin typeface="Inter"/>
                <a:ea typeface="Inter" panose="020B0604020202020204" charset="0"/>
              </a:rPr>
              <a:t>                                </a:t>
            </a:r>
            <a:r>
              <a:rPr lang="en-US" sz="2400">
                <a:solidFill>
                  <a:schemeClr val="bg1"/>
                </a:solidFill>
                <a:latin typeface="Inter"/>
                <a:ea typeface="Inter" panose="020B0604020202020204" charset="0"/>
                <a:cs typeface="Times New Roman" panose="02020603050405020304"/>
              </a:rPr>
              <a:t>                   </a:t>
            </a:r>
            <a:r>
              <a:rPr lang="en-US" sz="2400">
                <a:solidFill>
                  <a:schemeClr val="bg1"/>
                </a:solidFill>
                <a:latin typeface="Times New Roman" panose="02020603050405020304"/>
                <a:ea typeface="Inter" panose="020B0604020202020204" charset="0"/>
                <a:cs typeface="Times New Roman" panose="02020603050405020304"/>
              </a:rPr>
              <a:t>DATE: 27th June 2025</a:t>
            </a:r>
            <a:r>
              <a:rPr lang="en-US" sz="2400" baseline="30000">
                <a:solidFill>
                  <a:schemeClr val="bg1"/>
                </a:solidFill>
                <a:latin typeface="Times New Roman" panose="02020603050405020304"/>
                <a:ea typeface="Inter" panose="020B0604020202020204" charset="0"/>
                <a:cs typeface="Times New Roman" panose="02020603050405020304"/>
              </a:rPr>
              <a:t> </a:t>
            </a:r>
            <a:endParaRPr lang="en-US" sz="2400">
              <a:solidFill>
                <a:schemeClr val="bg1"/>
              </a:solidFill>
              <a:latin typeface="Times New Roman" panose="02020603050405020304"/>
              <a:ea typeface="Inter" panose="020B0604020202020204" charset="0"/>
              <a:cs typeface="Times New Roman" panose="02020603050405020304"/>
            </a:endParaRPr>
          </a:p>
        </p:txBody>
      </p:sp>
      <p:sp>
        <p:nvSpPr>
          <p:cNvPr id="10" name="TextBox 9"/>
          <p:cNvSpPr txBox="1"/>
          <p:nvPr/>
        </p:nvSpPr>
        <p:spPr>
          <a:xfrm>
            <a:off x="7023100" y="2643850"/>
            <a:ext cx="5078896" cy="2306955"/>
          </a:xfrm>
          <a:prstGeom prst="rect">
            <a:avLst/>
          </a:prstGeom>
          <a:noFill/>
        </p:spPr>
        <p:txBody>
          <a:bodyPr wrap="square" rtlCol="0">
            <a:spAutoFit/>
          </a:bodyPr>
          <a:lstStyle/>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Project Supervisor</a:t>
            </a: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Dr. Godfrey Mills</a:t>
            </a:r>
          </a:p>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Co-Supervisor</a:t>
            </a: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Prof.</a:t>
            </a:r>
            <a:r>
              <a:rPr lang="en-US" sz="2400">
                <a:latin typeface="Times New Roman" panose="02020603050405020304" pitchFamily="18" charset="0"/>
                <a:cs typeface="Times New Roman" panose="02020603050405020304" pitchFamily="18" charset="0"/>
              </a:rPr>
              <a:t> </a:t>
            </a:r>
            <a:r>
              <a:rPr lang="en-US" sz="2400">
                <a:solidFill>
                  <a:schemeClr val="bg1"/>
                </a:solidFill>
                <a:latin typeface="Times New Roman" panose="02020603050405020304" pitchFamily="18" charset="0"/>
                <a:cs typeface="Times New Roman" panose="02020603050405020304" pitchFamily="18" charset="0"/>
              </a:rPr>
              <a:t>Elsie Effah Kaufmann</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7494" y="5558914"/>
            <a:ext cx="1303216" cy="13078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2128" y="1298571"/>
            <a:ext cx="8524572" cy="551180"/>
          </a:xfrm>
          <a:prstGeom prst="rect">
            <a:avLst/>
          </a:prstGeom>
        </p:spPr>
        <p:txBody>
          <a:bodyPr vert="horz" wrap="square" lIns="0" tIns="12700" rIns="0" bIns="0" rtlCol="0" anchor="t">
            <a:spAutoFit/>
          </a:bodyPr>
          <a:lstStyle/>
          <a:p>
            <a:pPr marL="12700" algn="ctr">
              <a:lnSpc>
                <a:spcPct val="100000"/>
              </a:lnSpc>
              <a:spcBef>
                <a:spcPts val="100"/>
              </a:spcBef>
            </a:pPr>
            <a:r>
              <a:rPr lang="en-GB" sz="3500" spc="-165">
                <a:latin typeface="Times New Roman" panose="02020603050405020304"/>
                <a:cs typeface="Times New Roman" panose="02020603050405020304"/>
              </a:rPr>
              <a:t>COLLABORATORS</a:t>
            </a:r>
            <a:endParaRPr lang="en-GB" sz="3500" spc="-165">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p>
        </p:txBody>
      </p:sp>
      <p:sp>
        <p:nvSpPr>
          <p:cNvPr id="7" name="object 3"/>
          <p:cNvSpPr txBox="1"/>
          <p:nvPr/>
        </p:nvSpPr>
        <p:spPr>
          <a:xfrm>
            <a:off x="-2495" y="1895835"/>
            <a:ext cx="10701809" cy="2091726"/>
          </a:xfrm>
          <a:prstGeom prst="rect">
            <a:avLst/>
          </a:prstGeom>
        </p:spPr>
        <p:txBody>
          <a:bodyPr vert="horz" wrap="square" lIns="0" tIns="216535" rIns="0" bIns="0" rtlCol="0" anchor="t">
            <a:spAutoFit/>
          </a:bodyPr>
          <a:lstStyle/>
          <a:p>
            <a:pPr marL="469265" indent="-457200">
              <a:lnSpc>
                <a:spcPct val="150000"/>
              </a:lnSpc>
              <a:spcBef>
                <a:spcPts val="1605"/>
              </a:spcBef>
              <a:buFont typeface="Wingdings" panose="05000000000000000000" pitchFamily="2" charset="2"/>
              <a:buChar char="v"/>
              <a:tabLst>
                <a:tab pos="469265" algn="l"/>
                <a:tab pos="469900" algn="l"/>
              </a:tabLst>
            </a:pPr>
            <a:r>
              <a:rPr lang="en-US" sz="2200" b="1" spc="-5">
                <a:latin typeface="Times New Roman" panose="02020603050405020304"/>
                <a:cs typeface="Times New Roman" panose="02020603050405020304"/>
              </a:rPr>
              <a:t> </a:t>
            </a:r>
            <a:r>
              <a:rPr lang="en-US" sz="2200" spc="-5">
                <a:latin typeface="Times New Roman" panose="02020603050405020304"/>
                <a:cs typeface="Times New Roman" panose="02020603050405020304"/>
              </a:rPr>
              <a:t>Nathaniel   Sakyi Adibuer, IT Consortium</a:t>
            </a:r>
            <a:endParaRPr lang="en-US" sz="2200" spc="-5" baseline="30000">
              <a:latin typeface="Times New Roman" panose="02020603050405020304"/>
              <a:cs typeface="Times New Roman" panose="02020603050405020304"/>
            </a:endParaRP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Dr. Frank Amegah, Korle-Bu Teaching Hospital</a:t>
            </a:r>
          </a:p>
          <a:p>
            <a:pPr marL="12065">
              <a:lnSpc>
                <a:spcPct val="150000"/>
              </a:lnSpc>
              <a:spcBef>
                <a:spcPts val="1605"/>
              </a:spcBef>
              <a:tabLst>
                <a:tab pos="469265" algn="l"/>
                <a:tab pos="469900" algn="l"/>
              </a:tabLst>
            </a:pPr>
            <a:endParaRPr lang="en-US" sz="2200" b="1" spc="-5">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33A38-A5D0-21BD-DE39-4B8D7F46AF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654CB62-7BD7-186F-5765-033D04B68D95}"/>
              </a:ext>
            </a:extLst>
          </p:cNvPr>
          <p:cNvSpPr txBox="1">
            <a:spLocks noGrp="1"/>
          </p:cNvSpPr>
          <p:nvPr>
            <p:ph type="title"/>
          </p:nvPr>
        </p:nvSpPr>
        <p:spPr>
          <a:xfrm>
            <a:off x="632128" y="1298571"/>
            <a:ext cx="8524572" cy="551180"/>
          </a:xfrm>
          <a:prstGeom prst="rect">
            <a:avLst/>
          </a:prstGeom>
        </p:spPr>
        <p:txBody>
          <a:bodyPr vert="horz" wrap="square" lIns="0" tIns="12700" rIns="0" bIns="0" rtlCol="0" anchor="t">
            <a:spAutoFit/>
          </a:bodyPr>
          <a:lstStyle/>
          <a:p>
            <a:pPr marL="12700" algn="ctr">
              <a:spcBef>
                <a:spcPts val="100"/>
              </a:spcBef>
            </a:pPr>
            <a:r>
              <a:rPr lang="en-GB" sz="3500" spc="-165">
                <a:latin typeface="Times New Roman" panose="02020603050405020304"/>
                <a:cs typeface="Times New Roman" panose="02020603050405020304"/>
              </a:rPr>
              <a:t>        PRESENTATION OUTLINE</a:t>
            </a:r>
            <a:endParaRPr lang="en-GB" sz="3500" spc="-16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D1EA2DB8-805D-1CB2-7AD6-8144D613F7BE}"/>
              </a:ext>
            </a:extLst>
          </p:cNvPr>
          <p:cNvSpPr txBox="1"/>
          <p:nvPr/>
        </p:nvSpPr>
        <p:spPr>
          <a:xfrm>
            <a:off x="-2495" y="1895835"/>
            <a:ext cx="4054132" cy="6369821"/>
          </a:xfrm>
          <a:prstGeom prst="rect">
            <a:avLst/>
          </a:prstGeom>
        </p:spPr>
        <p:txBody>
          <a:bodyPr vert="horz" wrap="square" lIns="0" tIns="216535" rIns="0" bIns="0" rtlCol="0" anchor="t">
            <a:spAutoFit/>
          </a:bodyPr>
          <a:lstStyle/>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BACKGROUND</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PROBLEM STATEMENT</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RELEVANCE OF WORK</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PROJECT OBJECTIVES</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EXISTING SOLUTIONS</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DESIGN METHODOLOGY</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PROJECT TIMELINE</a:t>
            </a:r>
          </a:p>
          <a:p>
            <a:pPr marL="469265" indent="-457200">
              <a:lnSpc>
                <a:spcPct val="150000"/>
              </a:lnSpc>
              <a:spcBef>
                <a:spcPts val="1605"/>
              </a:spcBef>
              <a:buFont typeface="Wingdings" panose="05000000000000000000" pitchFamily="2" charset="2"/>
              <a:buChar char="v"/>
              <a:tabLst>
                <a:tab pos="469265" algn="l"/>
                <a:tab pos="469900" algn="l"/>
              </a:tabLst>
            </a:pPr>
            <a:endParaRPr lang="en-US" sz="2200" spc="-5">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a:latin typeface="Times New Roman" panose="02020603050405020304"/>
              <a:cs typeface="Times New Roman" panose="02020603050405020304"/>
            </a:endParaRPr>
          </a:p>
        </p:txBody>
      </p:sp>
      <p:sp>
        <p:nvSpPr>
          <p:cNvPr id="3" name="object 3">
            <a:extLst>
              <a:ext uri="{FF2B5EF4-FFF2-40B4-BE49-F238E27FC236}">
                <a16:creationId xmlns:a16="http://schemas.microsoft.com/office/drawing/2014/main" id="{111A05CF-8EFB-F80D-DBA6-4BCA6A384812}"/>
              </a:ext>
            </a:extLst>
          </p:cNvPr>
          <p:cNvSpPr txBox="1"/>
          <p:nvPr/>
        </p:nvSpPr>
        <p:spPr>
          <a:xfrm>
            <a:off x="6296046" y="1848270"/>
            <a:ext cx="4657024" cy="6417386"/>
          </a:xfrm>
          <a:prstGeom prst="rect">
            <a:avLst/>
          </a:prstGeom>
        </p:spPr>
        <p:txBody>
          <a:bodyPr vert="horz" wrap="square" lIns="0" tIns="216535" rIns="0" bIns="0" rtlCol="0" anchor="t">
            <a:spAutoFit/>
          </a:bodyPr>
          <a:lstStyle/>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TASK DELEGATION</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PROGRESS SO FAR</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NEXT STEPS</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CONCLUSION</a:t>
            </a: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a:latin typeface="Times New Roman" panose="02020603050405020304"/>
                <a:cs typeface="Times New Roman" panose="02020603050405020304"/>
              </a:rPr>
              <a:t>REFRENCES</a:t>
            </a:r>
          </a:p>
          <a:p>
            <a:pPr marL="469265" indent="-457200">
              <a:lnSpc>
                <a:spcPct val="150000"/>
              </a:lnSpc>
              <a:spcBef>
                <a:spcPts val="1605"/>
              </a:spcBef>
              <a:buFont typeface="Wingdings" panose="05000000000000000000" pitchFamily="2" charset="2"/>
              <a:buChar char="v"/>
              <a:tabLst>
                <a:tab pos="469265" algn="l"/>
                <a:tab pos="469900" algn="l"/>
              </a:tabLst>
            </a:pPr>
            <a:endParaRPr lang="en-US" sz="2200" spc="-5">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spc="-5">
              <a:latin typeface="Times New Roman" panose="02020603050405020304"/>
              <a:cs typeface="Times New Roman" panose="02020603050405020304"/>
            </a:endParaRPr>
          </a:p>
          <a:p>
            <a:pPr marL="469265" indent="-457200">
              <a:lnSpc>
                <a:spcPct val="150000"/>
              </a:lnSpc>
              <a:spcBef>
                <a:spcPts val="1605"/>
              </a:spcBef>
              <a:buFont typeface="Wingdings" panose="05000000000000000000" pitchFamily="2" charset="2"/>
              <a:buChar char="v"/>
              <a:tabLst>
                <a:tab pos="469265" algn="l"/>
                <a:tab pos="469900" algn="l"/>
              </a:tabLst>
            </a:pPr>
            <a:endParaRPr lang="en-US" sz="2200" spc="-5">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a:latin typeface="Times New Roman" panose="02020603050405020304"/>
              <a:cs typeface="Times New Roman" panose="02020603050405020304"/>
            </a:endParaRPr>
          </a:p>
        </p:txBody>
      </p:sp>
    </p:spTree>
    <p:extLst>
      <p:ext uri="{BB962C8B-B14F-4D97-AF65-F5344CB8AC3E}">
        <p14:creationId xmlns:p14="http://schemas.microsoft.com/office/powerpoint/2010/main" val="296261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80191-743A-F507-C3E4-3FC302F642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262DDFA-D09E-51AB-7B3C-EBED64F852BA}"/>
              </a:ext>
            </a:extLst>
          </p:cNvPr>
          <p:cNvSpPr txBox="1">
            <a:spLocks noGrp="1"/>
          </p:cNvSpPr>
          <p:nvPr>
            <p:ph type="title"/>
          </p:nvPr>
        </p:nvSpPr>
        <p:spPr>
          <a:xfrm>
            <a:off x="632128" y="1298571"/>
            <a:ext cx="8524572" cy="551180"/>
          </a:xfrm>
          <a:prstGeom prst="rect">
            <a:avLst/>
          </a:prstGeom>
        </p:spPr>
        <p:txBody>
          <a:bodyPr vert="horz" wrap="square" lIns="0" tIns="12700" rIns="0" bIns="0" rtlCol="0" anchor="t">
            <a:spAutoFit/>
          </a:bodyPr>
          <a:lstStyle/>
          <a:p>
            <a:pPr marL="12700" algn="ctr">
              <a:lnSpc>
                <a:spcPct val="100000"/>
              </a:lnSpc>
              <a:spcBef>
                <a:spcPts val="100"/>
              </a:spcBef>
            </a:pPr>
            <a:r>
              <a:rPr lang="en-GB" sz="3500" spc="-165">
                <a:latin typeface="Times New Roman"/>
                <a:cs typeface="Times New Roman"/>
              </a:rPr>
              <a:t>BACKGROUND</a:t>
            </a:r>
            <a:endParaRPr lang="en-GB" sz="3500" spc="-16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B631E1AC-B25B-09EC-BE01-5BDB2717F493}"/>
              </a:ext>
            </a:extLst>
          </p:cNvPr>
          <p:cNvSpPr txBox="1"/>
          <p:nvPr/>
        </p:nvSpPr>
        <p:spPr>
          <a:xfrm>
            <a:off x="-2495" y="1895835"/>
            <a:ext cx="10701808" cy="7508594"/>
          </a:xfrm>
          <a:prstGeom prst="rect">
            <a:avLst/>
          </a:prstGeom>
        </p:spPr>
        <p:txBody>
          <a:bodyPr vert="horz" wrap="square" lIns="0" tIns="216535" rIns="0" bIns="0" rtlCol="0" anchor="t">
            <a:spAutoFit/>
          </a:bodyPr>
          <a:lstStyle/>
          <a:p>
            <a:pPr marL="342900" indent="-342900">
              <a:buFont typeface="Wingdings" panose="05000000000000000000" pitchFamily="2" charset="2"/>
              <a:buChar char="v"/>
              <a:tabLst>
                <a:tab pos="469265" algn="l"/>
                <a:tab pos="469900" algn="l"/>
              </a:tabLst>
            </a:pPr>
            <a:r>
              <a:rPr lang="en-US" sz="2500" spc="-5">
                <a:latin typeface="Times New Roman"/>
                <a:ea typeface="+mn-lt"/>
                <a:cs typeface="+mn-lt"/>
              </a:rPr>
              <a:t>Monitoring of pregnant women is an important issue in maternal care due to  possibility of complications.</a:t>
            </a:r>
            <a:endParaRPr lang="en-US" sz="2500">
              <a:latin typeface="Times New Roman"/>
              <a:ea typeface="+mn-lt"/>
              <a:cs typeface="+mn-lt"/>
            </a:endParaRPr>
          </a:p>
          <a:p>
            <a:pPr>
              <a:tabLst>
                <a:tab pos="469265" algn="l"/>
                <a:tab pos="469900" algn="l"/>
              </a:tabLst>
            </a:pPr>
            <a:endParaRPr lang="en-US" sz="2500" spc="-5">
              <a:latin typeface="Times New Roman"/>
              <a:ea typeface="Calibri"/>
              <a:cs typeface="Calibri"/>
            </a:endParaRPr>
          </a:p>
          <a:p>
            <a:pPr marL="342900" indent="-342900">
              <a:buFont typeface="Wingdings"/>
              <a:buChar char="v"/>
              <a:tabLst>
                <a:tab pos="469265" algn="l"/>
                <a:tab pos="469900" algn="l"/>
              </a:tabLst>
            </a:pPr>
            <a:r>
              <a:rPr lang="en-US" sz="2500" spc="-5">
                <a:latin typeface="Times New Roman"/>
                <a:ea typeface="+mn-lt"/>
                <a:cs typeface="+mn-lt"/>
              </a:rPr>
              <a:t>Pregnant women are required to  attend antenatal care a minimum of four times and a maximum of fourteen times during the gestational period.</a:t>
            </a:r>
            <a:endParaRPr lang="en-US" sz="2500">
              <a:latin typeface="Times New Roman"/>
              <a:ea typeface="Calibri"/>
              <a:cs typeface="Calibri"/>
            </a:endParaRPr>
          </a:p>
          <a:p>
            <a:pPr>
              <a:tabLst>
                <a:tab pos="469265" algn="l"/>
                <a:tab pos="469900" algn="l"/>
              </a:tabLst>
            </a:pPr>
            <a:endParaRPr lang="en-US" sz="2500" spc="-5">
              <a:latin typeface="Times New Roman"/>
              <a:ea typeface="+mn-lt"/>
              <a:cs typeface="+mn-lt"/>
            </a:endParaRPr>
          </a:p>
          <a:p>
            <a:pPr marL="342900" indent="-342900">
              <a:buFont typeface="Wingdings"/>
              <a:buChar char="v"/>
              <a:tabLst>
                <a:tab pos="469265" algn="l"/>
                <a:tab pos="469900" algn="l"/>
              </a:tabLst>
            </a:pPr>
            <a:r>
              <a:rPr lang="en-US" sz="2500" spc="-5">
                <a:latin typeface="Times New Roman"/>
                <a:ea typeface="+mn-lt"/>
                <a:cs typeface="+mn-lt"/>
              </a:rPr>
              <a:t>Pregnant women are monitored for critical parameters like; body </a:t>
            </a:r>
            <a:endParaRPr lang="en-US" sz="2500">
              <a:latin typeface="Times New Roman"/>
              <a:ea typeface="Calibri"/>
              <a:cs typeface="Calibri"/>
            </a:endParaRPr>
          </a:p>
          <a:p>
            <a:pPr>
              <a:tabLst>
                <a:tab pos="469265" algn="l"/>
                <a:tab pos="469900" algn="l"/>
              </a:tabLst>
            </a:pPr>
            <a:r>
              <a:rPr lang="en-US" sz="2500" spc="-5">
                <a:latin typeface="Times New Roman"/>
                <a:ea typeface="+mn-lt"/>
                <a:cs typeface="+mn-lt"/>
              </a:rPr>
              <a:t>    temperature, blood pressure, protein in the urine, heart rate, blood</a:t>
            </a:r>
          </a:p>
          <a:p>
            <a:pPr>
              <a:tabLst>
                <a:tab pos="469265" algn="l"/>
                <a:tab pos="469900" algn="l"/>
              </a:tabLst>
            </a:pPr>
            <a:r>
              <a:rPr lang="en-US" sz="2500" spc="-5">
                <a:latin typeface="Times New Roman"/>
                <a:ea typeface="Calibri"/>
                <a:cs typeface="Calibri"/>
              </a:rPr>
              <a:t>    glucose values and oxygen saturation which help in assessing the</a:t>
            </a:r>
          </a:p>
          <a:p>
            <a:pPr>
              <a:tabLst>
                <a:tab pos="469265" algn="l"/>
                <a:tab pos="469900" algn="l"/>
              </a:tabLst>
            </a:pPr>
            <a:r>
              <a:rPr lang="en-US" sz="2500" spc="-5">
                <a:latin typeface="Times New Roman"/>
                <a:ea typeface="Calibri"/>
                <a:cs typeface="Calibri"/>
              </a:rPr>
              <a:t>    health of both mother and baby.</a:t>
            </a:r>
          </a:p>
          <a:p>
            <a:pPr marL="342900" indent="-342900">
              <a:buFont typeface="Wingdings"/>
              <a:buChar char="v"/>
              <a:tabLst>
                <a:tab pos="469265" algn="l"/>
                <a:tab pos="469900" algn="l"/>
              </a:tabLst>
            </a:pPr>
            <a:endParaRPr lang="en-US" sz="2500" b="1" spc="-5">
              <a:latin typeface="Calibri"/>
              <a:ea typeface="Calibri"/>
              <a:cs typeface="Calibri"/>
            </a:endParaRPr>
          </a:p>
          <a:p>
            <a:pPr marL="342900" indent="-342900">
              <a:buFont typeface="Wingdings"/>
              <a:buChar char="v"/>
              <a:tabLst>
                <a:tab pos="469265" algn="l"/>
                <a:tab pos="469900" algn="l"/>
              </a:tabLst>
            </a:pPr>
            <a:r>
              <a:rPr lang="en-US" sz="2500" spc="-5">
                <a:latin typeface="Times New Roman"/>
                <a:ea typeface="+mn-lt"/>
                <a:cs typeface="+mn-lt"/>
              </a:rPr>
              <a:t>Potential dangers of not monitoring can lead to critical challenges such as; </a:t>
            </a:r>
            <a:endParaRPr lang="en-US" sz="2500">
              <a:latin typeface="Times New Roman"/>
              <a:ea typeface="+mn-lt"/>
              <a:cs typeface="+mn-lt"/>
            </a:endParaRPr>
          </a:p>
          <a:p>
            <a:pPr>
              <a:tabLst>
                <a:tab pos="469265" algn="l"/>
                <a:tab pos="469900" algn="l"/>
              </a:tabLst>
            </a:pPr>
            <a:r>
              <a:rPr lang="en-US" sz="2500" spc="-5">
                <a:latin typeface="Times New Roman"/>
                <a:ea typeface="+mn-lt"/>
                <a:cs typeface="+mn-lt"/>
              </a:rPr>
              <a:t>     preeclampsia, anemia, low birth weight and developmental delays and </a:t>
            </a:r>
          </a:p>
          <a:p>
            <a:pPr>
              <a:tabLst>
                <a:tab pos="469265" algn="l"/>
                <a:tab pos="469900" algn="l"/>
              </a:tabLst>
            </a:pPr>
            <a:r>
              <a:rPr lang="en-US" sz="2500" spc="-5">
                <a:latin typeface="Times New Roman" panose="02020603050405020304"/>
                <a:ea typeface="Calibri"/>
                <a:cs typeface="Calibri"/>
              </a:rPr>
              <a:t>     ultimately lead to death.</a:t>
            </a:r>
          </a:p>
          <a:p>
            <a:pPr>
              <a:tabLst>
                <a:tab pos="469265" algn="l"/>
                <a:tab pos="469900" algn="l"/>
              </a:tabLst>
            </a:pPr>
            <a:r>
              <a:rPr lang="en-US" sz="2200" b="1" spc="-5">
                <a:latin typeface="Times New Roman" panose="02020603050405020304"/>
                <a:cs typeface="Times New Roman" panose="02020603050405020304"/>
              </a:rPr>
              <a:t>                                                                                                             </a:t>
            </a:r>
            <a:endParaRPr lang="en-US" sz="2200" b="1" spc="-5">
              <a:latin typeface="Calibri"/>
              <a:ea typeface="Calibri"/>
              <a:cs typeface="Calibri"/>
            </a:endParaRPr>
          </a:p>
          <a:p>
            <a:pPr marL="469265" indent="-457200">
              <a:lnSpc>
                <a:spcPct val="150000"/>
              </a:lnSpc>
              <a:spcBef>
                <a:spcPts val="1605"/>
              </a:spcBef>
              <a:buFont typeface="Wingdings" panose="05000000000000000000" pitchFamily="2" charset="2"/>
              <a:buChar char="v"/>
              <a:tabLst>
                <a:tab pos="469265" algn="l"/>
                <a:tab pos="469900" algn="l"/>
              </a:tabLst>
            </a:pPr>
            <a:endParaRPr lang="en-US" sz="2200" spc="-5">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a:latin typeface="Times New Roman" panose="02020603050405020304"/>
              <a:cs typeface="Times New Roman" panose="02020603050405020304"/>
            </a:endParaRPr>
          </a:p>
        </p:txBody>
      </p:sp>
    </p:spTree>
    <p:extLst>
      <p:ext uri="{BB962C8B-B14F-4D97-AF65-F5344CB8AC3E}">
        <p14:creationId xmlns:p14="http://schemas.microsoft.com/office/powerpoint/2010/main" val="722416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23655-1541-BF02-60ED-041393E2583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4D14013-43B8-FC76-24C4-9C182759E00C}"/>
              </a:ext>
            </a:extLst>
          </p:cNvPr>
          <p:cNvSpPr txBox="1">
            <a:spLocks noGrp="1"/>
          </p:cNvSpPr>
          <p:nvPr>
            <p:ph type="title"/>
          </p:nvPr>
        </p:nvSpPr>
        <p:spPr>
          <a:xfrm>
            <a:off x="632128" y="1298571"/>
            <a:ext cx="8524572" cy="551180"/>
          </a:xfrm>
          <a:prstGeom prst="rect">
            <a:avLst/>
          </a:prstGeom>
        </p:spPr>
        <p:txBody>
          <a:bodyPr vert="horz" wrap="square" lIns="0" tIns="12700" rIns="0" bIns="0" rtlCol="0" anchor="t">
            <a:spAutoFit/>
          </a:bodyPr>
          <a:lstStyle/>
          <a:p>
            <a:pPr marL="12700" algn="ctr">
              <a:spcBef>
                <a:spcPts val="100"/>
              </a:spcBef>
            </a:pPr>
            <a:r>
              <a:rPr lang="en-GB" sz="3500" spc="-165">
                <a:latin typeface="Times New Roman"/>
                <a:cs typeface="Times New Roman"/>
              </a:rPr>
              <a:t>PROBLEM STATEMENT</a:t>
            </a:r>
            <a:endParaRPr lang="en-GB" sz="3500" spc="-16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0ECDB31E-BE7F-4CE7-F4B6-A261E10553D5}"/>
              </a:ext>
            </a:extLst>
          </p:cNvPr>
          <p:cNvSpPr txBox="1"/>
          <p:nvPr/>
        </p:nvSpPr>
        <p:spPr>
          <a:xfrm>
            <a:off x="-2495" y="1895835"/>
            <a:ext cx="10701809" cy="10760766"/>
          </a:xfrm>
          <a:prstGeom prst="rect">
            <a:avLst/>
          </a:prstGeom>
        </p:spPr>
        <p:txBody>
          <a:bodyPr vert="horz" wrap="square" lIns="0" tIns="216535" rIns="0" bIns="0" rtlCol="0" anchor="t">
            <a:spAutoFit/>
          </a:bodyPr>
          <a:lstStyle/>
          <a:p>
            <a:pPr marL="342900" indent="-342900">
              <a:buFont typeface="Wingdings"/>
              <a:buChar char="v"/>
              <a:tabLst>
                <a:tab pos="469265" algn="l"/>
                <a:tab pos="469900" algn="l"/>
              </a:tabLst>
            </a:pPr>
            <a:r>
              <a:rPr lang="en-US" sz="2500" spc="-5">
                <a:latin typeface="Times New Roman"/>
                <a:ea typeface="+mn-lt"/>
                <a:cs typeface="+mn-lt"/>
              </a:rPr>
              <a:t>According to World Health Organization(WHO), over 40% of pregnancies in </a:t>
            </a:r>
          </a:p>
          <a:p>
            <a:pPr>
              <a:tabLst>
                <a:tab pos="469265" algn="l"/>
                <a:tab pos="469900" algn="l"/>
              </a:tabLst>
            </a:pPr>
            <a:r>
              <a:rPr lang="en-US" sz="2500" spc="-5">
                <a:latin typeface="Times New Roman"/>
                <a:ea typeface="+mn-lt"/>
                <a:cs typeface="+mn-lt"/>
              </a:rPr>
              <a:t>    developing countries face significant health risks, making pregnancy</a:t>
            </a:r>
          </a:p>
          <a:p>
            <a:pPr>
              <a:tabLst>
                <a:tab pos="469265" algn="l"/>
                <a:tab pos="469900" algn="l"/>
              </a:tabLst>
            </a:pPr>
            <a:r>
              <a:rPr lang="en-US" sz="2500" spc="-5">
                <a:latin typeface="Times New Roman"/>
                <a:ea typeface="Calibri"/>
                <a:cs typeface="Calibri"/>
              </a:rPr>
              <a:t>    Complications a major public concern.</a:t>
            </a:r>
            <a:r>
              <a:rPr lang="en-US" sz="2500" spc="-5" baseline="30000">
                <a:solidFill>
                  <a:srgbClr val="00B0F0"/>
                </a:solidFill>
                <a:latin typeface="Times New Roman"/>
                <a:ea typeface="Calibri"/>
                <a:cs typeface="Calibri"/>
              </a:rPr>
              <a:t>[2]</a:t>
            </a:r>
          </a:p>
          <a:p>
            <a:pPr>
              <a:tabLst>
                <a:tab pos="469265" algn="l"/>
                <a:tab pos="469900" algn="l"/>
              </a:tabLst>
            </a:pPr>
            <a:r>
              <a:rPr lang="en-US" sz="2500" spc="-5">
                <a:latin typeface="Times New Roman"/>
                <a:ea typeface="+mn-lt"/>
                <a:cs typeface="+mn-lt"/>
              </a:rPr>
              <a:t>     </a:t>
            </a:r>
          </a:p>
          <a:p>
            <a:pPr>
              <a:tabLst>
                <a:tab pos="469265" algn="l"/>
                <a:tab pos="469900" algn="l"/>
              </a:tabLst>
            </a:pPr>
            <a:endParaRPr lang="en-US" sz="2500" spc="-5">
              <a:latin typeface="Times New Roman"/>
              <a:ea typeface="+mn-lt"/>
              <a:cs typeface="+mn-lt"/>
            </a:endParaRPr>
          </a:p>
          <a:p>
            <a:pPr marL="342900" indent="-342900">
              <a:buFont typeface="Wingdings"/>
              <a:buChar char="v"/>
              <a:tabLst>
                <a:tab pos="469265" algn="l"/>
                <a:tab pos="469900" algn="l"/>
              </a:tabLst>
            </a:pPr>
            <a:r>
              <a:rPr lang="en-US" sz="2500" spc="-5">
                <a:latin typeface="Times New Roman"/>
                <a:ea typeface="+mn-lt"/>
                <a:cs typeface="+mn-lt"/>
              </a:rPr>
              <a:t>Reports</a:t>
            </a:r>
            <a:r>
              <a:rPr lang="en-US" sz="2500" spc="-5">
                <a:solidFill>
                  <a:srgbClr val="000000"/>
                </a:solidFill>
                <a:latin typeface="Times New Roman"/>
                <a:ea typeface="+mn-lt"/>
                <a:cs typeface="+mn-lt"/>
              </a:rPr>
              <a:t> </a:t>
            </a:r>
            <a:r>
              <a:rPr lang="en-US" sz="2500" spc="-5" baseline="30000">
                <a:solidFill>
                  <a:srgbClr val="00B0F0"/>
                </a:solidFill>
                <a:latin typeface="Times New Roman"/>
                <a:ea typeface="+mn-lt"/>
                <a:cs typeface="+mn-lt"/>
              </a:rPr>
              <a:t>[2]</a:t>
            </a:r>
            <a:r>
              <a:rPr lang="en-US" sz="2500" spc="-5">
                <a:solidFill>
                  <a:srgbClr val="1F497D"/>
                </a:solidFill>
                <a:latin typeface="Times New Roman"/>
                <a:ea typeface="+mn-lt"/>
                <a:cs typeface="+mn-lt"/>
              </a:rPr>
              <a:t> </a:t>
            </a:r>
            <a:r>
              <a:rPr lang="en-US" sz="2500" spc="-5">
                <a:latin typeface="Times New Roman"/>
                <a:ea typeface="+mn-lt"/>
                <a:cs typeface="+mn-lt"/>
              </a:rPr>
              <a:t>reveal that, in Ghana, 12% of female deaths (ages 15-49) in the previous 5 years stem from pregnancy complications, with 62% due to late or poor medical intervention</a:t>
            </a:r>
            <a:endParaRPr lang="en-US" sz="2500">
              <a:latin typeface="Times New Roman"/>
              <a:ea typeface="Calibri"/>
              <a:cs typeface="Calibri"/>
            </a:endParaRPr>
          </a:p>
          <a:p>
            <a:pPr>
              <a:tabLst>
                <a:tab pos="469265" algn="l"/>
                <a:tab pos="469900" algn="l"/>
              </a:tabLst>
            </a:pPr>
            <a:endParaRPr lang="en-US" sz="2500" spc="-5">
              <a:latin typeface="Times New Roman"/>
              <a:ea typeface="+mn-lt"/>
              <a:cs typeface="+mn-lt"/>
            </a:endParaRPr>
          </a:p>
          <a:p>
            <a:pPr>
              <a:tabLst>
                <a:tab pos="469265" algn="l"/>
                <a:tab pos="469900" algn="l"/>
              </a:tabLst>
            </a:pPr>
            <a:endParaRPr lang="en-US" sz="2500" spc="-5">
              <a:latin typeface="Times New Roman"/>
              <a:ea typeface="Calibri"/>
              <a:cs typeface="Calibri"/>
            </a:endParaRPr>
          </a:p>
          <a:p>
            <a:pPr marL="342900" indent="-342900">
              <a:buFont typeface="Wingdings"/>
              <a:buChar char="v"/>
              <a:tabLst>
                <a:tab pos="469265" algn="l"/>
                <a:tab pos="469900" algn="l"/>
              </a:tabLst>
            </a:pPr>
            <a:r>
              <a:rPr lang="en-US" sz="2500" spc="-5">
                <a:latin typeface="Times New Roman"/>
                <a:ea typeface="+mn-lt"/>
                <a:cs typeface="+mn-lt"/>
              </a:rPr>
              <a:t>Barriers of distance, transportation cost and time constraints hinder pregnant women from undergoing regular antenatal care, hence increasing maternal risks.</a:t>
            </a:r>
            <a:endParaRPr lang="en-US" sz="2500">
              <a:latin typeface="Times New Roman"/>
              <a:ea typeface="Calibri"/>
              <a:cs typeface="Calibri"/>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Calibri"/>
              <a:ea typeface="Calibri"/>
              <a:cs typeface="Calibri"/>
            </a:endParaRPr>
          </a:p>
          <a:p>
            <a:pPr marL="342900" indent="-342900">
              <a:buFont typeface="Wingdings" panose="05000000000000000000" pitchFamily="2" charset="2"/>
              <a:buChar char="v"/>
              <a:tabLst>
                <a:tab pos="469265" algn="l"/>
                <a:tab pos="469900" algn="l"/>
              </a:tabLst>
            </a:pPr>
            <a:endParaRPr lang="en-US" sz="2700" b="1" spc="-5">
              <a:latin typeface="Times New Roman"/>
              <a:ea typeface="Calibri"/>
              <a:cs typeface="Calibri"/>
            </a:endParaRPr>
          </a:p>
          <a:p>
            <a:pPr>
              <a:tabLst>
                <a:tab pos="469265" algn="l"/>
                <a:tab pos="469900" algn="l"/>
              </a:tabLst>
            </a:pPr>
            <a:endParaRPr lang="en-US" sz="2200" b="1" spc="-5">
              <a:latin typeface="Calibri"/>
              <a:ea typeface="Calibri"/>
              <a:cs typeface="Calibri"/>
            </a:endParaRPr>
          </a:p>
          <a:p>
            <a:pPr>
              <a:tabLst>
                <a:tab pos="469265" algn="l"/>
                <a:tab pos="469900" algn="l"/>
              </a:tabLst>
            </a:pPr>
            <a:endParaRPr lang="en-US" sz="2200" b="1" spc="-5">
              <a:latin typeface="Calibri"/>
              <a:ea typeface="Calibri"/>
              <a:cs typeface="Calibri"/>
            </a:endParaRPr>
          </a:p>
          <a:p>
            <a:pPr>
              <a:tabLst>
                <a:tab pos="469265" algn="l"/>
                <a:tab pos="469900" algn="l"/>
              </a:tabLst>
            </a:pPr>
            <a:endParaRPr lang="en-US" sz="2200" b="1" spc="-5">
              <a:latin typeface="Calibri"/>
              <a:ea typeface="Calibri"/>
              <a:cs typeface="Calibri"/>
            </a:endParaRPr>
          </a:p>
          <a:p>
            <a:pPr marL="469265" indent="-457200">
              <a:lnSpc>
                <a:spcPct val="150000"/>
              </a:lnSpc>
              <a:spcBef>
                <a:spcPts val="1605"/>
              </a:spcBef>
              <a:buFont typeface="Wingdings" panose="05000000000000000000" pitchFamily="2" charset="2"/>
              <a:buChar char="v"/>
              <a:tabLst>
                <a:tab pos="469265" algn="l"/>
                <a:tab pos="469900" algn="l"/>
              </a:tabLst>
            </a:pPr>
            <a:endParaRPr lang="en-US" sz="2200" b="1" spc="-5">
              <a:latin typeface="Times New Roman" panose="02020603050405020304"/>
              <a:cs typeface="Times New Roman" panose="02020603050405020304"/>
            </a:endParaRPr>
          </a:p>
          <a:p>
            <a:pPr marL="469265" indent="-457200">
              <a:lnSpc>
                <a:spcPct val="150000"/>
              </a:lnSpc>
              <a:spcBef>
                <a:spcPts val="1605"/>
              </a:spcBef>
              <a:buFont typeface="Wingdings" panose="05000000000000000000" pitchFamily="2" charset="2"/>
              <a:buChar char="v"/>
              <a:tabLst>
                <a:tab pos="469265" algn="l"/>
                <a:tab pos="469900" algn="l"/>
              </a:tabLst>
            </a:pPr>
            <a:endParaRPr lang="en-US" sz="2200" spc="-5">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a:latin typeface="Times New Roman" panose="02020603050405020304"/>
              <a:cs typeface="Times New Roman" panose="02020603050405020304"/>
            </a:endParaRPr>
          </a:p>
        </p:txBody>
      </p:sp>
    </p:spTree>
    <p:extLst>
      <p:ext uri="{BB962C8B-B14F-4D97-AF65-F5344CB8AC3E}">
        <p14:creationId xmlns:p14="http://schemas.microsoft.com/office/powerpoint/2010/main" val="2160144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EB8B8-D5A8-B2D2-CC01-9C37CE8EA66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E325A2-FCCC-677A-781D-B7A647816C24}"/>
              </a:ext>
            </a:extLst>
          </p:cNvPr>
          <p:cNvSpPr txBox="1">
            <a:spLocks noGrp="1"/>
          </p:cNvSpPr>
          <p:nvPr>
            <p:ph type="title"/>
          </p:nvPr>
        </p:nvSpPr>
        <p:spPr>
          <a:xfrm>
            <a:off x="632128" y="1298571"/>
            <a:ext cx="8524572" cy="551180"/>
          </a:xfrm>
          <a:prstGeom prst="rect">
            <a:avLst/>
          </a:prstGeom>
        </p:spPr>
        <p:txBody>
          <a:bodyPr vert="horz" wrap="square" lIns="0" tIns="12700" rIns="0" bIns="0" rtlCol="0" anchor="t">
            <a:spAutoFit/>
          </a:bodyPr>
          <a:lstStyle/>
          <a:p>
            <a:pPr marL="12700" algn="ctr">
              <a:spcBef>
                <a:spcPts val="100"/>
              </a:spcBef>
            </a:pPr>
            <a:r>
              <a:rPr lang="en-GB" sz="3500" spc="-165">
                <a:latin typeface="Times New Roman"/>
                <a:cs typeface="Times New Roman"/>
              </a:rPr>
              <a:t>RELEVANCE OF WORK</a:t>
            </a:r>
            <a:endParaRPr lang="en-GB" sz="3500" spc="-16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91050383-3671-66C2-E8A1-925D5CB14569}"/>
              </a:ext>
            </a:extLst>
          </p:cNvPr>
          <p:cNvSpPr txBox="1"/>
          <p:nvPr/>
        </p:nvSpPr>
        <p:spPr>
          <a:xfrm>
            <a:off x="-2495" y="1895835"/>
            <a:ext cx="10701809" cy="9945158"/>
          </a:xfrm>
          <a:prstGeom prst="rect">
            <a:avLst/>
          </a:prstGeom>
        </p:spPr>
        <p:txBody>
          <a:bodyPr vert="horz" wrap="square" lIns="0" tIns="216535" rIns="0" bIns="0" rtlCol="0" anchor="t">
            <a:spAutoFit/>
          </a:bodyPr>
          <a:lstStyle/>
          <a:p>
            <a:pPr marL="342900" indent="-342900">
              <a:buFont typeface="Wingdings"/>
              <a:buChar char="v"/>
              <a:tabLst>
                <a:tab pos="469265" algn="l"/>
                <a:tab pos="469900" algn="l"/>
              </a:tabLst>
            </a:pPr>
            <a:r>
              <a:rPr lang="en-US" sz="2500" spc="-5">
                <a:latin typeface="Times New Roman"/>
                <a:ea typeface="+mn-lt"/>
                <a:cs typeface="+mn-lt"/>
              </a:rPr>
              <a:t>Early detection of pregnancy complications hence reducing maternal mortality</a:t>
            </a:r>
            <a:endParaRPr lang="en-US" sz="2500" spc="-5">
              <a:latin typeface="Times New Roman"/>
              <a:ea typeface="Calibri"/>
              <a:cs typeface="Calibri"/>
            </a:endParaRPr>
          </a:p>
          <a:p>
            <a:pPr marL="342900" indent="-342900">
              <a:buFont typeface="Wingdings"/>
              <a:buChar char="v"/>
              <a:tabLst>
                <a:tab pos="469265" algn="l"/>
                <a:tab pos="469900" algn="l"/>
              </a:tabLst>
            </a:pPr>
            <a:endParaRPr lang="en-US" sz="2500" spc="-5">
              <a:latin typeface="Times New Roman"/>
              <a:ea typeface="Calibri"/>
              <a:cs typeface="Calibri"/>
            </a:endParaRPr>
          </a:p>
          <a:p>
            <a:pPr marL="342900" indent="-342900">
              <a:buFont typeface="Wingdings"/>
              <a:buChar char="v"/>
              <a:tabLst>
                <a:tab pos="469265" algn="l"/>
                <a:tab pos="469900" algn="l"/>
              </a:tabLst>
            </a:pPr>
            <a:r>
              <a:rPr lang="en-US" sz="2500" spc="-5">
                <a:latin typeface="Times New Roman"/>
                <a:ea typeface="+mn-lt"/>
                <a:cs typeface="+mn-lt"/>
              </a:rPr>
              <a:t>Equip pregnant women with tools to monitor and manage their health</a:t>
            </a:r>
          </a:p>
          <a:p>
            <a:pPr marL="342900" indent="-342900">
              <a:buFont typeface="Wingdings"/>
              <a:buChar char="v"/>
              <a:tabLst>
                <a:tab pos="469265" algn="l"/>
                <a:tab pos="469900" algn="l"/>
              </a:tabLst>
            </a:pPr>
            <a:endParaRPr lang="en-US" sz="2500" spc="-5">
              <a:latin typeface="Times New Roman"/>
              <a:ea typeface="Calibri"/>
              <a:cs typeface="Calibri"/>
            </a:endParaRPr>
          </a:p>
          <a:p>
            <a:pPr>
              <a:buFont typeface="Wingdings"/>
              <a:buChar char="v"/>
              <a:tabLst>
                <a:tab pos="469265" algn="l"/>
                <a:tab pos="469900" algn="l"/>
              </a:tabLst>
            </a:pPr>
            <a:r>
              <a:rPr lang="en-US" sz="2500" spc="-5">
                <a:latin typeface="Times New Roman"/>
                <a:ea typeface="+mn-lt"/>
                <a:cs typeface="+mn-lt"/>
              </a:rPr>
              <a:t>Continuous data collection and visualization empower doctors to make informed, </a:t>
            </a:r>
          </a:p>
          <a:p>
            <a:pPr>
              <a:tabLst>
                <a:tab pos="469265" algn="l"/>
                <a:tab pos="469900" algn="l"/>
              </a:tabLst>
            </a:pPr>
            <a:r>
              <a:rPr lang="en-US" sz="2500" spc="-5">
                <a:latin typeface="Times New Roman"/>
                <a:ea typeface="+mn-lt"/>
                <a:cs typeface="+mn-lt"/>
              </a:rPr>
              <a:t>    data-driven decisions rather than relying solely on periodic observations</a:t>
            </a:r>
            <a:endParaRPr lang="en-US" sz="2500" spc="-5">
              <a:latin typeface="Times New Roman"/>
              <a:ea typeface="Calibri"/>
              <a:cs typeface="Calibri"/>
            </a:endParaRPr>
          </a:p>
          <a:p>
            <a:pPr>
              <a:tabLst>
                <a:tab pos="469265" algn="l"/>
                <a:tab pos="469900" algn="l"/>
              </a:tabLst>
            </a:pPr>
            <a:endParaRPr lang="en-US" sz="2500" spc="-5">
              <a:latin typeface="Times New Roman"/>
              <a:ea typeface="+mn-lt"/>
              <a:cs typeface="+mn-lt"/>
            </a:endParaRPr>
          </a:p>
          <a:p>
            <a:pPr marL="342900" indent="-342900">
              <a:buFont typeface="Wingdings"/>
              <a:buChar char="v"/>
              <a:tabLst>
                <a:tab pos="469265" algn="l"/>
                <a:tab pos="469900" algn="l"/>
              </a:tabLst>
            </a:pPr>
            <a:r>
              <a:rPr lang="en-US" sz="2500" spc="-5">
                <a:latin typeface="Times New Roman"/>
                <a:ea typeface="+mn-lt"/>
                <a:cs typeface="+mn-lt"/>
              </a:rPr>
              <a:t>Ease of pressure on antenatal clinics due to reduced visitations</a:t>
            </a:r>
          </a:p>
          <a:p>
            <a:pPr>
              <a:tabLst>
                <a:tab pos="469265" algn="l"/>
                <a:tab pos="469900" algn="l"/>
              </a:tabLst>
            </a:pPr>
            <a:endParaRPr lang="en-US" sz="2200" b="1" spc="-5">
              <a:latin typeface="Calibri"/>
              <a:ea typeface="+mn-lt"/>
              <a:cs typeface="+mn-lt"/>
            </a:endParaRPr>
          </a:p>
          <a:p>
            <a:pPr>
              <a:tabLst>
                <a:tab pos="469265" algn="l"/>
                <a:tab pos="469900" algn="l"/>
              </a:tabLst>
            </a:pPr>
            <a:endParaRPr lang="en-US" sz="2500" spc="-5">
              <a:latin typeface="Times New Roman"/>
              <a:ea typeface="Calibri"/>
              <a:cs typeface="Calibri"/>
            </a:endParaRPr>
          </a:p>
          <a:p>
            <a:pPr marL="342900" indent="-342900">
              <a:buFont typeface="Wingdings"/>
              <a:buChar char="v"/>
              <a:tabLst>
                <a:tab pos="469265" algn="l"/>
                <a:tab pos="469900" algn="l"/>
              </a:tabLst>
            </a:pPr>
            <a:endParaRPr lang="en-US" sz="2500" spc="-5">
              <a:latin typeface="Times New Roman"/>
              <a:ea typeface="+mn-lt"/>
              <a:cs typeface="+mn-lt"/>
            </a:endParaRPr>
          </a:p>
          <a:p>
            <a:pPr>
              <a:tabLst>
                <a:tab pos="469265" algn="l"/>
                <a:tab pos="469900" algn="l"/>
              </a:tabLst>
            </a:pPr>
            <a:endParaRPr lang="en-US" sz="2200" b="1" spc="-5">
              <a:latin typeface="Times New Roman"/>
              <a:ea typeface="+mn-lt"/>
              <a:cs typeface="+mn-lt"/>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Times New Roman"/>
              <a:ea typeface="Calibri"/>
              <a:cs typeface="Calibri"/>
            </a:endParaRPr>
          </a:p>
          <a:p>
            <a:pPr>
              <a:tabLst>
                <a:tab pos="469265" algn="l"/>
                <a:tab pos="469900" algn="l"/>
              </a:tabLst>
            </a:pPr>
            <a:endParaRPr lang="en-US" sz="2200" b="1" spc="-5">
              <a:latin typeface="Calibri"/>
              <a:ea typeface="Calibri"/>
              <a:cs typeface="Calibri"/>
            </a:endParaRPr>
          </a:p>
          <a:p>
            <a:pPr marL="342900" indent="-342900">
              <a:buFont typeface="Wingdings" panose="05000000000000000000" pitchFamily="2" charset="2"/>
              <a:buChar char="v"/>
              <a:tabLst>
                <a:tab pos="469265" algn="l"/>
                <a:tab pos="469900" algn="l"/>
              </a:tabLst>
            </a:pPr>
            <a:endParaRPr lang="en-US" sz="2700" b="1" spc="-5">
              <a:latin typeface="Times New Roman"/>
              <a:ea typeface="Calibri"/>
              <a:cs typeface="Calibri"/>
            </a:endParaRPr>
          </a:p>
          <a:p>
            <a:pPr>
              <a:tabLst>
                <a:tab pos="469265" algn="l"/>
                <a:tab pos="469900" algn="l"/>
              </a:tabLst>
            </a:pPr>
            <a:endParaRPr lang="en-US" sz="2200" b="1" spc="-5">
              <a:latin typeface="Calibri"/>
              <a:ea typeface="Calibri"/>
              <a:cs typeface="Calibri"/>
            </a:endParaRPr>
          </a:p>
          <a:p>
            <a:pPr>
              <a:tabLst>
                <a:tab pos="469265" algn="l"/>
                <a:tab pos="469900" algn="l"/>
              </a:tabLst>
            </a:pPr>
            <a:endParaRPr lang="en-US" sz="2200" b="1" spc="-5">
              <a:latin typeface="Calibri"/>
              <a:ea typeface="Calibri"/>
              <a:cs typeface="Calibri"/>
            </a:endParaRPr>
          </a:p>
          <a:p>
            <a:pPr>
              <a:tabLst>
                <a:tab pos="469265" algn="l"/>
                <a:tab pos="469900" algn="l"/>
              </a:tabLst>
            </a:pPr>
            <a:endParaRPr lang="en-US" sz="2200" b="1" spc="-5">
              <a:latin typeface="Calibri"/>
              <a:ea typeface="Calibri"/>
              <a:cs typeface="Calibri"/>
            </a:endParaRPr>
          </a:p>
          <a:p>
            <a:pPr marL="469265" indent="-457200">
              <a:lnSpc>
                <a:spcPct val="150000"/>
              </a:lnSpc>
              <a:spcBef>
                <a:spcPts val="1605"/>
              </a:spcBef>
              <a:buFont typeface="Wingdings" panose="05000000000000000000" pitchFamily="2" charset="2"/>
              <a:buChar char="v"/>
              <a:tabLst>
                <a:tab pos="469265" algn="l"/>
                <a:tab pos="469900" algn="l"/>
              </a:tabLst>
            </a:pPr>
            <a:endParaRPr lang="en-US" sz="2200" b="1" spc="-5">
              <a:latin typeface="Times New Roman" panose="02020603050405020304"/>
              <a:cs typeface="Times New Roman" panose="02020603050405020304"/>
            </a:endParaRPr>
          </a:p>
          <a:p>
            <a:pPr marL="469265" indent="-457200">
              <a:lnSpc>
                <a:spcPct val="150000"/>
              </a:lnSpc>
              <a:spcBef>
                <a:spcPts val="1605"/>
              </a:spcBef>
              <a:buFont typeface="Wingdings" panose="05000000000000000000" pitchFamily="2" charset="2"/>
              <a:buChar char="v"/>
              <a:tabLst>
                <a:tab pos="469265" algn="l"/>
                <a:tab pos="469900" algn="l"/>
              </a:tabLst>
            </a:pPr>
            <a:endParaRPr lang="en-US" sz="2200" spc="-5">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a:latin typeface="Times New Roman" panose="02020603050405020304"/>
              <a:cs typeface="Times New Roman" panose="02020603050405020304"/>
            </a:endParaRPr>
          </a:p>
        </p:txBody>
      </p:sp>
    </p:spTree>
    <p:extLst>
      <p:ext uri="{BB962C8B-B14F-4D97-AF65-F5344CB8AC3E}">
        <p14:creationId xmlns:p14="http://schemas.microsoft.com/office/powerpoint/2010/main" val="2696760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D6465-30DF-3AF1-110B-0C17A098376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8F5B8C-1D38-2957-F1A4-588FE8766A92}"/>
              </a:ext>
            </a:extLst>
          </p:cNvPr>
          <p:cNvSpPr txBox="1">
            <a:spLocks noGrp="1"/>
          </p:cNvSpPr>
          <p:nvPr>
            <p:ph type="title"/>
          </p:nvPr>
        </p:nvSpPr>
        <p:spPr>
          <a:xfrm>
            <a:off x="190387" y="502628"/>
            <a:ext cx="10821035" cy="760095"/>
          </a:xfrm>
          <a:prstGeom prst="rect">
            <a:avLst/>
          </a:prstGeom>
        </p:spPr>
        <p:txBody>
          <a:bodyPr vert="horz" wrap="square" lIns="0" tIns="12700" rIns="0" bIns="0" rtlCol="0" anchor="t">
            <a:noAutofit/>
          </a:bodyPr>
          <a:lstStyle/>
          <a:p>
            <a:pPr marL="12700" algn="l">
              <a:spcBef>
                <a:spcPts val="100"/>
              </a:spcBef>
            </a:pPr>
            <a:r>
              <a:rPr lang="en-US" altLang="en-US" sz="3500" spc="-95">
                <a:latin typeface="Times New Roman"/>
                <a:cs typeface="Times New Roman"/>
              </a:rPr>
              <a:t>                            PROJECT OBJECTIVES</a:t>
            </a: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8F674417-06BB-34F8-2540-5EAAEBAFEB52}"/>
              </a:ext>
            </a:extLst>
          </p:cNvPr>
          <p:cNvSpPr txBox="1"/>
          <p:nvPr/>
        </p:nvSpPr>
        <p:spPr>
          <a:xfrm>
            <a:off x="0" y="1925053"/>
            <a:ext cx="10693400" cy="12714314"/>
          </a:xfrm>
          <a:prstGeom prst="rect">
            <a:avLst/>
          </a:prstGeom>
        </p:spPr>
        <p:txBody>
          <a:bodyPr vert="horz" wrap="square" lIns="0" tIns="216535" rIns="0" bIns="0" rtlCol="0" anchor="t">
            <a:spAutoFit/>
          </a:bodyPr>
          <a:lstStyle/>
          <a:p>
            <a:pPr>
              <a:tabLst>
                <a:tab pos="469265" algn="l"/>
                <a:tab pos="469900" algn="l"/>
              </a:tabLst>
            </a:pPr>
            <a:endParaRPr lang="en-US" sz="2500" b="1">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tabLst>
                <a:tab pos="469265" algn="l"/>
                <a:tab pos="469900" algn="l"/>
              </a:tabLst>
            </a:pPr>
            <a:r>
              <a:rPr lang="en-US" sz="2500">
                <a:latin typeface="Times New Roman"/>
                <a:ea typeface="+mn-lt"/>
                <a:cs typeface="+mn-lt"/>
              </a:rPr>
              <a:t>To develop an integrated system consisting of a wearable device and a mobile application to continuously monitor, detect and trigger alerts in event of anomalies.</a:t>
            </a:r>
          </a:p>
          <a:p>
            <a:pPr>
              <a:tabLst>
                <a:tab pos="469265" algn="l"/>
                <a:tab pos="469900" algn="l"/>
              </a:tabLst>
            </a:pPr>
            <a:endParaRPr lang="en-US" sz="2200" b="1">
              <a:ea typeface="+mn-lt"/>
              <a:cs typeface="+mn-lt"/>
            </a:endParaRPr>
          </a:p>
          <a:p>
            <a:pPr marL="342900" indent="-342900">
              <a:buFont typeface="Wingdings"/>
              <a:buChar char="v"/>
              <a:tabLst>
                <a:tab pos="469265" algn="l"/>
                <a:tab pos="469900" algn="l"/>
              </a:tabLst>
            </a:pPr>
            <a:r>
              <a:rPr lang="en-US" sz="2500">
                <a:latin typeface="Times New Roman"/>
                <a:ea typeface="+mn-lt"/>
                <a:cs typeface="+mn-lt"/>
              </a:rPr>
              <a:t>To train a machine learning model for risk prediction of pregnancy complications like preeclampsia and anemia long before standard detection window.</a:t>
            </a:r>
            <a:endParaRPr lang="en-US" sz="2500">
              <a:latin typeface="Times New Roman"/>
              <a:ea typeface="Calibri"/>
              <a:cs typeface="Calibri"/>
            </a:endParaRPr>
          </a:p>
          <a:p>
            <a:pPr>
              <a:tabLst>
                <a:tab pos="469265" algn="l"/>
                <a:tab pos="469900" algn="l"/>
              </a:tabLst>
            </a:pPr>
            <a:endParaRPr lang="en-US" sz="2200" b="1">
              <a:ea typeface="+mn-lt"/>
              <a:cs typeface="+mn-lt"/>
            </a:endParaRPr>
          </a:p>
          <a:p>
            <a:pPr>
              <a:tabLst>
                <a:tab pos="469265" algn="l"/>
                <a:tab pos="469900" algn="l"/>
              </a:tabLst>
            </a:pPr>
            <a:endParaRPr lang="en-US" sz="2200" b="1">
              <a:ea typeface="+mn-lt"/>
              <a:cs typeface="+mn-lt"/>
            </a:endParaRPr>
          </a:p>
          <a:p>
            <a:pPr marL="342900" indent="-342900">
              <a:buFont typeface="Wingdings"/>
              <a:buChar char="v"/>
              <a:tabLst>
                <a:tab pos="469265" algn="l"/>
                <a:tab pos="469900" algn="l"/>
              </a:tabLst>
            </a:pPr>
            <a:r>
              <a:rPr lang="en-US" sz="2500">
                <a:latin typeface="Times New Roman"/>
                <a:ea typeface="+mn-lt"/>
                <a:cs typeface="+mn-lt"/>
              </a:rPr>
              <a:t>To develop a user-friendly interface system to acquire and visualize information for processing by the system.</a:t>
            </a:r>
            <a:endParaRPr lang="en-US" sz="2500">
              <a:latin typeface="Times New Roman"/>
              <a:ea typeface="Calibri"/>
              <a:cs typeface="Calibri"/>
            </a:endParaRPr>
          </a:p>
          <a:p>
            <a:pPr>
              <a:tabLst>
                <a:tab pos="469265" algn="l"/>
                <a:tab pos="469900" algn="l"/>
              </a:tabLst>
            </a:pPr>
            <a:endParaRPr lang="en-US" sz="2200" b="1">
              <a:ea typeface="+mn-lt"/>
              <a:cs typeface="+mn-lt"/>
            </a:endParaRPr>
          </a:p>
          <a:p>
            <a:pPr>
              <a:tabLst>
                <a:tab pos="469265" algn="l"/>
                <a:tab pos="469900" algn="l"/>
              </a:tabLst>
            </a:pPr>
            <a:endParaRPr lang="en-US" sz="2200" b="1">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a:cs typeface="Times New Roman"/>
              </a:rPr>
              <a:t>                                             </a:t>
            </a: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extLst>
      <p:ext uri="{BB962C8B-B14F-4D97-AF65-F5344CB8AC3E}">
        <p14:creationId xmlns:p14="http://schemas.microsoft.com/office/powerpoint/2010/main" val="2598394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D8A4B-BED6-5017-014A-057A3AD373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C79A18-7ACA-0272-AA53-9CECF54186C4}"/>
              </a:ext>
            </a:extLst>
          </p:cNvPr>
          <p:cNvSpPr txBox="1">
            <a:spLocks noGrp="1"/>
          </p:cNvSpPr>
          <p:nvPr>
            <p:ph type="title"/>
          </p:nvPr>
        </p:nvSpPr>
        <p:spPr>
          <a:xfrm>
            <a:off x="190387" y="502628"/>
            <a:ext cx="10821035" cy="760095"/>
          </a:xfrm>
          <a:prstGeom prst="rect">
            <a:avLst/>
          </a:prstGeom>
        </p:spPr>
        <p:txBody>
          <a:bodyPr vert="horz" wrap="square" lIns="0" tIns="12700" rIns="0" bIns="0" rtlCol="0" anchor="t">
            <a:noAutofit/>
          </a:bodyPr>
          <a:lstStyle/>
          <a:p>
            <a:pPr marL="12700" algn="l">
              <a:spcBef>
                <a:spcPts val="100"/>
              </a:spcBef>
            </a:pPr>
            <a:r>
              <a:rPr lang="en-US" altLang="en-US" sz="3500" spc="-95">
                <a:latin typeface="Times New Roman"/>
                <a:cs typeface="Times New Roman"/>
              </a:rPr>
              <a:t>                  FUNCTIONAL REQUIREMENTS</a:t>
            </a: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3EEC3C25-8896-500F-D798-8CD6078FA270}"/>
              </a:ext>
            </a:extLst>
          </p:cNvPr>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A blue background with white rectangular boxes with black text&#10;&#10;AI-generated content may be incorrect.">
            <a:extLst>
              <a:ext uri="{FF2B5EF4-FFF2-40B4-BE49-F238E27FC236}">
                <a16:creationId xmlns:a16="http://schemas.microsoft.com/office/drawing/2014/main" id="{7718C899-AEB3-B767-1539-74992EACE574}"/>
              </a:ext>
            </a:extLst>
          </p:cNvPr>
          <p:cNvPicPr>
            <a:picLocks noChangeAspect="1"/>
          </p:cNvPicPr>
          <p:nvPr/>
        </p:nvPicPr>
        <p:blipFill>
          <a:blip r:embed="rId2"/>
          <a:stretch>
            <a:fillRect/>
          </a:stretch>
        </p:blipFill>
        <p:spPr>
          <a:xfrm>
            <a:off x="6924" y="1128524"/>
            <a:ext cx="10680309" cy="6431510"/>
          </a:xfrm>
          <a:prstGeom prst="rect">
            <a:avLst/>
          </a:prstGeom>
        </p:spPr>
      </p:pic>
    </p:spTree>
    <p:extLst>
      <p:ext uri="{BB962C8B-B14F-4D97-AF65-F5344CB8AC3E}">
        <p14:creationId xmlns:p14="http://schemas.microsoft.com/office/powerpoint/2010/main" val="3842518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FCD10-4202-2355-D79D-D988C4F55DC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FE484E7-F874-0D37-E12F-B4CF903836C9}"/>
              </a:ext>
            </a:extLst>
          </p:cNvPr>
          <p:cNvSpPr txBox="1">
            <a:spLocks noGrp="1"/>
          </p:cNvSpPr>
          <p:nvPr>
            <p:ph type="title"/>
          </p:nvPr>
        </p:nvSpPr>
        <p:spPr>
          <a:xfrm>
            <a:off x="190387" y="502628"/>
            <a:ext cx="10821035" cy="760095"/>
          </a:xfrm>
          <a:prstGeom prst="rect">
            <a:avLst/>
          </a:prstGeom>
        </p:spPr>
        <p:txBody>
          <a:bodyPr vert="horz" wrap="square" lIns="0" tIns="12700" rIns="0" bIns="0" rtlCol="0" anchor="t">
            <a:noAutofit/>
          </a:bodyPr>
          <a:lstStyle/>
          <a:p>
            <a:pPr marL="12700" algn="l">
              <a:spcBef>
                <a:spcPts val="100"/>
              </a:spcBef>
            </a:pPr>
            <a:r>
              <a:rPr lang="en-US" altLang="en-US" sz="3500" spc="-95">
                <a:latin typeface="Times New Roman"/>
                <a:cs typeface="Times New Roman"/>
              </a:rPr>
              <a:t>                 NON-FUNCTIONAL REQUIREMENTS</a:t>
            </a: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C91DAD8C-B076-3F53-2752-93B57B33F13C}"/>
              </a:ext>
            </a:extLst>
          </p:cNvPr>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4" name="Picture 3" descr="A screenshot of a blue screen&#10;&#10;AI-generated content may be incorrect.">
            <a:extLst>
              <a:ext uri="{FF2B5EF4-FFF2-40B4-BE49-F238E27FC236}">
                <a16:creationId xmlns:a16="http://schemas.microsoft.com/office/drawing/2014/main" id="{C2F7BDEC-B63F-D2DE-A0E8-D7406DD8A1D8}"/>
              </a:ext>
            </a:extLst>
          </p:cNvPr>
          <p:cNvPicPr>
            <a:picLocks noChangeAspect="1"/>
          </p:cNvPicPr>
          <p:nvPr/>
        </p:nvPicPr>
        <p:blipFill>
          <a:blip r:embed="rId2"/>
          <a:stretch>
            <a:fillRect/>
          </a:stretch>
        </p:blipFill>
        <p:spPr>
          <a:xfrm>
            <a:off x="-7372" y="1141782"/>
            <a:ext cx="10693039" cy="6420848"/>
          </a:xfrm>
          <a:prstGeom prst="rect">
            <a:avLst/>
          </a:prstGeom>
        </p:spPr>
      </p:pic>
    </p:spTree>
    <p:extLst>
      <p:ext uri="{BB962C8B-B14F-4D97-AF65-F5344CB8AC3E}">
        <p14:creationId xmlns:p14="http://schemas.microsoft.com/office/powerpoint/2010/main" val="392126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144E8-C076-BD29-0747-57BA0A0B25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3AA2CC-8A42-8C42-B019-5AE5145514C6}"/>
              </a:ext>
            </a:extLst>
          </p:cNvPr>
          <p:cNvSpPr txBox="1">
            <a:spLocks noGrp="1"/>
          </p:cNvSpPr>
          <p:nvPr>
            <p:ph type="title"/>
          </p:nvPr>
        </p:nvSpPr>
        <p:spPr>
          <a:xfrm>
            <a:off x="190387" y="502628"/>
            <a:ext cx="10821035" cy="760095"/>
          </a:xfrm>
          <a:prstGeom prst="rect">
            <a:avLst/>
          </a:prstGeom>
        </p:spPr>
        <p:txBody>
          <a:bodyPr vert="horz" wrap="square" lIns="0" tIns="12700" rIns="0" bIns="0" rtlCol="0" anchor="t">
            <a:noAutofit/>
          </a:bodyPr>
          <a:lstStyle/>
          <a:p>
            <a:pPr marL="12700" algn="l">
              <a:spcBef>
                <a:spcPts val="100"/>
              </a:spcBef>
            </a:pPr>
            <a:r>
              <a:rPr lang="en-US" altLang="en-US" sz="3500" spc="-95">
                <a:latin typeface="Times New Roman"/>
                <a:cs typeface="Times New Roman"/>
              </a:rPr>
              <a:t>                                 EXISTING  SOLUTIONS</a:t>
            </a: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FD934DA7-C4D5-6F14-8D4E-7306F47BFEC3}"/>
              </a:ext>
            </a:extLst>
          </p:cNvPr>
          <p:cNvSpPr txBox="1"/>
          <p:nvPr/>
        </p:nvSpPr>
        <p:spPr>
          <a:xfrm>
            <a:off x="0" y="1925053"/>
            <a:ext cx="10693400" cy="12129539"/>
          </a:xfrm>
          <a:prstGeom prst="rect">
            <a:avLst/>
          </a:prstGeom>
        </p:spPr>
        <p:txBody>
          <a:bodyPr vert="horz" wrap="square" lIns="0" tIns="216535" rIns="0" bIns="0" rtlCol="0" anchor="t">
            <a:spAutoFit/>
          </a:bodyPr>
          <a:lstStyle/>
          <a:p>
            <a:pPr>
              <a:tabLst>
                <a:tab pos="469265" algn="l"/>
                <a:tab pos="469900" algn="l"/>
              </a:tabLst>
            </a:pPr>
            <a:r>
              <a:rPr lang="en-US" sz="2500">
                <a:latin typeface="Times New Roman"/>
                <a:cs typeface="Times New Roman"/>
              </a:rPr>
              <a:t>[1] </a:t>
            </a:r>
            <a:r>
              <a:rPr lang="en-US" sz="2500">
                <a:latin typeface="Times New Roman"/>
                <a:ea typeface="+mn-lt"/>
                <a:cs typeface="+mn-lt"/>
              </a:rPr>
              <a:t>A Comprehensive Framework for Wearable Module for Prenatal Health Monitoring  and Risk Detection (2024) </a:t>
            </a:r>
            <a:r>
              <a:rPr lang="en-US" sz="2500" baseline="30000">
                <a:solidFill>
                  <a:srgbClr val="00B0F0"/>
                </a:solidFill>
                <a:latin typeface="Times New Roman"/>
                <a:ea typeface="+mn-lt"/>
                <a:cs typeface="+mn-lt"/>
              </a:rPr>
              <a:t>[1]</a:t>
            </a:r>
            <a:endParaRPr lang="en-US" sz="2500" baseline="30000">
              <a:solidFill>
                <a:srgbClr val="00B0F0"/>
              </a:solidFill>
              <a:latin typeface="Times New Roman"/>
              <a:cs typeface="Times New Roman"/>
            </a:endParaRPr>
          </a:p>
          <a:p>
            <a:pPr>
              <a:tabLst>
                <a:tab pos="469265" algn="l"/>
                <a:tab pos="469900" algn="l"/>
              </a:tabLst>
            </a:pPr>
            <a:endParaRPr lang="en-US" sz="2200" b="1">
              <a:solidFill>
                <a:srgbClr val="000000"/>
              </a:solidFill>
              <a:ea typeface="+mn-lt"/>
              <a:cs typeface="+mn-lt"/>
            </a:endParaRPr>
          </a:p>
          <a:p>
            <a:pPr>
              <a:tabLst>
                <a:tab pos="469265" algn="l"/>
                <a:tab pos="469900" algn="l"/>
              </a:tabLst>
            </a:pPr>
            <a:r>
              <a:rPr lang="en-US" sz="2500">
                <a:solidFill>
                  <a:srgbClr val="1F497D"/>
                </a:solidFill>
                <a:latin typeface="Times New Roman"/>
                <a:ea typeface="+mn-lt"/>
                <a:cs typeface="+mn-lt"/>
              </a:rPr>
              <a:t>GOAL: </a:t>
            </a:r>
            <a:r>
              <a:rPr lang="en-US" sz="2500">
                <a:latin typeface="Times New Roman"/>
                <a:ea typeface="+mn-lt"/>
                <a:cs typeface="+mn-lt"/>
              </a:rPr>
              <a:t>A system to continuously monitor vitals of pregnant women throughout pregnancy and send SMS to healthcare providers in event of any anomaly</a:t>
            </a:r>
            <a:endParaRPr lang="en-US" sz="2500">
              <a:latin typeface="Times New Roman"/>
              <a:cs typeface="Times New Roman"/>
            </a:endParaRPr>
          </a:p>
          <a:p>
            <a:pPr>
              <a:tabLst>
                <a:tab pos="469265" algn="l"/>
                <a:tab pos="469900" algn="l"/>
              </a:tabLst>
            </a:pPr>
            <a:endParaRPr lang="en-US" sz="2200" b="1">
              <a:latin typeface="Calibri"/>
              <a:ea typeface="Calibri"/>
              <a:cs typeface="Calibri"/>
            </a:endParaRPr>
          </a:p>
          <a:p>
            <a:pPr>
              <a:tabLst>
                <a:tab pos="469265" algn="l"/>
                <a:tab pos="469900" algn="l"/>
              </a:tabLst>
            </a:pPr>
            <a:r>
              <a:rPr lang="en-US" sz="2500">
                <a:solidFill>
                  <a:srgbClr val="1F497D"/>
                </a:solidFill>
                <a:latin typeface="Times New Roman"/>
                <a:ea typeface="+mn-lt"/>
                <a:cs typeface="+mn-lt"/>
              </a:rPr>
              <a:t>TECHNIQUE: </a:t>
            </a:r>
            <a:r>
              <a:rPr lang="en-US" sz="2500">
                <a:latin typeface="Times New Roman"/>
                <a:ea typeface="+mn-lt"/>
                <a:cs typeface="+mn-lt"/>
              </a:rPr>
              <a:t>Threshold values are set in the ESP-32 microcontroller and comparison is done with values captured by the wearable device. Body temperature, blood glucose, blood pressure, oxygen saturation, heart rate, fetal movement and falls of pregnant woman were monitored.</a:t>
            </a:r>
            <a:endParaRPr lang="en-US" sz="2500">
              <a:latin typeface="Times New Roman"/>
              <a:cs typeface="Times New Roman"/>
            </a:endParaRPr>
          </a:p>
          <a:p>
            <a:pPr>
              <a:tabLst>
                <a:tab pos="469265" algn="l"/>
                <a:tab pos="469900" algn="l"/>
              </a:tabLst>
            </a:pPr>
            <a:endParaRPr lang="en-US" sz="2500">
              <a:latin typeface="Times New Roman"/>
              <a:ea typeface="Calibri"/>
              <a:cs typeface="Calibri"/>
            </a:endParaRPr>
          </a:p>
          <a:p>
            <a:pPr>
              <a:tabLst>
                <a:tab pos="469265" algn="l"/>
                <a:tab pos="469900" algn="l"/>
              </a:tabLst>
            </a:pPr>
            <a:r>
              <a:rPr lang="en-US" sz="2500">
                <a:solidFill>
                  <a:srgbClr val="1F497D"/>
                </a:solidFill>
                <a:latin typeface="Times New Roman"/>
                <a:ea typeface="+mn-lt"/>
                <a:cs typeface="+mn-lt"/>
              </a:rPr>
              <a:t>RESEARCH GAP: </a:t>
            </a:r>
            <a:r>
              <a:rPr lang="en-US" sz="2500">
                <a:latin typeface="Times New Roman"/>
                <a:ea typeface="+mn-lt"/>
                <a:cs typeface="+mn-lt"/>
              </a:rPr>
              <a:t>No mechanism for predictive analysis of patient's vitals to forewarn a risk of complication or possible illness of mother</a:t>
            </a:r>
            <a:endParaRPr lang="en-US" sz="2500">
              <a:latin typeface="Times New Roman"/>
              <a:cs typeface="Times New Roman"/>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a:cs typeface="Times New Roman"/>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extLst>
      <p:ext uri="{BB962C8B-B14F-4D97-AF65-F5344CB8AC3E}">
        <p14:creationId xmlns:p14="http://schemas.microsoft.com/office/powerpoint/2010/main" val="4090002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E3B8A-E23F-D0CA-4D7E-28D97268F73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0A8CC7B-EEE1-8C3C-1DA2-2256F019A33E}"/>
              </a:ext>
            </a:extLst>
          </p:cNvPr>
          <p:cNvSpPr txBox="1">
            <a:spLocks noGrp="1"/>
          </p:cNvSpPr>
          <p:nvPr>
            <p:ph type="title"/>
          </p:nvPr>
        </p:nvSpPr>
        <p:spPr>
          <a:xfrm>
            <a:off x="190387" y="502628"/>
            <a:ext cx="10821035" cy="760095"/>
          </a:xfrm>
          <a:prstGeom prst="rect">
            <a:avLst/>
          </a:prstGeom>
        </p:spPr>
        <p:txBody>
          <a:bodyPr vert="horz" wrap="square" lIns="0" tIns="12700" rIns="0" bIns="0" rtlCol="0" anchor="t">
            <a:noAutofit/>
          </a:bodyPr>
          <a:lstStyle/>
          <a:p>
            <a:pPr marL="12700" algn="l">
              <a:spcBef>
                <a:spcPts val="100"/>
              </a:spcBef>
            </a:pPr>
            <a:r>
              <a:rPr lang="en-US" altLang="en-US" sz="3500" spc="-95">
                <a:latin typeface="Times New Roman"/>
                <a:cs typeface="Times New Roman"/>
              </a:rPr>
              <a:t>                                 EXISTING  SOLUTIONS</a:t>
            </a: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4C4CE3A7-2D98-D2EF-1A84-9D08E3B8FCB9}"/>
              </a:ext>
            </a:extLst>
          </p:cNvPr>
          <p:cNvSpPr txBox="1"/>
          <p:nvPr/>
        </p:nvSpPr>
        <p:spPr>
          <a:xfrm>
            <a:off x="0" y="1925053"/>
            <a:ext cx="10693400" cy="12129539"/>
          </a:xfrm>
          <a:prstGeom prst="rect">
            <a:avLst/>
          </a:prstGeom>
        </p:spPr>
        <p:txBody>
          <a:bodyPr vert="horz" wrap="square" lIns="0" tIns="216535" rIns="0" bIns="0" rtlCol="0" anchor="t">
            <a:spAutoFit/>
          </a:bodyPr>
          <a:lstStyle/>
          <a:p>
            <a:pPr>
              <a:tabLst>
                <a:tab pos="469265" algn="l"/>
                <a:tab pos="469900" algn="l"/>
              </a:tabLst>
            </a:pPr>
            <a:r>
              <a:rPr lang="en-US" sz="2500">
                <a:latin typeface="Times New Roman"/>
                <a:cs typeface="Times New Roman"/>
              </a:rPr>
              <a:t>[2] </a:t>
            </a:r>
            <a:r>
              <a:rPr lang="en-US" sz="2500">
                <a:latin typeface="Times New Roman"/>
                <a:ea typeface="+mn-lt"/>
                <a:cs typeface="+mn-lt"/>
              </a:rPr>
              <a:t>Explainable Early Prediction of Gestational Diabetes Biomarkers by Combining </a:t>
            </a:r>
            <a:endParaRPr lang="en-US" sz="2500">
              <a:latin typeface="Times New Roman"/>
              <a:ea typeface="Calibri"/>
              <a:cs typeface="Calibri"/>
            </a:endParaRPr>
          </a:p>
          <a:p>
            <a:pPr>
              <a:tabLst>
                <a:tab pos="469265" algn="l"/>
                <a:tab pos="469900" algn="l"/>
              </a:tabLst>
            </a:pPr>
            <a:r>
              <a:rPr lang="en-US" sz="2500">
                <a:latin typeface="Times New Roman"/>
                <a:ea typeface="+mn-lt"/>
                <a:cs typeface="+mn-lt"/>
              </a:rPr>
              <a:t>Medical Background and Wearable Devices: A Pilot Study With a Cohort Group in South Africa(2024)</a:t>
            </a:r>
            <a:r>
              <a:rPr lang="en-US" sz="2200" b="1">
                <a:ea typeface="+mn-lt"/>
                <a:cs typeface="+mn-lt"/>
              </a:rPr>
              <a:t> </a:t>
            </a:r>
            <a:r>
              <a:rPr lang="en-US" sz="2500" b="1" baseline="30000">
                <a:solidFill>
                  <a:srgbClr val="0070C0"/>
                </a:solidFill>
                <a:latin typeface="Times New Roman"/>
                <a:ea typeface="+mn-lt"/>
                <a:cs typeface="+mn-lt"/>
              </a:rPr>
              <a:t>[5]</a:t>
            </a:r>
            <a:endParaRPr lang="en-US" sz="2500" baseline="30000">
              <a:latin typeface="Times New Roman"/>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r>
              <a:rPr lang="en-US" sz="2500">
                <a:solidFill>
                  <a:srgbClr val="1F497D"/>
                </a:solidFill>
                <a:latin typeface="Times New Roman"/>
                <a:ea typeface="+mn-lt"/>
                <a:cs typeface="+mn-lt"/>
              </a:rPr>
              <a:t>GOAL: </a:t>
            </a:r>
            <a:r>
              <a:rPr lang="en-US" sz="2500">
                <a:solidFill>
                  <a:srgbClr val="000000"/>
                </a:solidFill>
                <a:latin typeface="Times New Roman"/>
                <a:ea typeface="+mn-lt"/>
                <a:cs typeface="+mn-lt"/>
              </a:rPr>
              <a:t>A wrist-worn device that forecasts biomarkers 13 to 16 weeks prior to the </a:t>
            </a:r>
          </a:p>
          <a:p>
            <a:pPr>
              <a:tabLst>
                <a:tab pos="469265" algn="l"/>
                <a:tab pos="469900" algn="l"/>
              </a:tabLst>
            </a:pPr>
            <a:r>
              <a:rPr lang="en-US" sz="2500">
                <a:solidFill>
                  <a:srgbClr val="000000"/>
                </a:solidFill>
                <a:latin typeface="Times New Roman"/>
                <a:ea typeface="+mn-lt"/>
                <a:cs typeface="+mn-lt"/>
              </a:rPr>
              <a:t>Gestational Diabetes Mellitus(GDM) screening test done 24-28 weeks in pregnancy.</a:t>
            </a:r>
            <a:endParaRPr lang="en-US" sz="2500">
              <a:latin typeface="Times New Roman"/>
            </a:endParaRPr>
          </a:p>
          <a:p>
            <a:pPr>
              <a:tabLst>
                <a:tab pos="469265" algn="l"/>
                <a:tab pos="469900" algn="l"/>
              </a:tabLst>
            </a:pPr>
            <a:endParaRPr lang="en-US" sz="2200" b="1">
              <a:solidFill>
                <a:srgbClr val="000000"/>
              </a:solidFill>
              <a:latin typeface="Calibri"/>
              <a:ea typeface="Calibri"/>
              <a:cs typeface="Calibri"/>
            </a:endParaRPr>
          </a:p>
          <a:p>
            <a:pPr>
              <a:tabLst>
                <a:tab pos="469265" algn="l"/>
                <a:tab pos="469900" algn="l"/>
              </a:tabLst>
            </a:pPr>
            <a:r>
              <a:rPr lang="en-US" sz="2500">
                <a:solidFill>
                  <a:srgbClr val="1F497D"/>
                </a:solidFill>
                <a:latin typeface="Times New Roman"/>
                <a:ea typeface="+mn-lt"/>
                <a:cs typeface="+mn-lt"/>
              </a:rPr>
              <a:t>TECHNIQUE: </a:t>
            </a:r>
            <a:r>
              <a:rPr lang="en-US" sz="2500">
                <a:solidFill>
                  <a:srgbClr val="000000"/>
                </a:solidFill>
                <a:latin typeface="Times New Roman"/>
                <a:ea typeface="+mn-lt"/>
                <a:cs typeface="+mn-lt"/>
              </a:rPr>
              <a:t>Glucose monitoring devices, a wristband for activity detection, and medical background data were fed into a ML model to predict possible occurrence of GDM.</a:t>
            </a:r>
            <a:endParaRPr lang="en-US" sz="2500">
              <a:latin typeface="Times New Roman"/>
              <a:cs typeface="Times New Roman"/>
            </a:endParaRPr>
          </a:p>
          <a:p>
            <a:pPr>
              <a:tabLst>
                <a:tab pos="469265" algn="l"/>
                <a:tab pos="469900" algn="l"/>
              </a:tabLst>
            </a:pPr>
            <a:endParaRPr lang="en-US" sz="2500">
              <a:solidFill>
                <a:srgbClr val="000000"/>
              </a:solidFill>
              <a:latin typeface="Times New Roman"/>
              <a:ea typeface="Calibri"/>
              <a:cs typeface="Calibri"/>
            </a:endParaRPr>
          </a:p>
          <a:p>
            <a:pPr>
              <a:tabLst>
                <a:tab pos="469265" algn="l"/>
                <a:tab pos="469900" algn="l"/>
              </a:tabLst>
            </a:pPr>
            <a:r>
              <a:rPr lang="en-US" sz="2500">
                <a:solidFill>
                  <a:srgbClr val="1F497D"/>
                </a:solidFill>
                <a:latin typeface="Times New Roman"/>
                <a:ea typeface="+mn-lt"/>
                <a:cs typeface="+mn-lt"/>
              </a:rPr>
              <a:t>RESEARCH GAP: </a:t>
            </a:r>
            <a:r>
              <a:rPr lang="en-US" sz="2500">
                <a:solidFill>
                  <a:srgbClr val="000000"/>
                </a:solidFill>
                <a:latin typeface="Times New Roman"/>
                <a:ea typeface="+mn-lt"/>
                <a:cs typeface="+mn-lt"/>
              </a:rPr>
              <a:t>Limited scope to GDM</a:t>
            </a:r>
          </a:p>
          <a:p>
            <a:pPr>
              <a:tabLst>
                <a:tab pos="469265" algn="l"/>
                <a:tab pos="469900" algn="l"/>
              </a:tabLst>
            </a:pPr>
            <a:endParaRPr lang="en-US" sz="2500">
              <a:solidFill>
                <a:srgbClr val="1F497D"/>
              </a:solidFill>
              <a:latin typeface="Times New Roman"/>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a:cs typeface="Times New Roman"/>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extLst>
      <p:ext uri="{BB962C8B-B14F-4D97-AF65-F5344CB8AC3E}">
        <p14:creationId xmlns:p14="http://schemas.microsoft.com/office/powerpoint/2010/main" val="57177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033E-AC07-7A1F-E8B7-DA965F8322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452FD8-978B-EE3D-45A6-1E1A7A0182F3}"/>
              </a:ext>
            </a:extLst>
          </p:cNvPr>
          <p:cNvSpPr txBox="1">
            <a:spLocks noGrp="1"/>
          </p:cNvSpPr>
          <p:nvPr>
            <p:ph type="title"/>
          </p:nvPr>
        </p:nvSpPr>
        <p:spPr>
          <a:xfrm>
            <a:off x="190387" y="502628"/>
            <a:ext cx="10821035" cy="760095"/>
          </a:xfrm>
          <a:prstGeom prst="rect">
            <a:avLst/>
          </a:prstGeom>
        </p:spPr>
        <p:txBody>
          <a:bodyPr vert="horz" wrap="square" lIns="0" tIns="12700" rIns="0" bIns="0" rtlCol="0" anchor="t">
            <a:noAutofit/>
          </a:bodyPr>
          <a:lstStyle/>
          <a:p>
            <a:pPr marL="12700" algn="l">
              <a:spcBef>
                <a:spcPts val="100"/>
              </a:spcBef>
            </a:pPr>
            <a:r>
              <a:rPr lang="en-US" altLang="en-US" sz="3500" spc="-95">
                <a:latin typeface="Times New Roman"/>
                <a:cs typeface="Times New Roman"/>
              </a:rPr>
              <a:t>                                 EXISTING  SOLUTIONS</a:t>
            </a: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A233430A-62E1-7C54-7D37-055601FA4ED6}"/>
              </a:ext>
            </a:extLst>
          </p:cNvPr>
          <p:cNvSpPr txBox="1"/>
          <p:nvPr/>
        </p:nvSpPr>
        <p:spPr>
          <a:xfrm>
            <a:off x="0" y="1925053"/>
            <a:ext cx="10693400" cy="12991313"/>
          </a:xfrm>
          <a:prstGeom prst="rect">
            <a:avLst/>
          </a:prstGeom>
        </p:spPr>
        <p:txBody>
          <a:bodyPr vert="horz" wrap="square" lIns="0" tIns="216535" rIns="0" bIns="0" rtlCol="0" anchor="t">
            <a:spAutoFit/>
          </a:bodyPr>
          <a:lstStyle/>
          <a:p>
            <a:pPr>
              <a:tabLst>
                <a:tab pos="469265" algn="l"/>
                <a:tab pos="469900" algn="l"/>
              </a:tabLst>
            </a:pPr>
            <a:r>
              <a:rPr lang="en-US" sz="2500">
                <a:latin typeface="Times New Roman"/>
                <a:cs typeface="Times New Roman"/>
              </a:rPr>
              <a:t>[3] </a:t>
            </a:r>
            <a:r>
              <a:rPr lang="en-US" sz="2500">
                <a:latin typeface="Times New Roman"/>
                <a:ea typeface="+mn-lt"/>
                <a:cs typeface="+mn-lt"/>
              </a:rPr>
              <a:t>Health Monitoring Of Expecting Mothers Using Multiple Sensor Approach: "Preg Care" (2020) </a:t>
            </a:r>
            <a:r>
              <a:rPr lang="en-US" sz="2500" baseline="30000">
                <a:solidFill>
                  <a:srgbClr val="0070C0"/>
                </a:solidFill>
                <a:latin typeface="Times New Roman"/>
                <a:ea typeface="+mn-lt"/>
                <a:cs typeface="+mn-lt"/>
              </a:rPr>
              <a:t>[6]</a:t>
            </a:r>
            <a:endParaRPr lang="en-US" sz="2500" baseline="30000">
              <a:latin typeface="Times New Roman"/>
              <a:cs typeface="Times New Roman"/>
            </a:endParaRPr>
          </a:p>
          <a:p>
            <a:pPr>
              <a:tabLst>
                <a:tab pos="469265" algn="l"/>
                <a:tab pos="469900" algn="l"/>
              </a:tabLst>
            </a:pPr>
            <a:endParaRPr lang="en-US" sz="2500">
              <a:latin typeface="Times New Roman"/>
              <a:ea typeface="Calibri"/>
              <a:cs typeface="Times New Roman"/>
            </a:endParaRPr>
          </a:p>
          <a:p>
            <a:pPr>
              <a:tabLst>
                <a:tab pos="469265" algn="l"/>
                <a:tab pos="469900" algn="l"/>
              </a:tabLst>
            </a:pPr>
            <a:endParaRPr lang="en-US" sz="2500">
              <a:latin typeface="Times New Roman"/>
              <a:ea typeface="Calibri"/>
              <a:cs typeface="Calibri"/>
            </a:endParaRPr>
          </a:p>
          <a:p>
            <a:pPr>
              <a:tabLst>
                <a:tab pos="469265" algn="l"/>
                <a:tab pos="469900" algn="l"/>
              </a:tabLst>
            </a:pPr>
            <a:r>
              <a:rPr lang="en-US" sz="2500">
                <a:solidFill>
                  <a:srgbClr val="1F497D"/>
                </a:solidFill>
                <a:latin typeface="Times New Roman"/>
                <a:ea typeface="+mn-lt"/>
                <a:cs typeface="+mn-lt"/>
              </a:rPr>
              <a:t>GOAL: </a:t>
            </a:r>
            <a:r>
              <a:rPr lang="en-US" sz="2500">
                <a:solidFill>
                  <a:srgbClr val="000000"/>
                </a:solidFill>
                <a:latin typeface="Times New Roman"/>
                <a:ea typeface="+mn-lt"/>
                <a:cs typeface="+mn-lt"/>
              </a:rPr>
              <a:t>A hand/wrist-worn system comprising provides complete health monitoring </a:t>
            </a:r>
          </a:p>
          <a:p>
            <a:pPr>
              <a:tabLst>
                <a:tab pos="469265" algn="l"/>
                <a:tab pos="469900" algn="l"/>
              </a:tabLst>
            </a:pPr>
            <a:r>
              <a:rPr lang="en-US" sz="2500">
                <a:solidFill>
                  <a:srgbClr val="000000"/>
                </a:solidFill>
                <a:latin typeface="Times New Roman"/>
                <a:ea typeface="+mn-lt"/>
                <a:cs typeface="+mn-lt"/>
              </a:rPr>
              <a:t>during the pregnancy period.</a:t>
            </a:r>
            <a:endParaRPr lang="en-US" sz="2500">
              <a:latin typeface="Times New Roman"/>
              <a:cs typeface="Times New Roman"/>
            </a:endParaRPr>
          </a:p>
          <a:p>
            <a:pPr>
              <a:tabLst>
                <a:tab pos="469265" algn="l"/>
                <a:tab pos="469900" algn="l"/>
              </a:tabLst>
            </a:pPr>
            <a:endParaRPr lang="en-US" sz="2500">
              <a:solidFill>
                <a:srgbClr val="1F497D"/>
              </a:solidFill>
              <a:latin typeface="Times New Roman"/>
              <a:ea typeface="Calibri"/>
              <a:cs typeface="Calibri"/>
            </a:endParaRPr>
          </a:p>
          <a:p>
            <a:pPr>
              <a:tabLst>
                <a:tab pos="469265" algn="l"/>
                <a:tab pos="469900" algn="l"/>
              </a:tabLst>
            </a:pPr>
            <a:endParaRPr lang="en-US" sz="2500">
              <a:solidFill>
                <a:srgbClr val="000000"/>
              </a:solidFill>
              <a:latin typeface="Times New Roman"/>
              <a:ea typeface="Calibri"/>
              <a:cs typeface="Calibri"/>
            </a:endParaRPr>
          </a:p>
          <a:p>
            <a:pPr>
              <a:tabLst>
                <a:tab pos="469265" algn="l"/>
                <a:tab pos="469900" algn="l"/>
              </a:tabLst>
            </a:pPr>
            <a:r>
              <a:rPr lang="en-US" sz="2500">
                <a:solidFill>
                  <a:srgbClr val="1F497D"/>
                </a:solidFill>
                <a:latin typeface="Times New Roman"/>
                <a:ea typeface="+mn-lt"/>
                <a:cs typeface="+mn-lt"/>
              </a:rPr>
              <a:t>TECHNIQUE: </a:t>
            </a:r>
            <a:r>
              <a:rPr lang="en-US" sz="2500">
                <a:solidFill>
                  <a:srgbClr val="000000"/>
                </a:solidFill>
                <a:latin typeface="Times New Roman"/>
                <a:ea typeface="+mn-lt"/>
                <a:cs typeface="+mn-lt"/>
              </a:rPr>
              <a:t>Body temperature, glucose rate detection, heart rate, sudden fall </a:t>
            </a:r>
          </a:p>
          <a:p>
            <a:pPr>
              <a:tabLst>
                <a:tab pos="469265" algn="l"/>
                <a:tab pos="469900" algn="l"/>
              </a:tabLst>
            </a:pPr>
            <a:r>
              <a:rPr lang="en-US" sz="2500">
                <a:solidFill>
                  <a:srgbClr val="000000"/>
                </a:solidFill>
                <a:latin typeface="Times New Roman"/>
                <a:ea typeface="+mn-lt"/>
                <a:cs typeface="+mn-lt"/>
              </a:rPr>
              <a:t>detection and anemia status(using python-based image processing) are monitored </a:t>
            </a:r>
            <a:endParaRPr lang="en-US" sz="2500">
              <a:latin typeface="Times New Roman"/>
              <a:cs typeface="Times New Roman"/>
            </a:endParaRPr>
          </a:p>
          <a:p>
            <a:pPr>
              <a:tabLst>
                <a:tab pos="469265" algn="l"/>
                <a:tab pos="469900" algn="l"/>
              </a:tabLst>
            </a:pPr>
            <a:r>
              <a:rPr lang="en-US" sz="2500">
                <a:solidFill>
                  <a:srgbClr val="000000"/>
                </a:solidFill>
                <a:latin typeface="Times New Roman"/>
                <a:ea typeface="+mn-lt"/>
                <a:cs typeface="+mn-lt"/>
              </a:rPr>
              <a:t>throughout gestational period. Alert systems are implemented.</a:t>
            </a:r>
            <a:endParaRPr lang="en-US" sz="2500">
              <a:latin typeface="Times New Roman"/>
              <a:cs typeface="Times New Roman"/>
            </a:endParaRPr>
          </a:p>
          <a:p>
            <a:pPr>
              <a:tabLst>
                <a:tab pos="469265" algn="l"/>
                <a:tab pos="469900" algn="l"/>
              </a:tabLst>
            </a:pPr>
            <a:endParaRPr lang="en-US" sz="2500">
              <a:solidFill>
                <a:srgbClr val="1F497D"/>
              </a:solidFill>
              <a:latin typeface="Times New Roman"/>
              <a:ea typeface="Calibri"/>
              <a:cs typeface="Calibri"/>
            </a:endParaRPr>
          </a:p>
          <a:p>
            <a:pPr>
              <a:tabLst>
                <a:tab pos="469265" algn="l"/>
                <a:tab pos="469900" algn="l"/>
              </a:tabLst>
            </a:pPr>
            <a:endParaRPr lang="en-US" sz="2500">
              <a:solidFill>
                <a:srgbClr val="000000"/>
              </a:solidFill>
              <a:latin typeface="Times New Roman"/>
              <a:ea typeface="Calibri"/>
              <a:cs typeface="Calibri"/>
            </a:endParaRPr>
          </a:p>
          <a:p>
            <a:pPr>
              <a:tabLst>
                <a:tab pos="469265" algn="l"/>
                <a:tab pos="469900" algn="l"/>
              </a:tabLst>
            </a:pPr>
            <a:r>
              <a:rPr lang="en-US" sz="2500">
                <a:solidFill>
                  <a:srgbClr val="1F497D"/>
                </a:solidFill>
                <a:latin typeface="Times New Roman"/>
                <a:ea typeface="+mn-lt"/>
                <a:cs typeface="+mn-lt"/>
              </a:rPr>
              <a:t>RESEARCH GAP: </a:t>
            </a:r>
            <a:r>
              <a:rPr lang="en-US" sz="2500">
                <a:solidFill>
                  <a:srgbClr val="000000"/>
                </a:solidFill>
                <a:latin typeface="Times New Roman"/>
                <a:ea typeface="+mn-lt"/>
                <a:cs typeface="+mn-lt"/>
              </a:rPr>
              <a:t>No data security measures are implemented</a:t>
            </a:r>
          </a:p>
          <a:p>
            <a:pPr>
              <a:tabLst>
                <a:tab pos="469265" algn="l"/>
                <a:tab pos="469900" algn="l"/>
              </a:tabLst>
            </a:pPr>
            <a:endParaRPr lang="en-US" sz="2500">
              <a:solidFill>
                <a:srgbClr val="1F497D"/>
              </a:solidFill>
              <a:latin typeface="Times New Roman"/>
              <a:ea typeface="+mn-lt"/>
              <a:cs typeface="+mn-lt"/>
            </a:endParaRPr>
          </a:p>
          <a:p>
            <a:pPr>
              <a:tabLst>
                <a:tab pos="469265" algn="l"/>
                <a:tab pos="469900" algn="l"/>
              </a:tabLst>
            </a:pPr>
            <a:endParaRPr lang="en-US" sz="2500">
              <a:solidFill>
                <a:srgbClr val="1F497D"/>
              </a:solidFill>
              <a:latin typeface="Times New Roman"/>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a:cs typeface="Times New Roman"/>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extLst>
      <p:ext uri="{BB962C8B-B14F-4D97-AF65-F5344CB8AC3E}">
        <p14:creationId xmlns:p14="http://schemas.microsoft.com/office/powerpoint/2010/main" val="163856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387" y="502628"/>
            <a:ext cx="10821035" cy="760095"/>
          </a:xfrm>
          <a:prstGeom prst="rect">
            <a:avLst/>
          </a:prstGeom>
        </p:spPr>
        <p:txBody>
          <a:bodyPr vert="horz" wrap="square" lIns="0" tIns="12700" rIns="0" bIns="0" rtlCol="0">
            <a:noAutofit/>
          </a:bodyPr>
          <a:lstStyle/>
          <a:p>
            <a:pPr marL="12700" algn="l">
              <a:lnSpc>
                <a:spcPct val="100000"/>
              </a:lnSpc>
              <a:spcBef>
                <a:spcPts val="100"/>
              </a:spcBef>
            </a:pPr>
            <a:r>
              <a:rPr lang="en-US" altLang="en-US" sz="3500" spc="-95">
                <a:latin typeface="Times New Roman" panose="02020603050405020304" pitchFamily="18" charset="0"/>
                <a:cs typeface="Times New Roman" panose="02020603050405020304" pitchFamily="18" charset="0"/>
              </a:rPr>
              <a:t>  FIELD VISIT TO KORLE-BU TEACHING HOSPITAL</a:t>
            </a: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A sign on the side of a building&#10;&#10;AI-generated content may be incorrect.">
            <a:extLst>
              <a:ext uri="{FF2B5EF4-FFF2-40B4-BE49-F238E27FC236}">
                <a16:creationId xmlns:a16="http://schemas.microsoft.com/office/drawing/2014/main" id="{7AF26818-17EB-E0F1-E72B-D984509BFF45}"/>
              </a:ext>
            </a:extLst>
          </p:cNvPr>
          <p:cNvPicPr>
            <a:picLocks noChangeAspect="1"/>
          </p:cNvPicPr>
          <p:nvPr/>
        </p:nvPicPr>
        <p:blipFill>
          <a:blip r:embed="rId2"/>
          <a:stretch>
            <a:fillRect/>
          </a:stretch>
        </p:blipFill>
        <p:spPr>
          <a:xfrm>
            <a:off x="-348" y="1014722"/>
            <a:ext cx="5602002" cy="6548128"/>
          </a:xfrm>
          <a:prstGeom prst="rect">
            <a:avLst/>
          </a:prstGeom>
        </p:spPr>
      </p:pic>
      <p:pic>
        <p:nvPicPr>
          <p:cNvPr id="4" name="Picture 3" descr="A close up of a container&#10;&#10;AI-generated content may be incorrect.">
            <a:extLst>
              <a:ext uri="{FF2B5EF4-FFF2-40B4-BE49-F238E27FC236}">
                <a16:creationId xmlns:a16="http://schemas.microsoft.com/office/drawing/2014/main" id="{D6C46D91-73DE-8FE2-ABF1-6E51CF49C832}"/>
              </a:ext>
            </a:extLst>
          </p:cNvPr>
          <p:cNvPicPr>
            <a:picLocks noChangeAspect="1"/>
          </p:cNvPicPr>
          <p:nvPr/>
        </p:nvPicPr>
        <p:blipFill>
          <a:blip r:embed="rId3"/>
          <a:stretch>
            <a:fillRect/>
          </a:stretch>
        </p:blipFill>
        <p:spPr>
          <a:xfrm>
            <a:off x="5602912" y="1014722"/>
            <a:ext cx="5088885" cy="65481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EEDFD-5122-FF70-DE5F-E6A57AAC811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E0C9C0D-C1FC-48FD-0E5C-A6162B90323D}"/>
              </a:ext>
            </a:extLst>
          </p:cNvPr>
          <p:cNvSpPr txBox="1">
            <a:spLocks noGrp="1"/>
          </p:cNvSpPr>
          <p:nvPr>
            <p:ph type="title"/>
          </p:nvPr>
        </p:nvSpPr>
        <p:spPr>
          <a:xfrm>
            <a:off x="190387" y="502628"/>
            <a:ext cx="10821035" cy="760095"/>
          </a:xfrm>
          <a:prstGeom prst="rect">
            <a:avLst/>
          </a:prstGeom>
        </p:spPr>
        <p:txBody>
          <a:bodyPr vert="horz" wrap="square" lIns="0" tIns="12700" rIns="0" bIns="0" rtlCol="0" anchor="t">
            <a:noAutofit/>
          </a:bodyPr>
          <a:lstStyle/>
          <a:p>
            <a:pPr marL="12700" algn="l">
              <a:spcBef>
                <a:spcPts val="100"/>
              </a:spcBef>
            </a:pPr>
            <a:r>
              <a:rPr lang="en-US" altLang="en-US" sz="3500" spc="-95">
                <a:latin typeface="Times New Roman"/>
                <a:cs typeface="Times New Roman"/>
              </a:rPr>
              <a:t>               PROPOSED  SYSTEM ARCHITECTURE</a:t>
            </a:r>
            <a:br>
              <a:rPr lang="en-US" altLang="en-US" sz="3500" spc="-95">
                <a:latin typeface="Times New Roman"/>
                <a:cs typeface="Times New Roman"/>
              </a:rPr>
            </a:br>
            <a:br>
              <a:rPr lang="en-US" altLang="en-US" sz="3500" spc="-95">
                <a:latin typeface="Times New Roman" panose="02020603050405020304" pitchFamily="18" charset="0"/>
                <a:cs typeface="Times New Roman" panose="02020603050405020304" pitchFamily="18" charset="0"/>
              </a:rPr>
            </a:b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075AB913-43A5-0362-51CD-6D62CC59E452}"/>
              </a:ext>
            </a:extLst>
          </p:cNvPr>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A diagram of data upload&#10;&#10;AI-generated content may be incorrect.">
            <a:extLst>
              <a:ext uri="{FF2B5EF4-FFF2-40B4-BE49-F238E27FC236}">
                <a16:creationId xmlns:a16="http://schemas.microsoft.com/office/drawing/2014/main" id="{57A0F12A-E965-FEBE-097D-5A1E23433FE3}"/>
              </a:ext>
            </a:extLst>
          </p:cNvPr>
          <p:cNvPicPr>
            <a:picLocks noChangeAspect="1"/>
          </p:cNvPicPr>
          <p:nvPr/>
        </p:nvPicPr>
        <p:blipFill>
          <a:blip r:embed="rId2"/>
          <a:stretch>
            <a:fillRect/>
          </a:stretch>
        </p:blipFill>
        <p:spPr>
          <a:xfrm>
            <a:off x="5425" y="1038645"/>
            <a:ext cx="10810233" cy="6531992"/>
          </a:xfrm>
          <a:prstGeom prst="rect">
            <a:avLst/>
          </a:prstGeom>
        </p:spPr>
      </p:pic>
    </p:spTree>
    <p:extLst>
      <p:ext uri="{BB962C8B-B14F-4D97-AF65-F5344CB8AC3E}">
        <p14:creationId xmlns:p14="http://schemas.microsoft.com/office/powerpoint/2010/main" val="1305803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F295D-A6E3-521D-ABF1-262B93F4ED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4D1A5D4-59A5-828C-E9C4-606014FFC16E}"/>
              </a:ext>
            </a:extLst>
          </p:cNvPr>
          <p:cNvSpPr txBox="1">
            <a:spLocks noGrp="1"/>
          </p:cNvSpPr>
          <p:nvPr>
            <p:ph type="title"/>
          </p:nvPr>
        </p:nvSpPr>
        <p:spPr>
          <a:xfrm>
            <a:off x="190387" y="502628"/>
            <a:ext cx="10821035" cy="760095"/>
          </a:xfrm>
          <a:prstGeom prst="rect">
            <a:avLst/>
          </a:prstGeom>
        </p:spPr>
        <p:txBody>
          <a:bodyPr vert="horz" wrap="square" lIns="0" tIns="12700" rIns="0" bIns="0" rtlCol="0" anchor="t">
            <a:noAutofit/>
          </a:bodyPr>
          <a:lstStyle/>
          <a:p>
            <a:pPr marL="12700" algn="l">
              <a:spcBef>
                <a:spcPts val="100"/>
              </a:spcBef>
            </a:pPr>
            <a:r>
              <a:rPr lang="en-US" altLang="en-US" sz="3500" spc="-95">
                <a:latin typeface="Times New Roman"/>
                <a:cs typeface="Times New Roman"/>
              </a:rPr>
              <a:t>                              </a:t>
            </a:r>
            <a:br>
              <a:rPr lang="en-US" altLang="en-US" sz="3500" spc="-95">
                <a:latin typeface="Times New Roman"/>
                <a:cs typeface="Times New Roman"/>
              </a:rPr>
            </a:br>
            <a:br>
              <a:rPr lang="en-US" altLang="en-US" sz="3500" spc="-95">
                <a:latin typeface="Times New Roman"/>
                <a:cs typeface="Times New Roman"/>
              </a:rPr>
            </a:br>
            <a:br>
              <a:rPr lang="en-US" altLang="en-US" sz="3500" spc="-95">
                <a:latin typeface="Times New Roman" panose="02020603050405020304" pitchFamily="18" charset="0"/>
                <a:cs typeface="Times New Roman" panose="02020603050405020304" pitchFamily="18" charset="0"/>
              </a:rPr>
            </a:b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8B2B98E5-67E1-76FE-8D9E-F9BCA2F9BE53}"/>
              </a:ext>
            </a:extLst>
          </p:cNvPr>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4" name="Picture 3">
            <a:extLst>
              <a:ext uri="{FF2B5EF4-FFF2-40B4-BE49-F238E27FC236}">
                <a16:creationId xmlns:a16="http://schemas.microsoft.com/office/drawing/2014/main" id="{90BF1E9A-06DB-772F-70B9-C5DA1D20862C}"/>
              </a:ext>
            </a:extLst>
          </p:cNvPr>
          <p:cNvPicPr>
            <a:picLocks noChangeAspect="1"/>
          </p:cNvPicPr>
          <p:nvPr/>
        </p:nvPicPr>
        <p:blipFill>
          <a:blip r:embed="rId2"/>
          <a:stretch>
            <a:fillRect/>
          </a:stretch>
        </p:blipFill>
        <p:spPr>
          <a:xfrm>
            <a:off x="6934" y="-3015"/>
            <a:ext cx="10807214" cy="7568880"/>
          </a:xfrm>
          <a:prstGeom prst="rect">
            <a:avLst/>
          </a:prstGeom>
        </p:spPr>
      </p:pic>
    </p:spTree>
    <p:extLst>
      <p:ext uri="{BB962C8B-B14F-4D97-AF65-F5344CB8AC3E}">
        <p14:creationId xmlns:p14="http://schemas.microsoft.com/office/powerpoint/2010/main" val="3361822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8369006" y="6809792"/>
            <a:ext cx="270236" cy="324349"/>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p>
        </p:txBody>
      </p:sp>
      <p:sp>
        <p:nvSpPr>
          <p:cNvPr id="7" name="object 3"/>
          <p:cNvSpPr txBox="1"/>
          <p:nvPr/>
        </p:nvSpPr>
        <p:spPr>
          <a:xfrm>
            <a:off x="0" y="1925053"/>
            <a:ext cx="10693400" cy="717550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indent="0" algn="ctr">
              <a:buFont typeface="Wingdings,Sans-Serif" panose="05000000000000000000" pitchFamily="2" charset="2"/>
              <a:buNone/>
              <a:tabLst>
                <a:tab pos="469265" algn="l"/>
                <a:tab pos="469900" algn="l"/>
              </a:tabLst>
            </a:pPr>
            <a:r>
              <a:rPr lang="en-US" sz="5000" b="1" spc="-95">
                <a:latin typeface="Times New Roman" panose="02020603050405020304" pitchFamily="18" charset="0"/>
                <a:cs typeface="Times New Roman" panose="02020603050405020304" pitchFamily="18" charset="0"/>
                <a:sym typeface="+mn-ea"/>
              </a:rPr>
              <a:t>MACHINE LEARNING  MODEL PROGRESS</a:t>
            </a:r>
            <a:endParaRPr lang="en-US" sz="50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374135"/>
            <a:ext cx="11030284" cy="551180"/>
          </a:xfrm>
          <a:prstGeom prst="rect">
            <a:avLst/>
          </a:prstGeom>
        </p:spPr>
        <p:txBody>
          <a:bodyPr vert="horz" wrap="square" lIns="0" tIns="12700" rIns="0" bIns="0" rtlCol="0">
            <a:spAutoFit/>
          </a:bodyPr>
          <a:lstStyle/>
          <a:p>
            <a:pPr marL="12700" algn="ctr">
              <a:lnSpc>
                <a:spcPct val="100000"/>
              </a:lnSpc>
              <a:spcBef>
                <a:spcPts val="100"/>
              </a:spcBef>
            </a:pPr>
            <a:r>
              <a:rPr lang="en-US" sz="3500" spc="-95">
                <a:latin typeface="Times New Roman" panose="02020603050405020304" pitchFamily="18" charset="0"/>
                <a:cs typeface="Times New Roman" panose="02020603050405020304" pitchFamily="18" charset="0"/>
              </a:rPr>
              <a:t>MACHINE LEARNING WORKFLOW</a:t>
            </a:r>
            <a:endParaRPr sz="3500" spc="-95">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8" name="Picture 7" descr="A diagram of a software model&#10;&#10;AI-generated content may be incorrect.">
            <a:extLst>
              <a:ext uri="{FF2B5EF4-FFF2-40B4-BE49-F238E27FC236}">
                <a16:creationId xmlns:a16="http://schemas.microsoft.com/office/drawing/2014/main" id="{39475DD3-305D-855B-2B8B-A6560AB2DA6E}"/>
              </a:ext>
            </a:extLst>
          </p:cNvPr>
          <p:cNvPicPr>
            <a:picLocks noChangeAspect="1"/>
          </p:cNvPicPr>
          <p:nvPr/>
        </p:nvPicPr>
        <p:blipFill>
          <a:blip r:embed="rId2"/>
          <a:stretch>
            <a:fillRect/>
          </a:stretch>
        </p:blipFill>
        <p:spPr>
          <a:xfrm>
            <a:off x="729816" y="1738718"/>
            <a:ext cx="8695097" cy="60197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655" y="1229995"/>
            <a:ext cx="11191240" cy="551180"/>
          </a:xfrm>
          <a:prstGeom prst="rect">
            <a:avLst/>
          </a:prstGeom>
        </p:spPr>
        <p:txBody>
          <a:bodyPr vert="horz" wrap="square" lIns="0" tIns="12700" rIns="0" bIns="0" rtlCol="0" anchor="t">
            <a:spAutoFit/>
          </a:bodyPr>
          <a:lstStyle/>
          <a:p>
            <a:pPr marL="12700" algn="ctr">
              <a:spcBef>
                <a:spcPts val="100"/>
              </a:spcBef>
            </a:pPr>
            <a:r>
              <a:rPr lang="en-US" sz="3500" spc="-95">
                <a:latin typeface="Times New Roman"/>
                <a:cs typeface="Times New Roman"/>
              </a:rPr>
              <a:t>    PREECLAMPSIA </a:t>
            </a:r>
            <a:r>
              <a:rPr lang="en-US" sz="3500" spc="-95">
                <a:latin typeface="Times New Roman"/>
                <a:cs typeface="Times New Roman"/>
                <a:sym typeface="+mn-ea"/>
              </a:rPr>
              <a:t> DATASET OVERVIEW</a:t>
            </a:r>
            <a:endParaRPr sz="3500" spc="-95">
              <a:latin typeface="Times New Roman"/>
              <a:cs typeface="Times New Roman"/>
            </a:endParaRPr>
          </a:p>
        </p:txBody>
      </p:sp>
      <p:sp>
        <p:nvSpPr>
          <p:cNvPr id="7" name="object 3"/>
          <p:cNvSpPr txBox="1"/>
          <p:nvPr/>
        </p:nvSpPr>
        <p:spPr>
          <a:xfrm>
            <a:off x="0"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
        <p:nvSpPr>
          <p:cNvPr id="4" name="TextBox 3"/>
          <p:cNvSpPr txBox="1"/>
          <p:nvPr/>
        </p:nvSpPr>
        <p:spPr>
          <a:xfrm>
            <a:off x="0" y="1894245"/>
            <a:ext cx="10687154" cy="5666400"/>
          </a:xfrm>
          <a:prstGeom prst="rect">
            <a:avLst/>
          </a:prstGeom>
          <a:noFill/>
        </p:spPr>
        <p:txBody>
          <a:bodyPr wrap="square" lIns="91440" tIns="45720" rIns="91440" bIns="45720" rtlCol="0" anchor="t">
            <a:noAutofit/>
          </a:bodyPr>
          <a:lstStyle/>
          <a:p>
            <a:pPr marL="342900" indent="-342900">
              <a:buFont typeface="Wingdings" panose="05000000000000000000" pitchFamily="2" charset="2"/>
              <a:buChar char="v"/>
            </a:pPr>
            <a:r>
              <a:rPr lang="en-US" sz="2500">
                <a:latin typeface="Times New Roman"/>
                <a:cs typeface="Times New Roman"/>
              </a:rPr>
              <a:t>Dataset Name: preeclampsia_dataset.csv</a:t>
            </a:r>
          </a:p>
          <a:p>
            <a:endParaRPr lang="en-US" sz="25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500">
                <a:latin typeface="Times New Roman"/>
                <a:cs typeface="Times New Roman"/>
              </a:rPr>
              <a:t>Source: Synthetic Data Generation</a:t>
            </a:r>
          </a:p>
          <a:p>
            <a:pPr marL="342900" indent="-342900">
              <a:buFont typeface="Wingdings" panose="05000000000000000000" pitchFamily="2" charset="2"/>
              <a:buChar char="v"/>
            </a:pPr>
            <a:endParaRPr lang="en-US" sz="25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500">
                <a:latin typeface="Times New Roman"/>
                <a:cs typeface="Times New Roman"/>
              </a:rPr>
              <a:t>Number of Samples: 10,000</a:t>
            </a:r>
          </a:p>
          <a:p>
            <a:pPr marL="342900" indent="-342900">
              <a:buFont typeface="Wingdings" panose="05000000000000000000" pitchFamily="2" charset="2"/>
              <a:buChar char="v"/>
            </a:pPr>
            <a:endParaRPr lang="en-US" sz="25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500">
                <a:latin typeface="Times New Roman"/>
                <a:cs typeface="Times New Roman"/>
              </a:rPr>
              <a:t>Input Features:</a:t>
            </a:r>
            <a:r>
              <a:rPr lang="en-US" sz="2500">
                <a:latin typeface="Times New Roman"/>
                <a:cs typeface="Times New Roman"/>
                <a:sym typeface="+mn-ea"/>
              </a:rPr>
              <a:t> Systolic blood pressure, Diastolic blood pressure , MAP, Protein in urine</a:t>
            </a:r>
            <a:endParaRPr lang="en-US" sz="2500">
              <a:latin typeface="Times New Roman"/>
              <a:cs typeface="Times New Roman"/>
            </a:endParaRPr>
          </a:p>
          <a:p>
            <a:pPr marL="342900" indent="-342900">
              <a:buFont typeface="Wingdings" panose="05000000000000000000" pitchFamily="2" charset="2"/>
              <a:buChar char="v"/>
            </a:pPr>
            <a:endParaRPr lang="en-US" sz="25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500">
                <a:latin typeface="Times New Roman"/>
                <a:cs typeface="Times New Roman"/>
              </a:rPr>
              <a:t>Output States: </a:t>
            </a:r>
            <a:r>
              <a:rPr lang="en-US" sz="2500" err="1">
                <a:latin typeface="Times New Roman"/>
                <a:cs typeface="Times New Roman"/>
              </a:rPr>
              <a:t>No_Preeclampsia</a:t>
            </a:r>
            <a:r>
              <a:rPr lang="en-US" sz="2500">
                <a:latin typeface="Times New Roman"/>
                <a:cs typeface="Times New Roman"/>
              </a:rPr>
              <a:t>, Mild, Moderate and Severe</a:t>
            </a:r>
          </a:p>
          <a:p>
            <a:endParaRPr lang="en-US" sz="25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500">
                <a:latin typeface="Times New Roman"/>
                <a:cs typeface="Times New Roman"/>
              </a:rPr>
              <a:t>Description: Dataset of 10,000 records generated to predict preeclampsia risk based on MAP and urine protein levels, with added noise to simulate real-world variability.</a:t>
            </a:r>
          </a:p>
          <a:p>
            <a:endParaRPr lang="en-US" b="1"/>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0" y="1262375"/>
            <a:ext cx="11030284" cy="551180"/>
          </a:xfrm>
          <a:prstGeom prst="rect">
            <a:avLst/>
          </a:prstGeom>
        </p:spPr>
        <p:txBody>
          <a:bodyPr vert="horz" wrap="square" lIns="0" tIns="12700" rIns="0" bIns="0" rtlCol="0">
            <a:spAutoFit/>
          </a:bodyPr>
          <a:lstStyle/>
          <a:p>
            <a:pPr marL="12700" algn="ctr">
              <a:lnSpc>
                <a:spcPct val="100000"/>
              </a:lnSpc>
              <a:spcBef>
                <a:spcPts val="100"/>
              </a:spcBef>
            </a:pPr>
            <a:r>
              <a:rPr lang="en-US" sz="3500" spc="-95">
                <a:latin typeface="Times New Roman" panose="02020603050405020304" pitchFamily="18" charset="0"/>
                <a:cs typeface="Times New Roman" panose="02020603050405020304" pitchFamily="18" charset="0"/>
              </a:rPr>
              <a:t>PREECLAMPSIA FEATURES</a:t>
            </a:r>
            <a:endParaRPr sz="3500" spc="-95">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graphicFrame>
        <p:nvGraphicFramePr>
          <p:cNvPr id="8" name="Table 7"/>
          <p:cNvGraphicFramePr>
            <a:graphicFrameLocks noGrp="1"/>
          </p:cNvGraphicFramePr>
          <p:nvPr>
            <p:custDataLst>
              <p:tags r:id="rId1"/>
            </p:custDataLst>
            <p:extLst>
              <p:ext uri="{D42A27DB-BD31-4B8C-83A1-F6EECF244321}">
                <p14:modId xmlns:p14="http://schemas.microsoft.com/office/powerpoint/2010/main" val="2046127250"/>
              </p:ext>
            </p:extLst>
          </p:nvPr>
        </p:nvGraphicFramePr>
        <p:xfrm>
          <a:off x="-1270" y="1925320"/>
          <a:ext cx="10696575" cy="5713612"/>
        </p:xfrm>
        <a:graphic>
          <a:graphicData uri="http://schemas.openxmlformats.org/drawingml/2006/table">
            <a:tbl>
              <a:tblPr firstRow="1" bandRow="1">
                <a:tableStyleId>{5C22544A-7EE6-4342-B048-85BDC9FD1C3A}</a:tableStyleId>
              </a:tblPr>
              <a:tblGrid>
                <a:gridCol w="3565525">
                  <a:extLst>
                    <a:ext uri="{9D8B030D-6E8A-4147-A177-3AD203B41FA5}">
                      <a16:colId xmlns:a16="http://schemas.microsoft.com/office/drawing/2014/main" val="20000"/>
                    </a:ext>
                  </a:extLst>
                </a:gridCol>
                <a:gridCol w="3565525">
                  <a:extLst>
                    <a:ext uri="{9D8B030D-6E8A-4147-A177-3AD203B41FA5}">
                      <a16:colId xmlns:a16="http://schemas.microsoft.com/office/drawing/2014/main" val="20001"/>
                    </a:ext>
                  </a:extLst>
                </a:gridCol>
                <a:gridCol w="3565525">
                  <a:extLst>
                    <a:ext uri="{9D8B030D-6E8A-4147-A177-3AD203B41FA5}">
                      <a16:colId xmlns:a16="http://schemas.microsoft.com/office/drawing/2014/main" val="20002"/>
                    </a:ext>
                  </a:extLst>
                </a:gridCol>
              </a:tblGrid>
              <a:tr h="1138582">
                <a:tc>
                  <a:txBody>
                    <a:bodyPr/>
                    <a:lstStyle/>
                    <a:p>
                      <a:endParaRPr lang="en-US"/>
                    </a:p>
                  </a:txBody>
                  <a:tcPr/>
                </a:tc>
                <a:tc>
                  <a:txBody>
                    <a:bodyPr/>
                    <a:lstStyle/>
                    <a:p>
                      <a:r>
                        <a:rPr lang="en-US" sz="2800"/>
                        <a:t>PROTEIN IN URIA</a:t>
                      </a:r>
                    </a:p>
                  </a:txBody>
                  <a:tcPr/>
                </a:tc>
                <a:tc>
                  <a:txBody>
                    <a:bodyPr/>
                    <a:lstStyle/>
                    <a:p>
                      <a:r>
                        <a:rPr lang="en-US" sz="2800"/>
                        <a:t>BLOOD PRESSURE</a:t>
                      </a:r>
                    </a:p>
                  </a:txBody>
                  <a:tcPr/>
                </a:tc>
                <a:extLst>
                  <a:ext uri="{0D108BD9-81ED-4DB2-BD59-A6C34878D82A}">
                    <a16:rowId xmlns:a16="http://schemas.microsoft.com/office/drawing/2014/main" val="10000"/>
                  </a:ext>
                </a:extLst>
              </a:tr>
              <a:tr h="1159284">
                <a:tc>
                  <a:txBody>
                    <a:bodyPr/>
                    <a:lstStyle/>
                    <a:p>
                      <a:r>
                        <a:rPr lang="en-US" sz="2800"/>
                        <a:t>LOW</a:t>
                      </a:r>
                    </a:p>
                  </a:txBody>
                  <a:tcPr/>
                </a:tc>
                <a:tc>
                  <a:txBody>
                    <a:bodyPr/>
                    <a:lstStyle/>
                    <a:p>
                      <a:r>
                        <a:rPr lang="en-US" sz="2800"/>
                        <a:t>NIL</a:t>
                      </a:r>
                    </a:p>
                    <a:p>
                      <a:endParaRPr lang="en-US" sz="2800"/>
                    </a:p>
                  </a:txBody>
                  <a:tcPr/>
                </a:tc>
                <a:tc>
                  <a:txBody>
                    <a:bodyPr/>
                    <a:lstStyle/>
                    <a:p>
                      <a:r>
                        <a:rPr lang="en-US" sz="2800"/>
                        <a:t>70-106</a:t>
                      </a:r>
                    </a:p>
                  </a:txBody>
                  <a:tcPr/>
                </a:tc>
                <a:extLst>
                  <a:ext uri="{0D108BD9-81ED-4DB2-BD59-A6C34878D82A}">
                    <a16:rowId xmlns:a16="http://schemas.microsoft.com/office/drawing/2014/main" val="10001"/>
                  </a:ext>
                </a:extLst>
              </a:tr>
              <a:tr h="1138582">
                <a:tc>
                  <a:txBody>
                    <a:bodyPr/>
                    <a:lstStyle/>
                    <a:p>
                      <a:r>
                        <a:rPr lang="en-US" sz="2800"/>
                        <a:t>MILD</a:t>
                      </a:r>
                    </a:p>
                  </a:txBody>
                  <a:tcPr/>
                </a:tc>
                <a:tc>
                  <a:txBody>
                    <a:bodyPr/>
                    <a:lstStyle/>
                    <a:p>
                      <a:r>
                        <a:rPr lang="en-US" sz="2800"/>
                        <a:t>1+</a:t>
                      </a:r>
                    </a:p>
                  </a:txBody>
                  <a:tcPr/>
                </a:tc>
                <a:tc>
                  <a:txBody>
                    <a:bodyPr/>
                    <a:lstStyle/>
                    <a:p>
                      <a:r>
                        <a:rPr lang="en-US" sz="2800"/>
                        <a:t>107-113</a:t>
                      </a:r>
                    </a:p>
                  </a:txBody>
                  <a:tcPr/>
                </a:tc>
                <a:extLst>
                  <a:ext uri="{0D108BD9-81ED-4DB2-BD59-A6C34878D82A}">
                    <a16:rowId xmlns:a16="http://schemas.microsoft.com/office/drawing/2014/main" val="10002"/>
                  </a:ext>
                </a:extLst>
              </a:tr>
              <a:tr h="1138582">
                <a:tc>
                  <a:txBody>
                    <a:bodyPr/>
                    <a:lstStyle/>
                    <a:p>
                      <a:r>
                        <a:rPr lang="en-US" sz="2800"/>
                        <a:t>MODERATE</a:t>
                      </a:r>
                    </a:p>
                  </a:txBody>
                  <a:tcPr/>
                </a:tc>
                <a:tc>
                  <a:txBody>
                    <a:bodyPr/>
                    <a:lstStyle/>
                    <a:p>
                      <a:r>
                        <a:rPr lang="en-US" sz="2800"/>
                        <a:t>2+ OR &gt;</a:t>
                      </a:r>
                    </a:p>
                  </a:txBody>
                  <a:tcPr/>
                </a:tc>
                <a:tc>
                  <a:txBody>
                    <a:bodyPr/>
                    <a:lstStyle/>
                    <a:p>
                      <a:r>
                        <a:rPr lang="en-US" sz="2800"/>
                        <a:t>114-129</a:t>
                      </a:r>
                    </a:p>
                  </a:txBody>
                  <a:tcPr/>
                </a:tc>
                <a:extLst>
                  <a:ext uri="{0D108BD9-81ED-4DB2-BD59-A6C34878D82A}">
                    <a16:rowId xmlns:a16="http://schemas.microsoft.com/office/drawing/2014/main" val="10003"/>
                  </a:ext>
                </a:extLst>
              </a:tr>
              <a:tr h="1138582">
                <a:tc>
                  <a:txBody>
                    <a:bodyPr/>
                    <a:lstStyle/>
                    <a:p>
                      <a:r>
                        <a:rPr lang="en-US" sz="2800"/>
                        <a:t>HIGH</a:t>
                      </a:r>
                    </a:p>
                  </a:txBody>
                  <a:tcPr/>
                </a:tc>
                <a:tc>
                  <a:txBody>
                    <a:bodyPr/>
                    <a:lstStyle/>
                    <a:p>
                      <a:r>
                        <a:rPr lang="en-US" sz="2800"/>
                        <a:t>2+ OR &gt;</a:t>
                      </a:r>
                    </a:p>
                  </a:txBody>
                  <a:tcPr/>
                </a:tc>
                <a:tc>
                  <a:txBody>
                    <a:bodyPr/>
                    <a:lstStyle/>
                    <a:p>
                      <a:r>
                        <a:rPr lang="en-US" sz="2800"/>
                        <a:t>130 OR &gt;</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628377"/>
          </a:xfrm>
          <a:prstGeom prst="rect">
            <a:avLst/>
          </a:prstGeom>
        </p:spPr>
        <p:txBody>
          <a:bodyPr vert="horz" wrap="square" lIns="0" tIns="12700" rIns="0" bIns="0" rtlCol="0" anchor="t">
            <a:spAutoFit/>
          </a:bodyPr>
          <a:lstStyle/>
          <a:p>
            <a:pPr marL="12700" algn="ctr">
              <a:spcBef>
                <a:spcPts val="100"/>
              </a:spcBef>
            </a:pPr>
            <a:r>
              <a:rPr lang="en-US" sz="4000" spc="-95">
                <a:latin typeface="Times New Roman"/>
                <a:cs typeface="Times New Roman"/>
              </a:rPr>
              <a:t>PREECLAMPSIA MODEL SELECTION</a:t>
            </a: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graphicFrame>
        <p:nvGraphicFramePr>
          <p:cNvPr id="9" name="Table 8"/>
          <p:cNvGraphicFramePr>
            <a:graphicFrameLocks noGrp="1"/>
          </p:cNvGraphicFramePr>
          <p:nvPr>
            <p:extLst>
              <p:ext uri="{D42A27DB-BD31-4B8C-83A1-F6EECF244321}">
                <p14:modId xmlns:p14="http://schemas.microsoft.com/office/powerpoint/2010/main" val="820618418"/>
              </p:ext>
            </p:extLst>
          </p:nvPr>
        </p:nvGraphicFramePr>
        <p:xfrm>
          <a:off x="0" y="1664778"/>
          <a:ext cx="10648276" cy="5941544"/>
        </p:xfrm>
        <a:graphic>
          <a:graphicData uri="http://schemas.openxmlformats.org/drawingml/2006/table">
            <a:tbl>
              <a:tblPr firstRow="1" bandRow="1">
                <a:tableStyleId>{5C22544A-7EE6-4342-B048-85BDC9FD1C3A}</a:tableStyleId>
              </a:tblPr>
              <a:tblGrid>
                <a:gridCol w="1328830">
                  <a:extLst>
                    <a:ext uri="{9D8B030D-6E8A-4147-A177-3AD203B41FA5}">
                      <a16:colId xmlns:a16="http://schemas.microsoft.com/office/drawing/2014/main" val="20000"/>
                    </a:ext>
                  </a:extLst>
                </a:gridCol>
                <a:gridCol w="1558504">
                  <a:extLst>
                    <a:ext uri="{9D8B030D-6E8A-4147-A177-3AD203B41FA5}">
                      <a16:colId xmlns:a16="http://schemas.microsoft.com/office/drawing/2014/main" val="20001"/>
                    </a:ext>
                  </a:extLst>
                </a:gridCol>
                <a:gridCol w="1105772">
                  <a:extLst>
                    <a:ext uri="{9D8B030D-6E8A-4147-A177-3AD203B41FA5}">
                      <a16:colId xmlns:a16="http://schemas.microsoft.com/office/drawing/2014/main" val="20002"/>
                    </a:ext>
                  </a:extLst>
                </a:gridCol>
                <a:gridCol w="1331034">
                  <a:extLst>
                    <a:ext uri="{9D8B030D-6E8A-4147-A177-3AD203B41FA5}">
                      <a16:colId xmlns:a16="http://schemas.microsoft.com/office/drawing/2014/main" val="20003"/>
                    </a:ext>
                  </a:extLst>
                </a:gridCol>
                <a:gridCol w="1331034">
                  <a:extLst>
                    <a:ext uri="{9D8B030D-6E8A-4147-A177-3AD203B41FA5}">
                      <a16:colId xmlns:a16="http://schemas.microsoft.com/office/drawing/2014/main" val="20004"/>
                    </a:ext>
                  </a:extLst>
                </a:gridCol>
                <a:gridCol w="1331034">
                  <a:extLst>
                    <a:ext uri="{9D8B030D-6E8A-4147-A177-3AD203B41FA5}">
                      <a16:colId xmlns:a16="http://schemas.microsoft.com/office/drawing/2014/main" val="20005"/>
                    </a:ext>
                  </a:extLst>
                </a:gridCol>
                <a:gridCol w="1331034">
                  <a:extLst>
                    <a:ext uri="{9D8B030D-6E8A-4147-A177-3AD203B41FA5}">
                      <a16:colId xmlns:a16="http://schemas.microsoft.com/office/drawing/2014/main" val="20006"/>
                    </a:ext>
                  </a:extLst>
                </a:gridCol>
                <a:gridCol w="1331034">
                  <a:extLst>
                    <a:ext uri="{9D8B030D-6E8A-4147-A177-3AD203B41FA5}">
                      <a16:colId xmlns:a16="http://schemas.microsoft.com/office/drawing/2014/main" val="20007"/>
                    </a:ext>
                  </a:extLst>
                </a:gridCol>
              </a:tblGrid>
              <a:tr h="1456262">
                <a:tc>
                  <a:txBody>
                    <a:bodyPr/>
                    <a:lstStyle/>
                    <a:p>
                      <a:r>
                        <a:rPr lang="en-US">
                          <a:latin typeface="Times New Roman"/>
                          <a:cs typeface="Times New Roman"/>
                        </a:rPr>
                        <a:t> Metrics</a:t>
                      </a:r>
                    </a:p>
                  </a:txBody>
                  <a:tcPr/>
                </a:tc>
                <a:tc>
                  <a:txBody>
                    <a:bodyPr/>
                    <a:lstStyle/>
                    <a:p>
                      <a:r>
                        <a:rPr lang="en-US">
                          <a:solidFill>
                            <a:srgbClr val="C00000"/>
                          </a:solidFill>
                          <a:latin typeface="Times New Roman"/>
                          <a:cs typeface="Times New Roman"/>
                        </a:rPr>
                        <a:t>Logistic Regression</a:t>
                      </a:r>
                    </a:p>
                  </a:txBody>
                  <a:tcPr/>
                </a:tc>
                <a:tc>
                  <a:txBody>
                    <a:bodyPr/>
                    <a:lstStyle/>
                    <a:p>
                      <a:r>
                        <a:rPr lang="en-US">
                          <a:latin typeface="Times New Roman"/>
                          <a:cs typeface="Times New Roman"/>
                        </a:rPr>
                        <a:t>K-Nearest Neighbour</a:t>
                      </a:r>
                    </a:p>
                  </a:txBody>
                  <a:tcPr/>
                </a:tc>
                <a:tc>
                  <a:txBody>
                    <a:bodyPr/>
                    <a:lstStyle/>
                    <a:p>
                      <a:r>
                        <a:rPr lang="en-US">
                          <a:latin typeface="Times New Roman"/>
                          <a:cs typeface="Times New Roman"/>
                        </a:rPr>
                        <a:t>Support Vector Machine</a:t>
                      </a:r>
                    </a:p>
                  </a:txBody>
                  <a:tcPr/>
                </a:tc>
                <a:tc>
                  <a:txBody>
                    <a:bodyPr/>
                    <a:lstStyle/>
                    <a:p>
                      <a:r>
                        <a:rPr lang="en-US">
                          <a:latin typeface="Times New Roman"/>
                          <a:cs typeface="Times New Roman"/>
                        </a:rPr>
                        <a:t>Decision Tree Classifier</a:t>
                      </a:r>
                    </a:p>
                  </a:txBody>
                  <a:tcPr/>
                </a:tc>
                <a:tc>
                  <a:txBody>
                    <a:bodyPr/>
                    <a:lstStyle/>
                    <a:p>
                      <a:r>
                        <a:rPr lang="en-US">
                          <a:latin typeface="Times New Roman"/>
                          <a:cs typeface="Times New Roman"/>
                        </a:rPr>
                        <a:t>Random Forest Classifier</a:t>
                      </a:r>
                    </a:p>
                  </a:txBody>
                  <a:tcPr/>
                </a:tc>
                <a:tc>
                  <a:txBody>
                    <a:bodyPr/>
                    <a:lstStyle/>
                    <a:p>
                      <a:r>
                        <a:rPr lang="en-US">
                          <a:latin typeface="Times New Roman"/>
                          <a:cs typeface="Times New Roman"/>
                        </a:rPr>
                        <a:t>Gradient Boosting Classifier</a:t>
                      </a:r>
                    </a:p>
                  </a:txBody>
                  <a:tcPr/>
                </a:tc>
                <a:tc>
                  <a:txBody>
                    <a:bodyPr/>
                    <a:lstStyle/>
                    <a:p>
                      <a:r>
                        <a:rPr lang="en-US">
                          <a:latin typeface="Times New Roman"/>
                          <a:cs typeface="Times New Roman"/>
                        </a:rPr>
                        <a:t>MLP Classifier</a:t>
                      </a:r>
                    </a:p>
                  </a:txBody>
                  <a:tcPr/>
                </a:tc>
                <a:extLst>
                  <a:ext uri="{0D108BD9-81ED-4DB2-BD59-A6C34878D82A}">
                    <a16:rowId xmlns:a16="http://schemas.microsoft.com/office/drawing/2014/main" val="10000"/>
                  </a:ext>
                </a:extLst>
              </a:tr>
              <a:tr h="601920">
                <a:tc>
                  <a:txBody>
                    <a:bodyPr/>
                    <a:lstStyle/>
                    <a:p>
                      <a:r>
                        <a:rPr lang="en-US">
                          <a:latin typeface="Times New Roman"/>
                          <a:cs typeface="Times New Roman"/>
                        </a:rPr>
                        <a:t>Precision</a:t>
                      </a:r>
                    </a:p>
                  </a:txBody>
                  <a:tcPr/>
                </a:tc>
                <a:tc>
                  <a:txBody>
                    <a:bodyPr/>
                    <a:lstStyle/>
                    <a:p>
                      <a:r>
                        <a:rPr lang="en-US">
                          <a:solidFill>
                            <a:srgbClr val="C00000"/>
                          </a:solidFill>
                          <a:latin typeface="Times New Roman"/>
                          <a:cs typeface="Times New Roman"/>
                        </a:rPr>
                        <a:t>0.9746</a:t>
                      </a:r>
                    </a:p>
                  </a:txBody>
                  <a:tcPr/>
                </a:tc>
                <a:tc>
                  <a:txBody>
                    <a:bodyPr/>
                    <a:lstStyle/>
                    <a:p>
                      <a:r>
                        <a:rPr lang="en-US">
                          <a:latin typeface="Times New Roman"/>
                          <a:cs typeface="Times New Roman"/>
                        </a:rPr>
                        <a:t>0.9569</a:t>
                      </a:r>
                    </a:p>
                  </a:txBody>
                  <a:tcPr/>
                </a:tc>
                <a:tc>
                  <a:txBody>
                    <a:bodyPr/>
                    <a:lstStyle/>
                    <a:p>
                      <a:r>
                        <a:rPr lang="en-US">
                          <a:latin typeface="Times New Roman"/>
                          <a:cs typeface="Times New Roman"/>
                        </a:rPr>
                        <a:t>0.9634</a:t>
                      </a:r>
                    </a:p>
                  </a:txBody>
                  <a:tcPr/>
                </a:tc>
                <a:tc>
                  <a:txBody>
                    <a:bodyPr/>
                    <a:lstStyle/>
                    <a:p>
                      <a:r>
                        <a:rPr lang="en-US">
                          <a:latin typeface="Times New Roman"/>
                          <a:cs typeface="Times New Roman"/>
                        </a:rPr>
                        <a:t>0.9305</a:t>
                      </a:r>
                    </a:p>
                  </a:txBody>
                  <a:tcPr/>
                </a:tc>
                <a:tc>
                  <a:txBody>
                    <a:bodyPr/>
                    <a:lstStyle/>
                    <a:p>
                      <a:r>
                        <a:rPr lang="en-US">
                          <a:latin typeface="Times New Roman"/>
                          <a:cs typeface="Times New Roman"/>
                        </a:rPr>
                        <a:t>0.9584</a:t>
                      </a:r>
                    </a:p>
                  </a:txBody>
                  <a:tcPr/>
                </a:tc>
                <a:tc>
                  <a:txBody>
                    <a:bodyPr/>
                    <a:lstStyle/>
                    <a:p>
                      <a:r>
                        <a:rPr lang="en-US">
                          <a:latin typeface="Times New Roman"/>
                          <a:cs typeface="Times New Roman"/>
                        </a:rPr>
                        <a:t>0.9545</a:t>
                      </a:r>
                    </a:p>
                  </a:txBody>
                  <a:tcPr/>
                </a:tc>
                <a:tc>
                  <a:txBody>
                    <a:bodyPr/>
                    <a:lstStyle/>
                    <a:p>
                      <a:r>
                        <a:rPr lang="en-US" b="0" i="0">
                          <a:solidFill>
                            <a:schemeClr val="dk1"/>
                          </a:solidFill>
                          <a:effectLst/>
                          <a:latin typeface="+mn-lt"/>
                          <a:ea typeface="+mn-ea"/>
                          <a:cs typeface="+mn-cs"/>
                        </a:rPr>
                        <a:t>0.9664</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601920">
                <a:tc>
                  <a:txBody>
                    <a:bodyPr/>
                    <a:lstStyle/>
                    <a:p>
                      <a:r>
                        <a:rPr lang="en-US">
                          <a:latin typeface="Times New Roman"/>
                          <a:cs typeface="Times New Roman"/>
                        </a:rPr>
                        <a:t>F1 Score</a:t>
                      </a:r>
                    </a:p>
                  </a:txBody>
                  <a:tcPr/>
                </a:tc>
                <a:tc>
                  <a:txBody>
                    <a:bodyPr/>
                    <a:lstStyle/>
                    <a:p>
                      <a:r>
                        <a:rPr lang="en-US">
                          <a:solidFill>
                            <a:srgbClr val="C00000"/>
                          </a:solidFill>
                          <a:latin typeface="Times New Roman"/>
                          <a:cs typeface="Times New Roman"/>
                        </a:rPr>
                        <a:t>0.9745</a:t>
                      </a:r>
                    </a:p>
                  </a:txBody>
                  <a:tcPr/>
                </a:tc>
                <a:tc>
                  <a:txBody>
                    <a:bodyPr/>
                    <a:lstStyle/>
                    <a:p>
                      <a:r>
                        <a:rPr lang="en-US">
                          <a:latin typeface="Times New Roman"/>
                          <a:cs typeface="Times New Roman"/>
                        </a:rPr>
                        <a:t>0.9567</a:t>
                      </a:r>
                    </a:p>
                  </a:txBody>
                  <a:tcPr/>
                </a:tc>
                <a:tc>
                  <a:txBody>
                    <a:bodyPr/>
                    <a:lstStyle/>
                    <a:p>
                      <a:r>
                        <a:rPr lang="en-US">
                          <a:latin typeface="Times New Roman"/>
                          <a:cs typeface="Times New Roman"/>
                        </a:rPr>
                        <a:t>0.9633</a:t>
                      </a:r>
                    </a:p>
                  </a:txBody>
                  <a:tcPr/>
                </a:tc>
                <a:tc>
                  <a:txBody>
                    <a:bodyPr/>
                    <a:lstStyle/>
                    <a:p>
                      <a:r>
                        <a:rPr lang="en-US">
                          <a:latin typeface="Times New Roman"/>
                          <a:cs typeface="Times New Roman"/>
                        </a:rPr>
                        <a:t>0.9305</a:t>
                      </a:r>
                    </a:p>
                  </a:txBody>
                  <a:tcPr/>
                </a:tc>
                <a:tc>
                  <a:txBody>
                    <a:bodyPr/>
                    <a:lstStyle/>
                    <a:p>
                      <a:r>
                        <a:rPr lang="en-US">
                          <a:latin typeface="Times New Roman"/>
                          <a:cs typeface="Times New Roman"/>
                        </a:rPr>
                        <a:t>0.9582</a:t>
                      </a:r>
                    </a:p>
                  </a:txBody>
                  <a:tcPr/>
                </a:tc>
                <a:tc>
                  <a:txBody>
                    <a:bodyPr/>
                    <a:lstStyle/>
                    <a:p>
                      <a:r>
                        <a:rPr lang="en-US">
                          <a:latin typeface="Times New Roman"/>
                          <a:cs typeface="Times New Roman"/>
                        </a:rPr>
                        <a:t>0.9548</a:t>
                      </a:r>
                    </a:p>
                  </a:txBody>
                  <a:tcPr/>
                </a:tc>
                <a:tc>
                  <a:txBody>
                    <a:bodyPr/>
                    <a:lstStyle/>
                    <a:p>
                      <a:r>
                        <a:rPr lang="en-US" b="0" i="0">
                          <a:solidFill>
                            <a:schemeClr val="dk1"/>
                          </a:solidFill>
                          <a:effectLst/>
                          <a:latin typeface="+mn-lt"/>
                          <a:ea typeface="+mn-ea"/>
                          <a:cs typeface="+mn-cs"/>
                        </a:rPr>
                        <a:t>0.9664</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601920">
                <a:tc>
                  <a:txBody>
                    <a:bodyPr/>
                    <a:lstStyle/>
                    <a:p>
                      <a:r>
                        <a:rPr lang="en-US">
                          <a:latin typeface="Times New Roman"/>
                          <a:cs typeface="Times New Roman"/>
                        </a:rPr>
                        <a:t>Recall</a:t>
                      </a:r>
                    </a:p>
                  </a:txBody>
                  <a:tcPr/>
                </a:tc>
                <a:tc>
                  <a:txBody>
                    <a:bodyPr/>
                    <a:lstStyle/>
                    <a:p>
                      <a:r>
                        <a:rPr lang="en-US">
                          <a:solidFill>
                            <a:srgbClr val="C00000"/>
                          </a:solidFill>
                          <a:latin typeface="Times New Roman"/>
                          <a:cs typeface="Times New Roman"/>
                        </a:rPr>
                        <a:t>0.9745</a:t>
                      </a:r>
                    </a:p>
                  </a:txBody>
                  <a:tcPr/>
                </a:tc>
                <a:tc>
                  <a:txBody>
                    <a:bodyPr/>
                    <a:lstStyle/>
                    <a:p>
                      <a:r>
                        <a:rPr lang="en-US">
                          <a:latin typeface="Times New Roman"/>
                          <a:cs typeface="Times New Roman"/>
                        </a:rPr>
                        <a:t>0.9568</a:t>
                      </a:r>
                    </a:p>
                  </a:txBody>
                  <a:tcPr/>
                </a:tc>
                <a:tc>
                  <a:txBody>
                    <a:bodyPr/>
                    <a:lstStyle/>
                    <a:p>
                      <a:r>
                        <a:rPr lang="en-US">
                          <a:latin typeface="Times New Roman"/>
                          <a:cs typeface="Times New Roman"/>
                        </a:rPr>
                        <a:t>0.9634</a:t>
                      </a:r>
                    </a:p>
                  </a:txBody>
                  <a:tcPr/>
                </a:tc>
                <a:tc>
                  <a:txBody>
                    <a:bodyPr/>
                    <a:lstStyle/>
                    <a:p>
                      <a:r>
                        <a:rPr lang="en-US">
                          <a:latin typeface="Times New Roman"/>
                          <a:cs typeface="Times New Roman"/>
                        </a:rPr>
                        <a:t>0.9305</a:t>
                      </a:r>
                    </a:p>
                  </a:txBody>
                  <a:tcPr/>
                </a:tc>
                <a:tc>
                  <a:txBody>
                    <a:bodyPr/>
                    <a:lstStyle/>
                    <a:p>
                      <a:r>
                        <a:rPr lang="en-US">
                          <a:latin typeface="Times New Roman"/>
                          <a:cs typeface="Times New Roman"/>
                        </a:rPr>
                        <a:t>0.9535</a:t>
                      </a:r>
                    </a:p>
                  </a:txBody>
                  <a:tcPr/>
                </a:tc>
                <a:tc>
                  <a:txBody>
                    <a:bodyPr/>
                    <a:lstStyle/>
                    <a:p>
                      <a:r>
                        <a:rPr lang="en-US">
                          <a:latin typeface="Times New Roman"/>
                          <a:cs typeface="Times New Roman"/>
                        </a:rPr>
                        <a:t>0.9549</a:t>
                      </a:r>
                    </a:p>
                  </a:txBody>
                  <a:tcPr/>
                </a:tc>
                <a:tc>
                  <a:txBody>
                    <a:bodyPr/>
                    <a:lstStyle/>
                    <a:p>
                      <a:r>
                        <a:rPr lang="en-US" b="0" i="0">
                          <a:solidFill>
                            <a:schemeClr val="dk1"/>
                          </a:solidFill>
                          <a:effectLst/>
                          <a:latin typeface="+mn-lt"/>
                          <a:ea typeface="+mn-ea"/>
                          <a:cs typeface="+mn-cs"/>
                        </a:rPr>
                        <a:t>0.9666</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893174">
                <a:tc>
                  <a:txBody>
                    <a:bodyPr/>
                    <a:lstStyle/>
                    <a:p>
                      <a:r>
                        <a:rPr lang="en-US">
                          <a:latin typeface="Times New Roman"/>
                          <a:cs typeface="Times New Roman"/>
                        </a:rPr>
                        <a:t>Training Accuracy</a:t>
                      </a:r>
                    </a:p>
                  </a:txBody>
                  <a:tcPr/>
                </a:tc>
                <a:tc>
                  <a:txBody>
                    <a:bodyPr/>
                    <a:lstStyle/>
                    <a:p>
                      <a:r>
                        <a:rPr lang="en-US">
                          <a:solidFill>
                            <a:srgbClr val="C00000"/>
                          </a:solidFill>
                          <a:latin typeface="Times New Roman"/>
                          <a:cs typeface="Times New Roman"/>
                        </a:rPr>
                        <a:t>0.9700</a:t>
                      </a:r>
                    </a:p>
                  </a:txBody>
                  <a:tcPr/>
                </a:tc>
                <a:tc>
                  <a:txBody>
                    <a:bodyPr/>
                    <a:lstStyle/>
                    <a:p>
                      <a:r>
                        <a:rPr lang="en-US">
                          <a:latin typeface="Times New Roman"/>
                          <a:cs typeface="Times New Roman"/>
                        </a:rPr>
                        <a:t>0.9700</a:t>
                      </a:r>
                    </a:p>
                  </a:txBody>
                  <a:tcPr/>
                </a:tc>
                <a:tc>
                  <a:txBody>
                    <a:bodyPr/>
                    <a:lstStyle/>
                    <a:p>
                      <a:r>
                        <a:rPr lang="en-US">
                          <a:latin typeface="Times New Roman"/>
                          <a:cs typeface="Times New Roman"/>
                        </a:rPr>
                        <a:t>0.9690</a:t>
                      </a:r>
                    </a:p>
                  </a:txBody>
                  <a:tcPr/>
                </a:tc>
                <a:tc>
                  <a:txBody>
                    <a:bodyPr/>
                    <a:lstStyle/>
                    <a:p>
                      <a:r>
                        <a:rPr lang="en-US">
                          <a:latin typeface="Times New Roman"/>
                          <a:cs typeface="Times New Roman"/>
                        </a:rPr>
                        <a:t>1.0000</a:t>
                      </a: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a:latin typeface="Times New Roman"/>
                          <a:cs typeface="Times New Roman"/>
                        </a:rPr>
                        <a:t>1.0000</a:t>
                      </a:r>
                    </a:p>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a:cs typeface="Times New Roman"/>
                        </a:rPr>
                        <a:t>0.9600</a:t>
                      </a:r>
                    </a:p>
                  </a:txBody>
                  <a:tcPr/>
                </a:tc>
                <a:tc>
                  <a:txBody>
                    <a:bodyPr/>
                    <a:lstStyle/>
                    <a:p>
                      <a:r>
                        <a:rPr lang="en-US" b="0" i="0">
                          <a:solidFill>
                            <a:schemeClr val="dk1"/>
                          </a:solidFill>
                          <a:effectLst/>
                          <a:latin typeface="+mn-lt"/>
                          <a:ea typeface="+mn-ea"/>
                          <a:cs typeface="+mn-cs"/>
                        </a:rPr>
                        <a:t>0.9703</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893174">
                <a:tc>
                  <a:txBody>
                    <a:bodyPr/>
                    <a:lstStyle/>
                    <a:p>
                      <a:r>
                        <a:rPr lang="en-US">
                          <a:latin typeface="Times New Roman"/>
                          <a:cs typeface="Times New Roman"/>
                        </a:rPr>
                        <a:t>Test Accuracy</a:t>
                      </a:r>
                    </a:p>
                  </a:txBody>
                  <a:tcPr/>
                </a:tc>
                <a:tc>
                  <a:txBody>
                    <a:bodyPr/>
                    <a:lstStyle/>
                    <a:p>
                      <a:r>
                        <a:rPr lang="en-US">
                          <a:solidFill>
                            <a:srgbClr val="C00000"/>
                          </a:solidFill>
                          <a:latin typeface="Times New Roman"/>
                          <a:cs typeface="Times New Roman"/>
                        </a:rPr>
                        <a:t>0.9710</a:t>
                      </a:r>
                    </a:p>
                  </a:txBody>
                  <a:tcPr/>
                </a:tc>
                <a:tc>
                  <a:txBody>
                    <a:bodyPr/>
                    <a:lstStyle/>
                    <a:p>
                      <a:r>
                        <a:rPr lang="en-US"/>
                        <a:t>0.9650</a:t>
                      </a:r>
                      <a:endParaRPr lang="en-US">
                        <a:latin typeface="Times New Roman" panose="02020603050405020304" pitchFamily="18" charset="0"/>
                        <a:cs typeface="Times New Roman" panose="02020603050405020304" pitchFamily="18" charset="0"/>
                      </a:endParaRPr>
                    </a:p>
                  </a:txBody>
                  <a:tcPr/>
                </a:tc>
                <a:tc>
                  <a:txBody>
                    <a:bodyPr/>
                    <a:lstStyle/>
                    <a:p>
                      <a:r>
                        <a:rPr lang="en-US"/>
                        <a:t>0.9745</a:t>
                      </a:r>
                      <a:endParaRPr lang="en-US">
                        <a:latin typeface="Times New Roman" panose="02020603050405020304" pitchFamily="18" charset="0"/>
                        <a:cs typeface="Times New Roman" panose="02020603050405020304" pitchFamily="18" charset="0"/>
                      </a:endParaRPr>
                    </a:p>
                  </a:txBody>
                  <a:tcPr/>
                </a:tc>
                <a:tc>
                  <a:txBody>
                    <a:bodyPr/>
                    <a:lstStyle/>
                    <a:p>
                      <a:r>
                        <a:rPr lang="en-US"/>
                        <a:t>0.9680</a:t>
                      </a:r>
                      <a:endParaRPr lang="en-US">
                        <a:latin typeface="Times New Roman" panose="02020603050405020304" pitchFamily="18" charset="0"/>
                        <a:cs typeface="Times New Roman" panose="02020603050405020304" pitchFamily="18" charset="0"/>
                      </a:endParaRPr>
                    </a:p>
                  </a:txBody>
                  <a:tcPr/>
                </a:tc>
                <a:tc>
                  <a:txBody>
                    <a:bodyPr/>
                    <a:lstStyle/>
                    <a:p>
                      <a:r>
                        <a:rPr lang="en-US"/>
                        <a:t>0.9680</a:t>
                      </a:r>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a:cs typeface="Times New Roman"/>
                        </a:rPr>
                        <a:t>0.9645</a:t>
                      </a:r>
                    </a:p>
                  </a:txBody>
                  <a:tcPr/>
                </a:tc>
                <a:tc>
                  <a:txBody>
                    <a:bodyPr/>
                    <a:lstStyle/>
                    <a:p>
                      <a:r>
                        <a:rPr lang="en-US"/>
                        <a:t>0.9675</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893174">
                <a:tc>
                  <a:txBody>
                    <a:bodyPr/>
                    <a:lstStyle/>
                    <a:p>
                      <a:r>
                        <a:rPr lang="en-US">
                          <a:latin typeface="Times New Roman"/>
                          <a:cs typeface="Times New Roman"/>
                        </a:rPr>
                        <a:t>Validation</a:t>
                      </a:r>
                    </a:p>
                    <a:p>
                      <a:r>
                        <a:rPr lang="en-US">
                          <a:latin typeface="Times New Roman"/>
                          <a:cs typeface="Times New Roman"/>
                        </a:rPr>
                        <a:t>Accuracy</a:t>
                      </a:r>
                    </a:p>
                  </a:txBody>
                  <a:tcPr/>
                </a:tc>
                <a:tc>
                  <a:txBody>
                    <a:bodyPr/>
                    <a:lstStyle/>
                    <a:p>
                      <a:r>
                        <a:rPr lang="en-US">
                          <a:solidFill>
                            <a:srgbClr val="C00000"/>
                          </a:solidFill>
                          <a:latin typeface="Times New Roman"/>
                          <a:cs typeface="Times New Roman"/>
                        </a:rPr>
                        <a:t>0.9724</a:t>
                      </a:r>
                    </a:p>
                  </a:txBody>
                  <a:tcPr/>
                </a:tc>
                <a:tc>
                  <a:txBody>
                    <a:bodyPr/>
                    <a:lstStyle/>
                    <a:p>
                      <a:r>
                        <a:rPr lang="en-US">
                          <a:latin typeface="Times New Roman"/>
                          <a:cs typeface="Times New Roman"/>
                        </a:rPr>
                        <a:t>0.9590</a:t>
                      </a:r>
                    </a:p>
                  </a:txBody>
                  <a:tcPr/>
                </a:tc>
                <a:tc>
                  <a:txBody>
                    <a:bodyPr/>
                    <a:lstStyle/>
                    <a:p>
                      <a:r>
                        <a:rPr lang="en-US">
                          <a:latin typeface="Times New Roman"/>
                          <a:cs typeface="Times New Roman"/>
                        </a:rPr>
                        <a:t>0.9635</a:t>
                      </a:r>
                    </a:p>
                  </a:txBody>
                  <a:tcPr/>
                </a:tc>
                <a:tc>
                  <a:txBody>
                    <a:bodyPr/>
                    <a:lstStyle/>
                    <a:p>
                      <a:r>
                        <a:rPr lang="en-US">
                          <a:latin typeface="Times New Roman"/>
                          <a:cs typeface="Times New Roman"/>
                        </a:rPr>
                        <a:t>0.9301</a:t>
                      </a:r>
                    </a:p>
                  </a:txBody>
                  <a:tcPr/>
                </a:tc>
                <a:tc>
                  <a:txBody>
                    <a:bodyPr/>
                    <a:lstStyle/>
                    <a:p>
                      <a:r>
                        <a:rPr lang="en-US">
                          <a:latin typeface="Times New Roman"/>
                          <a:cs typeface="Times New Roman"/>
                        </a:rPr>
                        <a:t>0.9585</a:t>
                      </a:r>
                    </a:p>
                  </a:txBody>
                  <a:tcPr/>
                </a:tc>
                <a:tc>
                  <a:txBody>
                    <a:bodyPr/>
                    <a:lstStyle/>
                    <a:p>
                      <a:r>
                        <a:rPr lang="en-US">
                          <a:latin typeface="Times New Roman"/>
                          <a:cs typeface="Times New Roman"/>
                        </a:rPr>
                        <a:t>0.9550</a:t>
                      </a:r>
                    </a:p>
                  </a:txBody>
                  <a:tcPr/>
                </a:tc>
                <a:tc>
                  <a:txBody>
                    <a:bodyPr/>
                    <a:lstStyle/>
                    <a:p>
                      <a:r>
                        <a:rPr lang="en-US" b="0" i="0">
                          <a:solidFill>
                            <a:schemeClr val="dk1"/>
                          </a:solidFill>
                          <a:effectLst/>
                          <a:latin typeface="+mn-lt"/>
                          <a:ea typeface="+mn-ea"/>
                          <a:cs typeface="+mn-cs"/>
                        </a:rPr>
                        <a:t>0.9665</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73387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a:latin typeface="Times New Roman" panose="02020603050405020304" pitchFamily="18" charset="0"/>
                <a:cs typeface="Times New Roman" panose="02020603050405020304" pitchFamily="18" charset="0"/>
              </a:rPr>
              <a:t>TIME TAKEN (S)</a:t>
            </a:r>
            <a:endParaRPr sz="4800" spc="-95">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graphicFrame>
        <p:nvGraphicFramePr>
          <p:cNvPr id="9" name="Table 8"/>
          <p:cNvGraphicFramePr>
            <a:graphicFrameLocks noGrp="1"/>
          </p:cNvGraphicFramePr>
          <p:nvPr>
            <p:extLst>
              <p:ext uri="{D42A27DB-BD31-4B8C-83A1-F6EECF244321}">
                <p14:modId xmlns:p14="http://schemas.microsoft.com/office/powerpoint/2010/main" val="2636474768"/>
              </p:ext>
            </p:extLst>
          </p:nvPr>
        </p:nvGraphicFramePr>
        <p:xfrm>
          <a:off x="0" y="1886748"/>
          <a:ext cx="10640608" cy="5637373"/>
        </p:xfrm>
        <a:graphic>
          <a:graphicData uri="http://schemas.openxmlformats.org/drawingml/2006/table">
            <a:tbl>
              <a:tblPr firstRow="1" bandRow="1">
                <a:tableStyleId>{5C22544A-7EE6-4342-B048-85BDC9FD1C3A}</a:tableStyleId>
              </a:tblPr>
              <a:tblGrid>
                <a:gridCol w="1330076">
                  <a:extLst>
                    <a:ext uri="{9D8B030D-6E8A-4147-A177-3AD203B41FA5}">
                      <a16:colId xmlns:a16="http://schemas.microsoft.com/office/drawing/2014/main" val="20000"/>
                    </a:ext>
                  </a:extLst>
                </a:gridCol>
                <a:gridCol w="1330076">
                  <a:extLst>
                    <a:ext uri="{9D8B030D-6E8A-4147-A177-3AD203B41FA5}">
                      <a16:colId xmlns:a16="http://schemas.microsoft.com/office/drawing/2014/main" val="20001"/>
                    </a:ext>
                  </a:extLst>
                </a:gridCol>
                <a:gridCol w="1330076">
                  <a:extLst>
                    <a:ext uri="{9D8B030D-6E8A-4147-A177-3AD203B41FA5}">
                      <a16:colId xmlns:a16="http://schemas.microsoft.com/office/drawing/2014/main" val="20002"/>
                    </a:ext>
                  </a:extLst>
                </a:gridCol>
                <a:gridCol w="1330076">
                  <a:extLst>
                    <a:ext uri="{9D8B030D-6E8A-4147-A177-3AD203B41FA5}">
                      <a16:colId xmlns:a16="http://schemas.microsoft.com/office/drawing/2014/main" val="20003"/>
                    </a:ext>
                  </a:extLst>
                </a:gridCol>
                <a:gridCol w="1330076">
                  <a:extLst>
                    <a:ext uri="{9D8B030D-6E8A-4147-A177-3AD203B41FA5}">
                      <a16:colId xmlns:a16="http://schemas.microsoft.com/office/drawing/2014/main" val="20004"/>
                    </a:ext>
                  </a:extLst>
                </a:gridCol>
                <a:gridCol w="1330076">
                  <a:extLst>
                    <a:ext uri="{9D8B030D-6E8A-4147-A177-3AD203B41FA5}">
                      <a16:colId xmlns:a16="http://schemas.microsoft.com/office/drawing/2014/main" val="20005"/>
                    </a:ext>
                  </a:extLst>
                </a:gridCol>
                <a:gridCol w="1330076">
                  <a:extLst>
                    <a:ext uri="{9D8B030D-6E8A-4147-A177-3AD203B41FA5}">
                      <a16:colId xmlns:a16="http://schemas.microsoft.com/office/drawing/2014/main" val="20006"/>
                    </a:ext>
                  </a:extLst>
                </a:gridCol>
                <a:gridCol w="1330076">
                  <a:extLst>
                    <a:ext uri="{9D8B030D-6E8A-4147-A177-3AD203B41FA5}">
                      <a16:colId xmlns:a16="http://schemas.microsoft.com/office/drawing/2014/main" val="20007"/>
                    </a:ext>
                  </a:extLst>
                </a:gridCol>
              </a:tblGrid>
              <a:tr h="2505501">
                <a:tc>
                  <a:txBody>
                    <a:bodyPr/>
                    <a:lstStyle/>
                    <a:p>
                      <a:r>
                        <a:rPr lang="en-US">
                          <a:latin typeface="Times New Roman" panose="02020603050405020304" pitchFamily="18" charset="0"/>
                          <a:cs typeface="Times New Roman" panose="02020603050405020304" pitchFamily="18" charset="0"/>
                        </a:rPr>
                        <a:t>Performance Metrics</a:t>
                      </a:r>
                    </a:p>
                  </a:txBody>
                  <a:tcPr/>
                </a:tc>
                <a:tc>
                  <a:txBody>
                    <a:bodyPr/>
                    <a:lstStyle/>
                    <a:p>
                      <a:r>
                        <a:rPr lang="en-US">
                          <a:solidFill>
                            <a:srgbClr val="C00000"/>
                          </a:solidFill>
                          <a:latin typeface="Times New Roman" panose="02020603050405020304" pitchFamily="18" charset="0"/>
                          <a:cs typeface="Times New Roman" panose="02020603050405020304" pitchFamily="18" charset="0"/>
                        </a:rPr>
                        <a:t>Logistic Regression</a:t>
                      </a:r>
                    </a:p>
                  </a:txBody>
                  <a:tcPr/>
                </a:tc>
                <a:tc>
                  <a:txBody>
                    <a:bodyPr/>
                    <a:lstStyle/>
                    <a:p>
                      <a:r>
                        <a:rPr lang="en-US">
                          <a:latin typeface="Times New Roman" panose="02020603050405020304" pitchFamily="18" charset="0"/>
                          <a:cs typeface="Times New Roman" panose="02020603050405020304" pitchFamily="18" charset="0"/>
                        </a:rPr>
                        <a:t>K-Nearest </a:t>
                      </a:r>
                      <a:r>
                        <a:rPr lang="en-US" err="1">
                          <a:latin typeface="Times New Roman" panose="02020603050405020304" pitchFamily="18" charset="0"/>
                          <a:cs typeface="Times New Roman" panose="02020603050405020304" pitchFamily="18" charset="0"/>
                        </a:rPr>
                        <a:t>Neighbour</a:t>
                      </a:r>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Support Vector Machine</a:t>
                      </a:r>
                    </a:p>
                  </a:txBody>
                  <a:tcPr/>
                </a:tc>
                <a:tc>
                  <a:txBody>
                    <a:bodyPr/>
                    <a:lstStyle/>
                    <a:p>
                      <a:r>
                        <a:rPr lang="en-US">
                          <a:latin typeface="Times New Roman" panose="02020603050405020304" pitchFamily="18" charset="0"/>
                          <a:cs typeface="Times New Roman" panose="02020603050405020304" pitchFamily="18" charset="0"/>
                        </a:rPr>
                        <a:t>Decision Tree Classifier</a:t>
                      </a:r>
                    </a:p>
                  </a:txBody>
                  <a:tcPr/>
                </a:tc>
                <a:tc>
                  <a:txBody>
                    <a:bodyPr/>
                    <a:lstStyle/>
                    <a:p>
                      <a:r>
                        <a:rPr lang="en-US">
                          <a:solidFill>
                            <a:schemeClr val="bg1"/>
                          </a:solidFill>
                          <a:latin typeface="Times New Roman" panose="02020603050405020304" pitchFamily="18" charset="0"/>
                          <a:cs typeface="Times New Roman" panose="02020603050405020304" pitchFamily="18" charset="0"/>
                        </a:rPr>
                        <a:t>Random Forest Classifier</a:t>
                      </a:r>
                    </a:p>
                  </a:txBody>
                  <a:tcPr/>
                </a:tc>
                <a:tc>
                  <a:txBody>
                    <a:bodyPr/>
                    <a:lstStyle/>
                    <a:p>
                      <a:r>
                        <a:rPr lang="en-US">
                          <a:latin typeface="Times New Roman" panose="02020603050405020304" pitchFamily="18" charset="0"/>
                          <a:cs typeface="Times New Roman" panose="02020603050405020304" pitchFamily="18" charset="0"/>
                        </a:rPr>
                        <a:t>Gradient Boosting Classifier</a:t>
                      </a:r>
                    </a:p>
                  </a:txBody>
                  <a:tcPr/>
                </a:tc>
                <a:tc>
                  <a:txBody>
                    <a:bodyPr/>
                    <a:lstStyle/>
                    <a:p>
                      <a:r>
                        <a:rPr lang="en-US">
                          <a:latin typeface="Times New Roman" panose="02020603050405020304" pitchFamily="18" charset="0"/>
                          <a:cs typeface="Times New Roman" panose="02020603050405020304" pitchFamily="18" charset="0"/>
                        </a:rPr>
                        <a:t>MLP Classifier</a:t>
                      </a:r>
                    </a:p>
                  </a:txBody>
                  <a:tcPr/>
                </a:tc>
                <a:extLst>
                  <a:ext uri="{0D108BD9-81ED-4DB2-BD59-A6C34878D82A}">
                    <a16:rowId xmlns:a16="http://schemas.microsoft.com/office/drawing/2014/main" val="10000"/>
                  </a:ext>
                </a:extLst>
              </a:tr>
              <a:tr h="1565936">
                <a:tc>
                  <a:txBody>
                    <a:bodyPr/>
                    <a:lstStyle/>
                    <a:p>
                      <a:r>
                        <a:rPr lang="en-US">
                          <a:latin typeface="Times New Roman" panose="02020603050405020304" pitchFamily="18" charset="0"/>
                          <a:cs typeface="Times New Roman" panose="02020603050405020304" pitchFamily="18" charset="0"/>
                        </a:rPr>
                        <a:t>Training Time</a:t>
                      </a:r>
                    </a:p>
                  </a:txBody>
                  <a:tcPr/>
                </a:tc>
                <a:tc>
                  <a:txBody>
                    <a:bodyPr/>
                    <a:lstStyle/>
                    <a:p>
                      <a:r>
                        <a:rPr lang="en-US">
                          <a:solidFill>
                            <a:srgbClr val="C00000"/>
                          </a:solidFill>
                          <a:latin typeface="Times New Roman" panose="02020603050405020304" pitchFamily="18" charset="0"/>
                          <a:cs typeface="Times New Roman" panose="02020603050405020304" pitchFamily="18" charset="0"/>
                        </a:rPr>
                        <a:t>5.1027</a:t>
                      </a:r>
                    </a:p>
                  </a:txBody>
                  <a:tcPr/>
                </a:tc>
                <a:tc>
                  <a:txBody>
                    <a:bodyPr/>
                    <a:lstStyle/>
                    <a:p>
                      <a:r>
                        <a:rPr lang="en-US">
                          <a:latin typeface="Times New Roman" panose="02020603050405020304" pitchFamily="18" charset="0"/>
                          <a:cs typeface="Times New Roman" panose="02020603050405020304" pitchFamily="18" charset="0"/>
                        </a:rPr>
                        <a:t>0.0180</a:t>
                      </a:r>
                    </a:p>
                  </a:txBody>
                  <a:tcPr/>
                </a:tc>
                <a:tc>
                  <a:txBody>
                    <a:bodyPr/>
                    <a:lstStyle/>
                    <a:p>
                      <a:r>
                        <a:rPr lang="en-US">
                          <a:latin typeface="Times New Roman" panose="02020603050405020304" pitchFamily="18" charset="0"/>
                          <a:cs typeface="Times New Roman" panose="02020603050405020304" pitchFamily="18" charset="0"/>
                        </a:rPr>
                        <a:t>0.3880</a:t>
                      </a:r>
                    </a:p>
                  </a:txBody>
                  <a:tcPr/>
                </a:tc>
                <a:tc>
                  <a:txBody>
                    <a:bodyPr/>
                    <a:lstStyle/>
                    <a:p>
                      <a:r>
                        <a:rPr lang="en-US">
                          <a:latin typeface="Times New Roman" panose="02020603050405020304" pitchFamily="18" charset="0"/>
                          <a:cs typeface="Times New Roman" panose="02020603050405020304" pitchFamily="18" charset="0"/>
                        </a:rPr>
                        <a:t>0.0598</a:t>
                      </a:r>
                    </a:p>
                  </a:txBody>
                  <a:tcPr/>
                </a:tc>
                <a:tc>
                  <a:txBody>
                    <a:bodyPr/>
                    <a:lstStyle/>
                    <a:p>
                      <a:r>
                        <a:rPr lang="en-US">
                          <a:solidFill>
                            <a:schemeClr val="tx1"/>
                          </a:solidFill>
                          <a:latin typeface="Times New Roman" panose="02020603050405020304" pitchFamily="18" charset="0"/>
                          <a:cs typeface="Times New Roman" panose="02020603050405020304" pitchFamily="18" charset="0"/>
                        </a:rPr>
                        <a:t>1.4372</a:t>
                      </a:r>
                    </a:p>
                  </a:txBody>
                  <a:tcPr/>
                </a:tc>
                <a:tc>
                  <a:txBody>
                    <a:bodyPr/>
                    <a:lstStyle/>
                    <a:p>
                      <a:r>
                        <a:rPr lang="en-US">
                          <a:latin typeface="Times New Roman" panose="02020603050405020304" pitchFamily="18" charset="0"/>
                          <a:cs typeface="Times New Roman" panose="02020603050405020304" pitchFamily="18" charset="0"/>
                        </a:rPr>
                        <a:t>7.0223</a:t>
                      </a:r>
                    </a:p>
                  </a:txBody>
                  <a:tcPr/>
                </a:tc>
                <a:tc>
                  <a:txBody>
                    <a:bodyPr/>
                    <a:lstStyle/>
                    <a:p>
                      <a:r>
                        <a:rPr lang="en-US">
                          <a:latin typeface="Times New Roman" panose="02020603050405020304" pitchFamily="18" charset="0"/>
                          <a:cs typeface="Times New Roman" panose="02020603050405020304" pitchFamily="18" charset="0"/>
                        </a:rPr>
                        <a:t>12.8828</a:t>
                      </a:r>
                    </a:p>
                  </a:txBody>
                  <a:tcPr/>
                </a:tc>
                <a:extLst>
                  <a:ext uri="{0D108BD9-81ED-4DB2-BD59-A6C34878D82A}">
                    <a16:rowId xmlns:a16="http://schemas.microsoft.com/office/drawing/2014/main" val="10001"/>
                  </a:ext>
                </a:extLst>
              </a:tr>
              <a:tr h="1565936">
                <a:tc>
                  <a:txBody>
                    <a:bodyPr/>
                    <a:lstStyle/>
                    <a:p>
                      <a:r>
                        <a:rPr lang="en-US">
                          <a:latin typeface="Times New Roman" panose="02020603050405020304" pitchFamily="18" charset="0"/>
                          <a:cs typeface="Times New Roman" panose="02020603050405020304" pitchFamily="18" charset="0"/>
                        </a:rPr>
                        <a:t>Prediction Time</a:t>
                      </a:r>
                    </a:p>
                  </a:txBody>
                  <a:tcPr/>
                </a:tc>
                <a:tc>
                  <a:txBody>
                    <a:bodyPr/>
                    <a:lstStyle/>
                    <a:p>
                      <a:r>
                        <a:rPr lang="en-US">
                          <a:solidFill>
                            <a:srgbClr val="C00000"/>
                          </a:solidFill>
                          <a:latin typeface="Times New Roman" panose="02020603050405020304" pitchFamily="18" charset="0"/>
                          <a:cs typeface="Times New Roman" panose="02020603050405020304" pitchFamily="18" charset="0"/>
                        </a:rPr>
                        <a:t>0.0005</a:t>
                      </a:r>
                    </a:p>
                  </a:txBody>
                  <a:tcPr/>
                </a:tc>
                <a:tc>
                  <a:txBody>
                    <a:bodyPr/>
                    <a:lstStyle/>
                    <a:p>
                      <a:r>
                        <a:rPr lang="en-US">
                          <a:latin typeface="Times New Roman" panose="02020603050405020304" pitchFamily="18" charset="0"/>
                          <a:cs typeface="Times New Roman" panose="02020603050405020304" pitchFamily="18" charset="0"/>
                        </a:rPr>
                        <a:t>0.0004</a:t>
                      </a:r>
                    </a:p>
                  </a:txBody>
                  <a:tcPr/>
                </a:tc>
                <a:tc>
                  <a:txBody>
                    <a:bodyPr/>
                    <a:lstStyle/>
                    <a:p>
                      <a:r>
                        <a:rPr lang="en-US">
                          <a:latin typeface="Times New Roman" panose="02020603050405020304" pitchFamily="18" charset="0"/>
                          <a:cs typeface="Times New Roman" panose="02020603050405020304" pitchFamily="18" charset="0"/>
                        </a:rPr>
                        <a:t>0.4300</a:t>
                      </a:r>
                    </a:p>
                  </a:txBody>
                  <a:tcPr/>
                </a:tc>
                <a:tc>
                  <a:txBody>
                    <a:bodyPr/>
                    <a:lstStyle/>
                    <a:p>
                      <a:r>
                        <a:rPr lang="en-US">
                          <a:latin typeface="Times New Roman" panose="02020603050405020304" pitchFamily="18" charset="0"/>
                          <a:cs typeface="Times New Roman" panose="02020603050405020304" pitchFamily="18" charset="0"/>
                        </a:rPr>
                        <a:t>0.0010</a:t>
                      </a:r>
                    </a:p>
                  </a:txBody>
                  <a:tcPr/>
                </a:tc>
                <a:tc>
                  <a:txBody>
                    <a:bodyPr/>
                    <a:lstStyle/>
                    <a:p>
                      <a:r>
                        <a:rPr lang="en-US">
                          <a:solidFill>
                            <a:schemeClr val="tx1"/>
                          </a:solidFill>
                          <a:latin typeface="Times New Roman" panose="02020603050405020304" pitchFamily="18" charset="0"/>
                          <a:cs typeface="Times New Roman" panose="02020603050405020304" pitchFamily="18" charset="0"/>
                        </a:rPr>
                        <a:t>0.0249</a:t>
                      </a:r>
                    </a:p>
                  </a:txBody>
                  <a:tcPr/>
                </a:tc>
                <a:tc>
                  <a:txBody>
                    <a:bodyPr/>
                    <a:lstStyle/>
                    <a:p>
                      <a:r>
                        <a:rPr lang="en-US">
                          <a:latin typeface="Times New Roman" panose="02020603050405020304" pitchFamily="18" charset="0"/>
                          <a:cs typeface="Times New Roman" panose="02020603050405020304" pitchFamily="18" charset="0"/>
                        </a:rPr>
                        <a:t>0.0300</a:t>
                      </a:r>
                    </a:p>
                  </a:txBody>
                  <a:tcPr/>
                </a:tc>
                <a:tc>
                  <a:txBody>
                    <a:bodyPr/>
                    <a:lstStyle/>
                    <a:p>
                      <a:r>
                        <a:rPr lang="en-US">
                          <a:latin typeface="Times New Roman" panose="02020603050405020304" pitchFamily="18" charset="0"/>
                          <a:cs typeface="Times New Roman" panose="02020603050405020304" pitchFamily="18" charset="0"/>
                        </a:rPr>
                        <a:t>0.0050</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60420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8FFBD-C62A-258B-83E5-16CABC92456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3DAE28-3537-6139-70F6-96E339118DBA}"/>
              </a:ext>
            </a:extLst>
          </p:cNvPr>
          <p:cNvSpPr txBox="1">
            <a:spLocks noGrp="1"/>
          </p:cNvSpPr>
          <p:nvPr>
            <p:ph type="title"/>
          </p:nvPr>
        </p:nvSpPr>
        <p:spPr>
          <a:xfrm>
            <a:off x="0" y="1052190"/>
            <a:ext cx="11030284" cy="751488"/>
          </a:xfrm>
          <a:prstGeom prst="rect">
            <a:avLst/>
          </a:prstGeom>
        </p:spPr>
        <p:txBody>
          <a:bodyPr vert="horz" wrap="square" lIns="0" tIns="12700" rIns="0" bIns="0" rtlCol="0" anchor="t">
            <a:spAutoFit/>
          </a:bodyPr>
          <a:lstStyle/>
          <a:p>
            <a:pPr marL="12700" algn="ctr">
              <a:spcBef>
                <a:spcPts val="100"/>
              </a:spcBef>
            </a:pPr>
            <a:r>
              <a:rPr lang="en-US" sz="4800" spc="-95">
                <a:latin typeface="Times New Roman"/>
                <a:cs typeface="Times New Roman"/>
              </a:rPr>
              <a:t>PREECLAMPSIA TESTING RESULTS</a:t>
            </a:r>
            <a:endParaRPr lang="en-US" sz="48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F26460B0-8BD5-67FE-9711-4E9B7B65E96E}"/>
              </a:ext>
            </a:extLst>
          </p:cNvPr>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
        <p:nvSpPr>
          <p:cNvPr id="3" name="TextBox 2">
            <a:extLst>
              <a:ext uri="{FF2B5EF4-FFF2-40B4-BE49-F238E27FC236}">
                <a16:creationId xmlns:a16="http://schemas.microsoft.com/office/drawing/2014/main" id="{DDEABC60-0625-D6C2-E1A5-5F80DA4438CD}"/>
              </a:ext>
            </a:extLst>
          </p:cNvPr>
          <p:cNvSpPr txBox="1"/>
          <p:nvPr/>
        </p:nvSpPr>
        <p:spPr>
          <a:xfrm>
            <a:off x="236184" y="3779827"/>
            <a:ext cx="10232806"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dirty="0">
                <a:ea typeface="Calibri"/>
                <a:cs typeface="Calibri"/>
              </a:rPr>
              <a:t>WE WILL INSERT TWO SCREENSHOTS HERE BEFORE FRIDAY</a:t>
            </a:r>
            <a:endParaRPr lang="en-US" sz="4400" dirty="0"/>
          </a:p>
        </p:txBody>
      </p:sp>
    </p:spTree>
    <p:extLst>
      <p:ext uri="{BB962C8B-B14F-4D97-AF65-F5344CB8AC3E}">
        <p14:creationId xmlns:p14="http://schemas.microsoft.com/office/powerpoint/2010/main" val="3304542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p:cNvSpPr txBox="1"/>
          <p:nvPr/>
        </p:nvSpPr>
        <p:spPr>
          <a:xfrm>
            <a:off x="0" y="1974850"/>
            <a:ext cx="10693400" cy="5223510"/>
          </a:xfrm>
          <a:prstGeom prst="rect">
            <a:avLst/>
          </a:prstGeom>
        </p:spPr>
        <p:txBody>
          <a:bodyPr vert="horz" wrap="square" lIns="0" tIns="216535" rIns="0" bIns="0" rtlCol="0" anchor="t">
            <a:no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endParaRPr lang="en-US" sz="5000" b="1">
              <a:latin typeface="Times New Roman" panose="02020603050405020304" pitchFamily="18" charset="0"/>
              <a:cs typeface="Times New Roman" panose="02020603050405020304" pitchFamily="18" charset="0"/>
            </a:endParaRPr>
          </a:p>
          <a:p>
            <a:pPr indent="0" algn="ctr">
              <a:buFont typeface="Wingdings,Sans-Serif" panose="05000000000000000000" pitchFamily="2" charset="2"/>
              <a:buNone/>
              <a:tabLst>
                <a:tab pos="469265" algn="l"/>
                <a:tab pos="469900" algn="l"/>
              </a:tabLst>
            </a:pPr>
            <a:r>
              <a:rPr lang="en-US" sz="5000" b="1" spc="-95">
                <a:latin typeface="Times New Roman" panose="02020603050405020304" pitchFamily="18" charset="0"/>
                <a:cs typeface="Times New Roman" panose="02020603050405020304" pitchFamily="18" charset="0"/>
                <a:sym typeface="+mn-ea"/>
              </a:rPr>
              <a:t>MOBILE APP PROGRESS</a:t>
            </a:r>
            <a:endParaRPr lang="en-US" sz="5000" b="1" spc="-95">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p:cNvSpPr txBox="1"/>
          <p:nvPr/>
        </p:nvSpPr>
        <p:spPr>
          <a:xfrm>
            <a:off x="0" y="1974850"/>
            <a:ext cx="10693400" cy="5223510"/>
          </a:xfrm>
          <a:prstGeom prst="rect">
            <a:avLst/>
          </a:prstGeom>
        </p:spPr>
        <p:txBody>
          <a:bodyPr vert="horz" wrap="square" lIns="0" tIns="216535" rIns="0" bIns="0" rtlCol="0" anchor="t">
            <a:no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endParaRPr lang="en-US" sz="5000" b="1">
              <a:latin typeface="Times New Roman" panose="02020603050405020304" pitchFamily="18" charset="0"/>
              <a:cs typeface="Times New Roman" panose="02020603050405020304" pitchFamily="18" charset="0"/>
            </a:endParaRPr>
          </a:p>
          <a:p>
            <a:pPr indent="0" algn="ctr">
              <a:buFont typeface="Wingdings,Sans-Serif" panose="05000000000000000000" pitchFamily="2" charset="2"/>
              <a:buNone/>
              <a:tabLst>
                <a:tab pos="469265" algn="l"/>
                <a:tab pos="469900" algn="l"/>
              </a:tabLst>
            </a:pPr>
            <a:endParaRPr lang="en-US" sz="5000" b="1" spc="-95">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2" name="Picture 1" descr="AgileMethodology"/>
          <p:cNvPicPr>
            <a:picLocks noChangeAspect="1"/>
          </p:cNvPicPr>
          <p:nvPr/>
        </p:nvPicPr>
        <p:blipFill>
          <a:blip r:embed="rId2"/>
          <a:stretch>
            <a:fillRect/>
          </a:stretch>
        </p:blipFill>
        <p:spPr>
          <a:xfrm>
            <a:off x="635" y="1360805"/>
            <a:ext cx="10692765" cy="6202680"/>
          </a:xfrm>
          <a:prstGeom prst="rect">
            <a:avLst/>
          </a:prstGeom>
        </p:spPr>
      </p:pic>
      <p:sp>
        <p:nvSpPr>
          <p:cNvPr id="3" name="Text Box 2"/>
          <p:cNvSpPr txBox="1"/>
          <p:nvPr/>
        </p:nvSpPr>
        <p:spPr>
          <a:xfrm>
            <a:off x="239395" y="516255"/>
            <a:ext cx="10418445" cy="740410"/>
          </a:xfrm>
          <a:prstGeom prst="rect">
            <a:avLst/>
          </a:prstGeom>
          <a:noFill/>
        </p:spPr>
        <p:txBody>
          <a:bodyPr wrap="square" rtlCol="0">
            <a:noAutofit/>
          </a:bodyPr>
          <a:lstStyle/>
          <a:p>
            <a:pPr algn="ctr"/>
            <a:r>
              <a:rPr lang="en-US"/>
              <a:t>         </a:t>
            </a:r>
            <a:r>
              <a:rPr lang="en-US">
                <a:solidFill>
                  <a:schemeClr val="bg1"/>
                </a:solidFill>
              </a:rPr>
              <a:t> </a:t>
            </a:r>
            <a:r>
              <a:rPr lang="en-US" sz="4000" b="1">
                <a:solidFill>
                  <a:schemeClr val="bg1"/>
                </a:solidFill>
                <a:latin typeface="Times New Roman" panose="02020603050405020304" pitchFamily="18" charset="0"/>
                <a:cs typeface="Times New Roman" panose="02020603050405020304" pitchFamily="18" charset="0"/>
              </a:rPr>
              <a:t>AGILE METHODOLOGY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CBDAC-998A-7FA1-3E21-4868636C0F14}"/>
            </a:ext>
          </a:extLst>
        </p:cNvPr>
        <p:cNvGrpSpPr/>
        <p:nvPr/>
      </p:nvGrpSpPr>
      <p:grpSpPr>
        <a:xfrm>
          <a:off x="0" y="0"/>
          <a:ext cx="0" cy="0"/>
          <a:chOff x="0" y="0"/>
          <a:chExt cx="0" cy="0"/>
        </a:xfrm>
      </p:grpSpPr>
      <p:sp>
        <p:nvSpPr>
          <p:cNvPr id="7" name="object 3">
            <a:extLst>
              <a:ext uri="{FF2B5EF4-FFF2-40B4-BE49-F238E27FC236}">
                <a16:creationId xmlns:a16="http://schemas.microsoft.com/office/drawing/2014/main" id="{1E188E04-A914-6D51-4753-92880D915165}"/>
              </a:ext>
            </a:extLst>
          </p:cNvPr>
          <p:cNvSpPr txBox="1"/>
          <p:nvPr/>
        </p:nvSpPr>
        <p:spPr>
          <a:xfrm>
            <a:off x="0" y="1974850"/>
            <a:ext cx="10693400" cy="5223510"/>
          </a:xfrm>
          <a:prstGeom prst="rect">
            <a:avLst/>
          </a:prstGeom>
        </p:spPr>
        <p:txBody>
          <a:bodyPr vert="horz" wrap="square" lIns="0" tIns="216535" rIns="0" bIns="0" rtlCol="0" anchor="t">
            <a:no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endParaRPr lang="en-US" sz="5000" b="1">
              <a:latin typeface="Times New Roman" panose="02020603050405020304" pitchFamily="18" charset="0"/>
              <a:cs typeface="Times New Roman" panose="02020603050405020304" pitchFamily="18" charset="0"/>
            </a:endParaRPr>
          </a:p>
          <a:p>
            <a:pPr indent="0" algn="ctr">
              <a:buFont typeface="Wingdings,Sans-Serif" panose="05000000000000000000" pitchFamily="2" charset="2"/>
              <a:buNone/>
              <a:tabLst>
                <a:tab pos="469265" algn="l"/>
                <a:tab pos="469900" algn="l"/>
              </a:tabLst>
            </a:pPr>
            <a:endParaRPr lang="en-US" sz="5000" b="1" spc="-95">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
        <p:nvSpPr>
          <p:cNvPr id="3" name="Text Box 2">
            <a:extLst>
              <a:ext uri="{FF2B5EF4-FFF2-40B4-BE49-F238E27FC236}">
                <a16:creationId xmlns:a16="http://schemas.microsoft.com/office/drawing/2014/main" id="{99DFD8C5-3FB3-1876-7BDA-CBB3D448BC94}"/>
              </a:ext>
            </a:extLst>
          </p:cNvPr>
          <p:cNvSpPr txBox="1"/>
          <p:nvPr/>
        </p:nvSpPr>
        <p:spPr>
          <a:xfrm>
            <a:off x="271126" y="405270"/>
            <a:ext cx="10418445" cy="740410"/>
          </a:xfrm>
          <a:prstGeom prst="rect">
            <a:avLst/>
          </a:prstGeom>
          <a:noFill/>
        </p:spPr>
        <p:txBody>
          <a:bodyPr wrap="square" lIns="91440" tIns="45720" rIns="91440" bIns="45720" rtlCol="0" anchor="t">
            <a:noAutofit/>
          </a:bodyPr>
          <a:lstStyle/>
          <a:p>
            <a:r>
              <a:rPr lang="en-US" sz="3500" b="1">
                <a:solidFill>
                  <a:schemeClr val="bg1"/>
                </a:solidFill>
                <a:latin typeface="Times New Roman"/>
                <a:cs typeface="Times New Roman"/>
              </a:rPr>
              <a:t>USE CASE DIAGRAM OF PREGNANT WOMAN</a:t>
            </a:r>
            <a:endParaRPr lang="en-US" sz="3500" b="1">
              <a:solidFill>
                <a:schemeClr val="bg1"/>
              </a:solidFill>
              <a:latin typeface="Times New Roman" panose="02020603050405020304" pitchFamily="18" charset="0"/>
              <a:cs typeface="Times New Roman" panose="02020603050405020304" pitchFamily="18" charset="0"/>
            </a:endParaRPr>
          </a:p>
        </p:txBody>
      </p:sp>
      <p:pic>
        <p:nvPicPr>
          <p:cNvPr id="5" name="Picture 4" descr="A diagram of a person with text&#10;&#10;AI-generated content may be incorrect.">
            <a:extLst>
              <a:ext uri="{FF2B5EF4-FFF2-40B4-BE49-F238E27FC236}">
                <a16:creationId xmlns:a16="http://schemas.microsoft.com/office/drawing/2014/main" id="{44152D2A-76C8-6050-818F-06D3E56FBE42}"/>
              </a:ext>
            </a:extLst>
          </p:cNvPr>
          <p:cNvPicPr>
            <a:picLocks noChangeAspect="1"/>
          </p:cNvPicPr>
          <p:nvPr/>
        </p:nvPicPr>
        <p:blipFill>
          <a:blip r:embed="rId2"/>
          <a:stretch>
            <a:fillRect/>
          </a:stretch>
        </p:blipFill>
        <p:spPr>
          <a:xfrm>
            <a:off x="-6113" y="1016529"/>
            <a:ext cx="10706386" cy="6544514"/>
          </a:xfrm>
          <a:prstGeom prst="rect">
            <a:avLst/>
          </a:prstGeom>
        </p:spPr>
      </p:pic>
    </p:spTree>
    <p:extLst>
      <p:ext uri="{BB962C8B-B14F-4D97-AF65-F5344CB8AC3E}">
        <p14:creationId xmlns:p14="http://schemas.microsoft.com/office/powerpoint/2010/main" val="1399714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5480F-5BCF-5C10-1D17-2485036BFE2F}"/>
            </a:ext>
          </a:extLst>
        </p:cNvPr>
        <p:cNvGrpSpPr/>
        <p:nvPr/>
      </p:nvGrpSpPr>
      <p:grpSpPr>
        <a:xfrm>
          <a:off x="0" y="0"/>
          <a:ext cx="0" cy="0"/>
          <a:chOff x="0" y="0"/>
          <a:chExt cx="0" cy="0"/>
        </a:xfrm>
      </p:grpSpPr>
      <p:sp>
        <p:nvSpPr>
          <p:cNvPr id="7" name="object 3">
            <a:extLst>
              <a:ext uri="{FF2B5EF4-FFF2-40B4-BE49-F238E27FC236}">
                <a16:creationId xmlns:a16="http://schemas.microsoft.com/office/drawing/2014/main" id="{7415FA50-648B-FADC-6E38-36DFA5492B14}"/>
              </a:ext>
            </a:extLst>
          </p:cNvPr>
          <p:cNvSpPr txBox="1"/>
          <p:nvPr/>
        </p:nvSpPr>
        <p:spPr>
          <a:xfrm>
            <a:off x="0" y="1974850"/>
            <a:ext cx="10693400" cy="5223510"/>
          </a:xfrm>
          <a:prstGeom prst="rect">
            <a:avLst/>
          </a:prstGeom>
        </p:spPr>
        <p:txBody>
          <a:bodyPr vert="horz" wrap="square" lIns="0" tIns="216535" rIns="0" bIns="0" rtlCol="0" anchor="t">
            <a:no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endParaRPr lang="en-US" sz="5000" b="1">
              <a:latin typeface="Times New Roman" panose="02020603050405020304" pitchFamily="18" charset="0"/>
              <a:cs typeface="Times New Roman" panose="02020603050405020304" pitchFamily="18" charset="0"/>
            </a:endParaRPr>
          </a:p>
          <a:p>
            <a:pPr indent="0" algn="ctr">
              <a:buFont typeface="Wingdings,Sans-Serif" panose="05000000000000000000" pitchFamily="2" charset="2"/>
              <a:buNone/>
              <a:tabLst>
                <a:tab pos="469265" algn="l"/>
                <a:tab pos="469900" algn="l"/>
              </a:tabLst>
            </a:pPr>
            <a:endParaRPr lang="en-US" sz="5000" b="1" spc="-95">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
        <p:nvSpPr>
          <p:cNvPr id="3" name="Text Box 2">
            <a:extLst>
              <a:ext uri="{FF2B5EF4-FFF2-40B4-BE49-F238E27FC236}">
                <a16:creationId xmlns:a16="http://schemas.microsoft.com/office/drawing/2014/main" id="{2BA05A0C-4B87-6C3D-0B32-D48B09449369}"/>
              </a:ext>
            </a:extLst>
          </p:cNvPr>
          <p:cNvSpPr txBox="1"/>
          <p:nvPr/>
        </p:nvSpPr>
        <p:spPr>
          <a:xfrm>
            <a:off x="1412" y="389415"/>
            <a:ext cx="10688159" cy="486730"/>
          </a:xfrm>
          <a:prstGeom prst="rect">
            <a:avLst/>
          </a:prstGeom>
          <a:noFill/>
        </p:spPr>
        <p:txBody>
          <a:bodyPr wrap="square" lIns="91440" tIns="45720" rIns="91440" bIns="45720" rtlCol="0" anchor="t">
            <a:noAutofit/>
          </a:bodyPr>
          <a:lstStyle/>
          <a:p>
            <a:r>
              <a:rPr lang="en-US" sz="3500" b="1">
                <a:solidFill>
                  <a:schemeClr val="bg1"/>
                </a:solidFill>
                <a:latin typeface="Times New Roman"/>
                <a:cs typeface="Times New Roman"/>
              </a:rPr>
              <a:t> USE CASE DIAGRAM OF MEDICAL PERSONNEL</a:t>
            </a:r>
            <a:endParaRPr lang="en-US" sz="3500" b="1">
              <a:solidFill>
                <a:schemeClr val="bg1"/>
              </a:solidFill>
              <a:latin typeface="Times New Roman" panose="02020603050405020304" pitchFamily="18" charset="0"/>
              <a:cs typeface="Times New Roman" panose="02020603050405020304" pitchFamily="18" charset="0"/>
            </a:endParaRPr>
          </a:p>
        </p:txBody>
      </p:sp>
      <p:pic>
        <p:nvPicPr>
          <p:cNvPr id="2" name="Picture 1" descr="A diagram of a person&amp;#39;s profile&#10;&#10;AI-generated content may be incorrect.">
            <a:extLst>
              <a:ext uri="{FF2B5EF4-FFF2-40B4-BE49-F238E27FC236}">
                <a16:creationId xmlns:a16="http://schemas.microsoft.com/office/drawing/2014/main" id="{3C5B125D-8EC4-C668-7CE1-CF960CD22F5E}"/>
              </a:ext>
            </a:extLst>
          </p:cNvPr>
          <p:cNvPicPr>
            <a:picLocks noChangeAspect="1"/>
          </p:cNvPicPr>
          <p:nvPr/>
        </p:nvPicPr>
        <p:blipFill>
          <a:blip r:embed="rId2"/>
          <a:stretch>
            <a:fillRect/>
          </a:stretch>
        </p:blipFill>
        <p:spPr>
          <a:xfrm>
            <a:off x="6555" y="1111659"/>
            <a:ext cx="10681050" cy="6449384"/>
          </a:xfrm>
          <a:prstGeom prst="rect">
            <a:avLst/>
          </a:prstGeom>
        </p:spPr>
      </p:pic>
    </p:spTree>
    <p:extLst>
      <p:ext uri="{BB962C8B-B14F-4D97-AF65-F5344CB8AC3E}">
        <p14:creationId xmlns:p14="http://schemas.microsoft.com/office/powerpoint/2010/main" val="3104860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74896-CEA6-41D6-F741-D08DB2905665}"/>
            </a:ext>
          </a:extLst>
        </p:cNvPr>
        <p:cNvGrpSpPr/>
        <p:nvPr/>
      </p:nvGrpSpPr>
      <p:grpSpPr>
        <a:xfrm>
          <a:off x="0" y="0"/>
          <a:ext cx="0" cy="0"/>
          <a:chOff x="0" y="0"/>
          <a:chExt cx="0" cy="0"/>
        </a:xfrm>
      </p:grpSpPr>
      <p:sp>
        <p:nvSpPr>
          <p:cNvPr id="7" name="object 3">
            <a:extLst>
              <a:ext uri="{FF2B5EF4-FFF2-40B4-BE49-F238E27FC236}">
                <a16:creationId xmlns:a16="http://schemas.microsoft.com/office/drawing/2014/main" id="{56D7B1CB-5391-47E1-03BC-89D11C3CABD9}"/>
              </a:ext>
            </a:extLst>
          </p:cNvPr>
          <p:cNvSpPr txBox="1"/>
          <p:nvPr/>
        </p:nvSpPr>
        <p:spPr>
          <a:xfrm>
            <a:off x="0" y="1974850"/>
            <a:ext cx="10693400" cy="5223510"/>
          </a:xfrm>
          <a:prstGeom prst="rect">
            <a:avLst/>
          </a:prstGeom>
        </p:spPr>
        <p:txBody>
          <a:bodyPr vert="horz" wrap="square" lIns="0" tIns="216535" rIns="0" bIns="0" rtlCol="0" anchor="t">
            <a:no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endParaRPr lang="en-US" sz="5000" b="1">
              <a:latin typeface="Times New Roman" panose="02020603050405020304" pitchFamily="18" charset="0"/>
              <a:cs typeface="Times New Roman" panose="02020603050405020304" pitchFamily="18" charset="0"/>
            </a:endParaRPr>
          </a:p>
          <a:p>
            <a:pPr indent="0" algn="ctr">
              <a:buFont typeface="Wingdings,Sans-Serif" panose="05000000000000000000" pitchFamily="2" charset="2"/>
              <a:buNone/>
              <a:tabLst>
                <a:tab pos="469265" algn="l"/>
                <a:tab pos="469900" algn="l"/>
              </a:tabLst>
            </a:pPr>
            <a:endParaRPr lang="en-US" sz="5000" b="1" spc="-95">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
        <p:nvSpPr>
          <p:cNvPr id="3" name="Text Box 2">
            <a:extLst>
              <a:ext uri="{FF2B5EF4-FFF2-40B4-BE49-F238E27FC236}">
                <a16:creationId xmlns:a16="http://schemas.microsoft.com/office/drawing/2014/main" id="{274C46F1-0D56-B5D0-0314-73EDDF72EB23}"/>
              </a:ext>
            </a:extLst>
          </p:cNvPr>
          <p:cNvSpPr txBox="1"/>
          <p:nvPr/>
        </p:nvSpPr>
        <p:spPr>
          <a:xfrm>
            <a:off x="1412" y="405270"/>
            <a:ext cx="10688159" cy="740410"/>
          </a:xfrm>
          <a:prstGeom prst="rect">
            <a:avLst/>
          </a:prstGeom>
          <a:noFill/>
        </p:spPr>
        <p:txBody>
          <a:bodyPr wrap="square" lIns="91440" tIns="45720" rIns="91440" bIns="45720" rtlCol="0" anchor="t">
            <a:noAutofit/>
          </a:bodyPr>
          <a:lstStyle/>
          <a:p>
            <a:r>
              <a:rPr lang="en-US" sz="3500" b="1">
                <a:solidFill>
                  <a:schemeClr val="bg1"/>
                </a:solidFill>
                <a:latin typeface="Times New Roman"/>
                <a:cs typeface="Times New Roman"/>
              </a:rPr>
              <a:t>          USE CASE DIAGRAM OF SYSTEM ADMIN</a:t>
            </a:r>
            <a:endParaRPr lang="en-US" sz="3500" b="1">
              <a:solidFill>
                <a:schemeClr val="bg1"/>
              </a:solidFill>
              <a:latin typeface="Times New Roman" panose="02020603050405020304" pitchFamily="18" charset="0"/>
              <a:cs typeface="Times New Roman" panose="02020603050405020304" pitchFamily="18" charset="0"/>
            </a:endParaRPr>
          </a:p>
        </p:txBody>
      </p:sp>
      <p:pic>
        <p:nvPicPr>
          <p:cNvPr id="2" name="Picture 1" descr="A diagram of a system&#10;&#10;AI-generated content may be incorrect.">
            <a:extLst>
              <a:ext uri="{FF2B5EF4-FFF2-40B4-BE49-F238E27FC236}">
                <a16:creationId xmlns:a16="http://schemas.microsoft.com/office/drawing/2014/main" id="{2E6C34CF-F29F-6426-742E-D9739E22D5A6}"/>
              </a:ext>
            </a:extLst>
          </p:cNvPr>
          <p:cNvPicPr>
            <a:picLocks noChangeAspect="1"/>
          </p:cNvPicPr>
          <p:nvPr/>
        </p:nvPicPr>
        <p:blipFill>
          <a:blip r:embed="rId2"/>
          <a:stretch>
            <a:fillRect/>
          </a:stretch>
        </p:blipFill>
        <p:spPr>
          <a:xfrm>
            <a:off x="5587" y="1133895"/>
            <a:ext cx="10682987" cy="6436622"/>
          </a:xfrm>
          <a:prstGeom prst="rect">
            <a:avLst/>
          </a:prstGeom>
        </p:spPr>
      </p:pic>
    </p:spTree>
    <p:extLst>
      <p:ext uri="{BB962C8B-B14F-4D97-AF65-F5344CB8AC3E}">
        <p14:creationId xmlns:p14="http://schemas.microsoft.com/office/powerpoint/2010/main" val="3841377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585470"/>
            <a:ext cx="11030585" cy="652145"/>
          </a:xfrm>
          <a:prstGeom prst="rect">
            <a:avLst/>
          </a:prstGeom>
        </p:spPr>
        <p:txBody>
          <a:bodyPr vert="horz" wrap="square" lIns="0" tIns="12700" rIns="0" bIns="0" rtlCol="0">
            <a:noAutofit/>
          </a:bodyPr>
          <a:lstStyle/>
          <a:p>
            <a:pPr marL="12700" algn="ctr">
              <a:lnSpc>
                <a:spcPct val="100000"/>
              </a:lnSpc>
              <a:spcBef>
                <a:spcPts val="100"/>
              </a:spcBef>
            </a:pPr>
            <a:r>
              <a:rPr lang="en-US" altLang="en-US" sz="3500" spc="-95">
                <a:latin typeface="Times New Roman" panose="02020603050405020304" pitchFamily="18" charset="0"/>
                <a:cs typeface="Times New Roman" panose="02020603050405020304" pitchFamily="18" charset="0"/>
              </a:rPr>
              <a:t>QUANTITATIVE DATA GATHERING</a:t>
            </a:r>
            <a:br>
              <a:rPr lang="en-US" altLang="en-US" sz="3500" spc="-95">
                <a:latin typeface="Times New Roman" panose="02020603050405020304" pitchFamily="18" charset="0"/>
                <a:cs typeface="Times New Roman" panose="02020603050405020304" pitchFamily="18" charset="0"/>
              </a:rPr>
            </a:br>
            <a:endParaRPr lang="en-US" altLang="en-US" sz="3500" spc="-95">
              <a:latin typeface="Times New Roman" panose="02020603050405020304" pitchFamily="18" charset="0"/>
              <a:cs typeface="Times New Roman" panose="02020603050405020304" pitchFamily="18" charset="0"/>
            </a:endParaRPr>
          </a:p>
        </p:txBody>
      </p:sp>
      <p:sp>
        <p:nvSpPr>
          <p:cNvPr id="7" name="object 3"/>
          <p:cNvSpPr txBox="1"/>
          <p:nvPr/>
        </p:nvSpPr>
        <p:spPr>
          <a:xfrm>
            <a:off x="339725"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A blue and orange pie chart&#10;&#10;AI-generated content may be incorrect.">
            <a:extLst>
              <a:ext uri="{FF2B5EF4-FFF2-40B4-BE49-F238E27FC236}">
                <a16:creationId xmlns:a16="http://schemas.microsoft.com/office/drawing/2014/main" id="{D535DA24-EA31-0DC1-B64D-5BDF6467F4F6}"/>
              </a:ext>
            </a:extLst>
          </p:cNvPr>
          <p:cNvPicPr>
            <a:picLocks noChangeAspect="1"/>
          </p:cNvPicPr>
          <p:nvPr/>
        </p:nvPicPr>
        <p:blipFill>
          <a:blip r:embed="rId2"/>
          <a:stretch>
            <a:fillRect/>
          </a:stretch>
        </p:blipFill>
        <p:spPr>
          <a:xfrm>
            <a:off x="3597" y="1082046"/>
            <a:ext cx="5165744" cy="6476899"/>
          </a:xfrm>
          <a:prstGeom prst="rect">
            <a:avLst/>
          </a:prstGeom>
        </p:spPr>
      </p:pic>
      <p:pic>
        <p:nvPicPr>
          <p:cNvPr id="4" name="Picture 3" descr="A pie chart with text above&#10;&#10;AI-generated content may be incorrect.">
            <a:extLst>
              <a:ext uri="{FF2B5EF4-FFF2-40B4-BE49-F238E27FC236}">
                <a16:creationId xmlns:a16="http://schemas.microsoft.com/office/drawing/2014/main" id="{1186DA3A-BBFA-BB0F-6B15-8BCCFDEF371F}"/>
              </a:ext>
            </a:extLst>
          </p:cNvPr>
          <p:cNvPicPr>
            <a:picLocks noChangeAspect="1"/>
          </p:cNvPicPr>
          <p:nvPr/>
        </p:nvPicPr>
        <p:blipFill>
          <a:blip r:embed="rId3"/>
          <a:stretch>
            <a:fillRect/>
          </a:stretch>
        </p:blipFill>
        <p:spPr>
          <a:xfrm>
            <a:off x="5178853" y="1080240"/>
            <a:ext cx="5683153" cy="648051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9E3E6-27BB-3FA8-DBB6-8312BB5974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D64366-F260-1425-CFFE-C8843AEA142A}"/>
              </a:ext>
            </a:extLst>
          </p:cNvPr>
          <p:cNvSpPr txBox="1">
            <a:spLocks noGrp="1"/>
          </p:cNvSpPr>
          <p:nvPr>
            <p:ph type="title"/>
          </p:nvPr>
        </p:nvSpPr>
        <p:spPr>
          <a:xfrm>
            <a:off x="-168275" y="585470"/>
            <a:ext cx="11030585" cy="652145"/>
          </a:xfrm>
          <a:prstGeom prst="rect">
            <a:avLst/>
          </a:prstGeom>
        </p:spPr>
        <p:txBody>
          <a:bodyPr vert="horz" wrap="square" lIns="0" tIns="12700" rIns="0" bIns="0" rtlCol="0">
            <a:noAutofit/>
          </a:bodyPr>
          <a:lstStyle/>
          <a:p>
            <a:pPr marL="12700" algn="ctr">
              <a:lnSpc>
                <a:spcPct val="100000"/>
              </a:lnSpc>
              <a:spcBef>
                <a:spcPts val="100"/>
              </a:spcBef>
            </a:pPr>
            <a:r>
              <a:rPr lang="en-US" altLang="en-US" sz="3500" spc="-95">
                <a:latin typeface="Times New Roman" panose="02020603050405020304" pitchFamily="18" charset="0"/>
                <a:cs typeface="Times New Roman" panose="02020603050405020304" pitchFamily="18" charset="0"/>
              </a:rPr>
              <a:t>QUANTITATIVE DATA GATHERING</a:t>
            </a:r>
            <a:br>
              <a:rPr lang="en-US" altLang="en-US" sz="3500" spc="-95">
                <a:latin typeface="Times New Roman" panose="02020603050405020304" pitchFamily="18" charset="0"/>
                <a:cs typeface="Times New Roman" panose="02020603050405020304" pitchFamily="18" charset="0"/>
              </a:rPr>
            </a:b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C2AAB37C-0055-DC61-B276-DE47D300A0D4}"/>
              </a:ext>
            </a:extLst>
          </p:cNvPr>
          <p:cNvSpPr txBox="1"/>
          <p:nvPr/>
        </p:nvSpPr>
        <p:spPr>
          <a:xfrm>
            <a:off x="339725"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5" name="Picture 4" descr="A screenshot of a graph&#10;&#10;AI-generated content may be incorrect.">
            <a:extLst>
              <a:ext uri="{FF2B5EF4-FFF2-40B4-BE49-F238E27FC236}">
                <a16:creationId xmlns:a16="http://schemas.microsoft.com/office/drawing/2014/main" id="{7F489E94-85CD-7F78-237D-EDB1DBB91CA7}"/>
              </a:ext>
            </a:extLst>
          </p:cNvPr>
          <p:cNvPicPr>
            <a:picLocks noChangeAspect="1"/>
          </p:cNvPicPr>
          <p:nvPr/>
        </p:nvPicPr>
        <p:blipFill>
          <a:blip r:embed="rId2"/>
          <a:stretch>
            <a:fillRect/>
          </a:stretch>
        </p:blipFill>
        <p:spPr>
          <a:xfrm>
            <a:off x="-7084" y="1084941"/>
            <a:ext cx="5202970" cy="6471109"/>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C498153C-22A0-5CBC-0932-36294035DD0F}"/>
              </a:ext>
            </a:extLst>
          </p:cNvPr>
          <p:cNvPicPr>
            <a:picLocks noChangeAspect="1"/>
          </p:cNvPicPr>
          <p:nvPr/>
        </p:nvPicPr>
        <p:blipFill>
          <a:blip r:embed="rId3"/>
          <a:stretch>
            <a:fillRect/>
          </a:stretch>
        </p:blipFill>
        <p:spPr>
          <a:xfrm>
            <a:off x="5175835" y="1090793"/>
            <a:ext cx="5514667" cy="6491116"/>
          </a:xfrm>
          <a:prstGeom prst="rect">
            <a:avLst/>
          </a:prstGeom>
        </p:spPr>
      </p:pic>
    </p:spTree>
    <p:extLst>
      <p:ext uri="{BB962C8B-B14F-4D97-AF65-F5344CB8AC3E}">
        <p14:creationId xmlns:p14="http://schemas.microsoft.com/office/powerpoint/2010/main" val="1962022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49980-04B5-D9D3-99C7-F9A8EF61E30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F42D198-E9DB-AA11-A7B7-D7A1AFAEE676}"/>
              </a:ext>
            </a:extLst>
          </p:cNvPr>
          <p:cNvSpPr txBox="1">
            <a:spLocks noGrp="1"/>
          </p:cNvSpPr>
          <p:nvPr>
            <p:ph type="title"/>
          </p:nvPr>
        </p:nvSpPr>
        <p:spPr>
          <a:xfrm>
            <a:off x="-168275" y="585470"/>
            <a:ext cx="11030585" cy="652145"/>
          </a:xfrm>
          <a:prstGeom prst="rect">
            <a:avLst/>
          </a:prstGeom>
        </p:spPr>
        <p:txBody>
          <a:bodyPr vert="horz" wrap="square" lIns="0" tIns="12700" rIns="0" bIns="0" rtlCol="0">
            <a:noAutofit/>
          </a:bodyPr>
          <a:lstStyle/>
          <a:p>
            <a:pPr marL="12700" algn="ctr">
              <a:lnSpc>
                <a:spcPct val="100000"/>
              </a:lnSpc>
              <a:spcBef>
                <a:spcPts val="100"/>
              </a:spcBef>
            </a:pPr>
            <a:r>
              <a:rPr lang="en-US" altLang="en-US" sz="3500" spc="-95">
                <a:latin typeface="Times New Roman" panose="02020603050405020304" pitchFamily="18" charset="0"/>
                <a:cs typeface="Times New Roman" panose="02020603050405020304" pitchFamily="18" charset="0"/>
              </a:rPr>
              <a:t>QUANTITATIVE DATA GATHERING</a:t>
            </a:r>
            <a:br>
              <a:rPr lang="en-US" altLang="en-US" sz="3500" spc="-95">
                <a:latin typeface="Times New Roman" panose="02020603050405020304" pitchFamily="18" charset="0"/>
                <a:cs typeface="Times New Roman" panose="02020603050405020304" pitchFamily="18" charset="0"/>
              </a:rPr>
            </a:b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72176407-D659-043D-A206-D40C6C601C2B}"/>
              </a:ext>
            </a:extLst>
          </p:cNvPr>
          <p:cNvSpPr txBox="1"/>
          <p:nvPr/>
        </p:nvSpPr>
        <p:spPr>
          <a:xfrm>
            <a:off x="339725"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A pie chart with different colored circles&#10;&#10;AI-generated content may be incorrect.">
            <a:extLst>
              <a:ext uri="{FF2B5EF4-FFF2-40B4-BE49-F238E27FC236}">
                <a16:creationId xmlns:a16="http://schemas.microsoft.com/office/drawing/2014/main" id="{47EBBE13-B143-F041-C329-070B6AF9AEF8}"/>
              </a:ext>
            </a:extLst>
          </p:cNvPr>
          <p:cNvPicPr>
            <a:picLocks noChangeAspect="1"/>
          </p:cNvPicPr>
          <p:nvPr/>
        </p:nvPicPr>
        <p:blipFill>
          <a:blip r:embed="rId2"/>
          <a:stretch>
            <a:fillRect/>
          </a:stretch>
        </p:blipFill>
        <p:spPr>
          <a:xfrm>
            <a:off x="5285" y="1119667"/>
            <a:ext cx="5336889" cy="6449222"/>
          </a:xfrm>
          <a:prstGeom prst="rect">
            <a:avLst/>
          </a:prstGeom>
        </p:spPr>
      </p:pic>
      <p:pic>
        <p:nvPicPr>
          <p:cNvPr id="4" name="Picture 3" descr="A pie chart with numbers and text&#10;&#10;AI-generated content may be incorrect.">
            <a:extLst>
              <a:ext uri="{FF2B5EF4-FFF2-40B4-BE49-F238E27FC236}">
                <a16:creationId xmlns:a16="http://schemas.microsoft.com/office/drawing/2014/main" id="{4F8A5594-A07B-8D68-3788-EC9A9536BC70}"/>
              </a:ext>
            </a:extLst>
          </p:cNvPr>
          <p:cNvPicPr>
            <a:picLocks noChangeAspect="1"/>
          </p:cNvPicPr>
          <p:nvPr/>
        </p:nvPicPr>
        <p:blipFill>
          <a:blip r:embed="rId3"/>
          <a:stretch>
            <a:fillRect/>
          </a:stretch>
        </p:blipFill>
        <p:spPr>
          <a:xfrm>
            <a:off x="5340156" y="1125329"/>
            <a:ext cx="5360547" cy="6437900"/>
          </a:xfrm>
          <a:prstGeom prst="rect">
            <a:avLst/>
          </a:prstGeom>
        </p:spPr>
      </p:pic>
    </p:spTree>
    <p:extLst>
      <p:ext uri="{BB962C8B-B14F-4D97-AF65-F5344CB8AC3E}">
        <p14:creationId xmlns:p14="http://schemas.microsoft.com/office/powerpoint/2010/main" val="2304745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9A53B-9C5F-EAD4-D09F-CF66C1E6D96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0B2703-E15A-7AE1-E82E-ABD838D03D7A}"/>
              </a:ext>
            </a:extLst>
          </p:cNvPr>
          <p:cNvSpPr txBox="1">
            <a:spLocks noGrp="1"/>
          </p:cNvSpPr>
          <p:nvPr>
            <p:ph type="title"/>
          </p:nvPr>
        </p:nvSpPr>
        <p:spPr>
          <a:xfrm>
            <a:off x="-168275" y="632455"/>
            <a:ext cx="11030284" cy="1090042"/>
          </a:xfrm>
          <a:prstGeom prst="rect">
            <a:avLst/>
          </a:prstGeom>
        </p:spPr>
        <p:txBody>
          <a:bodyPr vert="horz" wrap="square" lIns="0" tIns="12700" rIns="0" bIns="0" rtlCol="0" anchor="t">
            <a:spAutoFit/>
          </a:bodyPr>
          <a:lstStyle/>
          <a:p>
            <a:pPr marL="12700" algn="ctr">
              <a:spcBef>
                <a:spcPts val="100"/>
              </a:spcBef>
            </a:pPr>
            <a:r>
              <a:rPr lang="en-US" sz="3500" spc="-95" dirty="0">
                <a:latin typeface="Times New Roman"/>
                <a:cs typeface="Times New Roman"/>
              </a:rPr>
              <a:t>FLOW DIAGRAM OF MOBILE APP</a:t>
            </a:r>
            <a:br>
              <a:rPr lang="en-US" sz="3500" spc="-95" dirty="0">
                <a:latin typeface="Times New Roman"/>
                <a:cs typeface="Times New Roman"/>
              </a:rPr>
            </a:br>
            <a:endParaRPr 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7129AC79-0B18-0597-3901-7EDC15952B6D}"/>
              </a:ext>
            </a:extLst>
          </p:cNvPr>
          <p:cNvSpPr txBox="1"/>
          <p:nvPr/>
        </p:nvSpPr>
        <p:spPr>
          <a:xfrm>
            <a:off x="339725"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4" name="Picture 3" descr="A diagram of a login&#10;&#10;AI-generated content may be incorrect.">
            <a:extLst>
              <a:ext uri="{FF2B5EF4-FFF2-40B4-BE49-F238E27FC236}">
                <a16:creationId xmlns:a16="http://schemas.microsoft.com/office/drawing/2014/main" id="{435B71A0-E248-F704-1B6A-252D4015FD7B}"/>
              </a:ext>
            </a:extLst>
          </p:cNvPr>
          <p:cNvPicPr>
            <a:picLocks noChangeAspect="1"/>
          </p:cNvPicPr>
          <p:nvPr/>
        </p:nvPicPr>
        <p:blipFill>
          <a:blip r:embed="rId2"/>
          <a:stretch>
            <a:fillRect/>
          </a:stretch>
        </p:blipFill>
        <p:spPr>
          <a:xfrm>
            <a:off x="-1886" y="1173272"/>
            <a:ext cx="10697932" cy="6389578"/>
          </a:xfrm>
          <a:prstGeom prst="rect">
            <a:avLst/>
          </a:prstGeom>
        </p:spPr>
      </p:pic>
    </p:spTree>
    <p:extLst>
      <p:ext uri="{BB962C8B-B14F-4D97-AF65-F5344CB8AC3E}">
        <p14:creationId xmlns:p14="http://schemas.microsoft.com/office/powerpoint/2010/main" val="3840939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1D8E-0291-E816-5932-1701D89962E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61A25D0-CDD9-059D-57C1-FD50B80DE5A0}"/>
              </a:ext>
            </a:extLst>
          </p:cNvPr>
          <p:cNvSpPr txBox="1">
            <a:spLocks noGrp="1"/>
          </p:cNvSpPr>
          <p:nvPr>
            <p:ph type="title"/>
          </p:nvPr>
        </p:nvSpPr>
        <p:spPr>
          <a:xfrm>
            <a:off x="-168275" y="632455"/>
            <a:ext cx="11030284" cy="1090042"/>
          </a:xfrm>
          <a:prstGeom prst="rect">
            <a:avLst/>
          </a:prstGeom>
        </p:spPr>
        <p:txBody>
          <a:bodyPr vert="horz" wrap="square" lIns="0" tIns="12700" rIns="0" bIns="0" rtlCol="0" anchor="t">
            <a:spAutoFit/>
          </a:bodyPr>
          <a:lstStyle/>
          <a:p>
            <a:pPr marL="12700" algn="ctr">
              <a:spcBef>
                <a:spcPts val="100"/>
              </a:spcBef>
            </a:pPr>
            <a:r>
              <a:rPr lang="en-US" sz="3500" spc="-95" dirty="0">
                <a:latin typeface="Times New Roman"/>
                <a:cs typeface="Times New Roman"/>
              </a:rPr>
              <a:t>FLOW DIAGRAM OF MOBILE APP</a:t>
            </a:r>
            <a:br>
              <a:rPr lang="en-US" sz="3500" spc="-95" dirty="0">
                <a:latin typeface="Times New Roman"/>
                <a:cs typeface="Times New Roman"/>
              </a:rPr>
            </a:br>
            <a:endParaRPr 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CD547B41-35CC-31A3-7E58-141D317227F7}"/>
              </a:ext>
            </a:extLst>
          </p:cNvPr>
          <p:cNvSpPr txBox="1"/>
          <p:nvPr/>
        </p:nvSpPr>
        <p:spPr>
          <a:xfrm>
            <a:off x="339725"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A diagram of a company&#10;&#10;AI-generated content may be incorrect.">
            <a:extLst>
              <a:ext uri="{FF2B5EF4-FFF2-40B4-BE49-F238E27FC236}">
                <a16:creationId xmlns:a16="http://schemas.microsoft.com/office/drawing/2014/main" id="{A474F126-88CE-BCAE-E578-5210227B0AA6}"/>
              </a:ext>
            </a:extLst>
          </p:cNvPr>
          <p:cNvPicPr>
            <a:picLocks noChangeAspect="1"/>
          </p:cNvPicPr>
          <p:nvPr/>
        </p:nvPicPr>
        <p:blipFill>
          <a:blip r:embed="rId2"/>
          <a:stretch>
            <a:fillRect/>
          </a:stretch>
        </p:blipFill>
        <p:spPr>
          <a:xfrm>
            <a:off x="-3547" y="1173272"/>
            <a:ext cx="10875774" cy="6389578"/>
          </a:xfrm>
          <a:prstGeom prst="rect">
            <a:avLst/>
          </a:prstGeom>
        </p:spPr>
      </p:pic>
    </p:spTree>
    <p:extLst>
      <p:ext uri="{BB962C8B-B14F-4D97-AF65-F5344CB8AC3E}">
        <p14:creationId xmlns:p14="http://schemas.microsoft.com/office/powerpoint/2010/main" val="2479358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D2292-A415-ED9F-40B3-C1B5F69037F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D75523F-EE95-FE5C-F992-ABA8F57F4014}"/>
              </a:ext>
            </a:extLst>
          </p:cNvPr>
          <p:cNvSpPr txBox="1">
            <a:spLocks noGrp="1"/>
          </p:cNvSpPr>
          <p:nvPr>
            <p:ph type="title"/>
          </p:nvPr>
        </p:nvSpPr>
        <p:spPr>
          <a:xfrm>
            <a:off x="-168275" y="632455"/>
            <a:ext cx="11030284" cy="551180"/>
          </a:xfrm>
          <a:prstGeom prst="rect">
            <a:avLst/>
          </a:prstGeom>
        </p:spPr>
        <p:txBody>
          <a:bodyPr vert="horz" wrap="square" lIns="0" tIns="12700" rIns="0" bIns="0" rtlCol="0" anchor="t">
            <a:spAutoFit/>
          </a:bodyPr>
          <a:lstStyle/>
          <a:p>
            <a:pPr marL="12700" algn="ctr">
              <a:spcBef>
                <a:spcPts val="100"/>
              </a:spcBef>
            </a:pPr>
            <a:r>
              <a:rPr lang="en-US" altLang="en-US" sz="3500" spc="-95">
                <a:latin typeface="Times New Roman"/>
                <a:cs typeface="Times New Roman"/>
              </a:rPr>
              <a:t>TOOLS AND TECHNOLOGIES USED </a:t>
            </a: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57EE2BF9-5C7F-AB19-99B2-71F40482FF55}"/>
              </a:ext>
            </a:extLst>
          </p:cNvPr>
          <p:cNvSpPr txBox="1"/>
          <p:nvPr/>
        </p:nvSpPr>
        <p:spPr>
          <a:xfrm>
            <a:off x="-9317" y="1893343"/>
            <a:ext cx="11042442" cy="5820119"/>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342900" indent="-342900">
              <a:buFont typeface="Wingdings"/>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342900" indent="-342900">
              <a:buFont typeface="Wingdings"/>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a:cs typeface="Times New Roman"/>
              </a:rPr>
              <a:t>                                      </a:t>
            </a:r>
          </a:p>
          <a:p>
            <a:pPr marL="457200" indent="-457200">
              <a:buFont typeface="Wingdings"/>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342900" indent="-342900">
              <a:buFont typeface="Wingdings"/>
              <a:buChar char="v"/>
              <a:tabLst>
                <a:tab pos="469265" algn="l"/>
                <a:tab pos="469900" algn="l"/>
              </a:tabLst>
            </a:pPr>
            <a:endParaRPr lang="en-US" sz="2200">
              <a:latin typeface="Times New Roman" panose="02020603050405020304" pitchFamily="18" charset="0"/>
              <a:cs typeface="Times New Roman" panose="02020603050405020304" pitchFamily="18" charset="0"/>
            </a:endParaRPr>
          </a:p>
          <a:p>
            <a:pPr marL="469900" indent="-457200">
              <a:lnSpc>
                <a:spcPct val="150000"/>
              </a:lnSpc>
              <a:spcBef>
                <a:spcPts val="1605"/>
              </a:spcBef>
              <a:buFont typeface="Wingdings"/>
              <a:buChar char="v"/>
              <a:tabLst>
                <a:tab pos="469265" algn="l"/>
                <a:tab pos="469900" algn="l"/>
              </a:tabLst>
            </a:pPr>
            <a:endParaRPr lang="en-US" sz="2600" b="1">
              <a:latin typeface="Times New Roman" panose="02020603050405020304"/>
              <a:ea typeface="Calibri" panose="020F0502020204030204"/>
              <a:cs typeface="Calibri" panose="020F0502020204030204"/>
            </a:endParaRPr>
          </a:p>
          <a:p>
            <a:pPr marL="469900" indent="-457200">
              <a:lnSpc>
                <a:spcPct val="150000"/>
              </a:lnSpc>
              <a:spcBef>
                <a:spcPts val="1605"/>
              </a:spcBef>
              <a:buFont typeface="Wingdings"/>
              <a:buChar char="v"/>
              <a:tabLst>
                <a:tab pos="469265" algn="l"/>
                <a:tab pos="469900" algn="l"/>
              </a:tabLst>
            </a:pPr>
            <a:endParaRPr lang="en-US" sz="2600" b="1">
              <a:latin typeface="Times New Roman" panose="02020603050405020304"/>
              <a:cs typeface="Calibri" panose="020F0502020204030204"/>
            </a:endParaRPr>
          </a:p>
        </p:txBody>
      </p:sp>
      <p:pic>
        <p:nvPicPr>
          <p:cNvPr id="4" name="Picture 3" descr="A screen shot of a computer&#10;&#10;AI-generated content may be incorrect.">
            <a:extLst>
              <a:ext uri="{FF2B5EF4-FFF2-40B4-BE49-F238E27FC236}">
                <a16:creationId xmlns:a16="http://schemas.microsoft.com/office/drawing/2014/main" id="{8A6E6091-264E-7184-1E67-99B64DAD7884}"/>
              </a:ext>
            </a:extLst>
          </p:cNvPr>
          <p:cNvPicPr>
            <a:picLocks noChangeAspect="1"/>
          </p:cNvPicPr>
          <p:nvPr/>
        </p:nvPicPr>
        <p:blipFill>
          <a:blip r:embed="rId2"/>
          <a:stretch>
            <a:fillRect/>
          </a:stretch>
        </p:blipFill>
        <p:spPr>
          <a:xfrm>
            <a:off x="-1588" y="1193392"/>
            <a:ext cx="10697335" cy="6365195"/>
          </a:xfrm>
          <a:prstGeom prst="rect">
            <a:avLst/>
          </a:prstGeom>
        </p:spPr>
      </p:pic>
    </p:spTree>
    <p:extLst>
      <p:ext uri="{BB962C8B-B14F-4D97-AF65-F5344CB8AC3E}">
        <p14:creationId xmlns:p14="http://schemas.microsoft.com/office/powerpoint/2010/main" val="219866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5DD0-FAF7-6BC6-1418-AC4FB050EE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344A85-1F25-A858-2E7D-015B1ED5F2BD}"/>
              </a:ext>
            </a:extLst>
          </p:cNvPr>
          <p:cNvSpPr txBox="1">
            <a:spLocks noGrp="1"/>
          </p:cNvSpPr>
          <p:nvPr>
            <p:ph type="title"/>
          </p:nvPr>
        </p:nvSpPr>
        <p:spPr>
          <a:xfrm>
            <a:off x="-168275" y="632455"/>
            <a:ext cx="11030284" cy="551180"/>
          </a:xfrm>
          <a:prstGeom prst="rect">
            <a:avLst/>
          </a:prstGeom>
        </p:spPr>
        <p:txBody>
          <a:bodyPr vert="horz" wrap="square" lIns="0" tIns="12700" rIns="0" bIns="0" rtlCol="0" anchor="t">
            <a:spAutoFit/>
          </a:bodyPr>
          <a:lstStyle/>
          <a:p>
            <a:pPr marL="12700" algn="ctr">
              <a:spcBef>
                <a:spcPts val="100"/>
              </a:spcBef>
            </a:pPr>
            <a:r>
              <a:rPr lang="en-US" altLang="en-US" sz="3500" spc="-95">
                <a:latin typeface="Times New Roman"/>
                <a:cs typeface="Times New Roman"/>
              </a:rPr>
              <a:t> REAL-TIME PREECLAMPSIA PREDICTIONS </a:t>
            </a:r>
            <a:endParaRPr lang="en-US" altLang="en-US" sz="35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A04D1F03-8911-3414-8717-CE4293FBCEE8}"/>
              </a:ext>
            </a:extLst>
          </p:cNvPr>
          <p:cNvSpPr txBox="1"/>
          <p:nvPr/>
        </p:nvSpPr>
        <p:spPr>
          <a:xfrm>
            <a:off x="339725"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A screenshot of a medical application&#10;&#10;AI-generated content may be incorrect.">
            <a:extLst>
              <a:ext uri="{FF2B5EF4-FFF2-40B4-BE49-F238E27FC236}">
                <a16:creationId xmlns:a16="http://schemas.microsoft.com/office/drawing/2014/main" id="{42199BDA-609E-BEB1-4491-287B73CA7DAA}"/>
              </a:ext>
            </a:extLst>
          </p:cNvPr>
          <p:cNvPicPr>
            <a:picLocks noChangeAspect="1"/>
          </p:cNvPicPr>
          <p:nvPr/>
        </p:nvPicPr>
        <p:blipFill>
          <a:blip r:embed="rId2"/>
          <a:stretch>
            <a:fillRect/>
          </a:stretch>
        </p:blipFill>
        <p:spPr>
          <a:xfrm>
            <a:off x="-2187" y="1194848"/>
            <a:ext cx="10698534" cy="6362280"/>
          </a:xfrm>
          <a:prstGeom prst="rect">
            <a:avLst/>
          </a:prstGeom>
        </p:spPr>
      </p:pic>
    </p:spTree>
    <p:extLst>
      <p:ext uri="{BB962C8B-B14F-4D97-AF65-F5344CB8AC3E}">
        <p14:creationId xmlns:p14="http://schemas.microsoft.com/office/powerpoint/2010/main" val="242700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CB861-B8B7-B150-3B78-B36EAE5D64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4E69CD5-3C51-FEEF-0951-B142AA9E0890}"/>
              </a:ext>
            </a:extLst>
          </p:cNvPr>
          <p:cNvSpPr txBox="1">
            <a:spLocks noGrp="1"/>
          </p:cNvSpPr>
          <p:nvPr>
            <p:ph type="title"/>
          </p:nvPr>
        </p:nvSpPr>
        <p:spPr>
          <a:xfrm>
            <a:off x="-168275" y="632455"/>
            <a:ext cx="11030284" cy="551180"/>
          </a:xfrm>
          <a:prstGeom prst="rect">
            <a:avLst/>
          </a:prstGeom>
        </p:spPr>
        <p:txBody>
          <a:bodyPr vert="horz" wrap="square" lIns="0" tIns="12700" rIns="0" bIns="0" rtlCol="0" anchor="t">
            <a:spAutoFit/>
          </a:bodyPr>
          <a:lstStyle/>
          <a:p>
            <a:pPr marL="12700" algn="ctr">
              <a:spcBef>
                <a:spcPts val="100"/>
              </a:spcBef>
            </a:pPr>
            <a:r>
              <a:rPr lang="en-US" altLang="en-US" sz="3500" spc="-95" dirty="0">
                <a:latin typeface="Times New Roman"/>
                <a:cs typeface="Times New Roman"/>
              </a:rPr>
              <a:t> REAL-TIME GDM RISK ANALYSIS </a:t>
            </a:r>
            <a:endParaRPr lang="en-US" altLang="en-US" sz="3500" spc="-95" dirty="0">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00B607F2-2929-1D27-58BB-F551578049DE}"/>
              </a:ext>
            </a:extLst>
          </p:cNvPr>
          <p:cNvSpPr txBox="1"/>
          <p:nvPr/>
        </p:nvSpPr>
        <p:spPr>
          <a:xfrm>
            <a:off x="339725"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4" name="Picture 3" descr="A screenshot of a medical monitoring&#10;&#10;AI-generated content may be incorrect.">
            <a:extLst>
              <a:ext uri="{FF2B5EF4-FFF2-40B4-BE49-F238E27FC236}">
                <a16:creationId xmlns:a16="http://schemas.microsoft.com/office/drawing/2014/main" id="{CA18383F-52DF-EF7E-4EBA-FB4BD91DE01E}"/>
              </a:ext>
            </a:extLst>
          </p:cNvPr>
          <p:cNvPicPr>
            <a:picLocks noChangeAspect="1"/>
          </p:cNvPicPr>
          <p:nvPr/>
        </p:nvPicPr>
        <p:blipFill>
          <a:blip r:embed="rId2"/>
          <a:stretch>
            <a:fillRect/>
          </a:stretch>
        </p:blipFill>
        <p:spPr>
          <a:xfrm>
            <a:off x="5836" y="1178994"/>
            <a:ext cx="10682488" cy="6378135"/>
          </a:xfrm>
          <a:prstGeom prst="rect">
            <a:avLst/>
          </a:prstGeom>
        </p:spPr>
      </p:pic>
    </p:spTree>
    <p:extLst>
      <p:ext uri="{BB962C8B-B14F-4D97-AF65-F5344CB8AC3E}">
        <p14:creationId xmlns:p14="http://schemas.microsoft.com/office/powerpoint/2010/main" val="2589321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p:cNvSpPr txBox="1"/>
          <p:nvPr/>
        </p:nvSpPr>
        <p:spPr>
          <a:xfrm>
            <a:off x="0" y="1925053"/>
            <a:ext cx="10693400" cy="634334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a:cs typeface="Times New Roman"/>
              </a:rPr>
              <a:t>                                             </a:t>
            </a:r>
          </a:p>
          <a:p>
            <a:pPr marL="457200" indent="-457200">
              <a:buFont typeface="Wingdings,Sans-Serif" panose="05000000000000000000" pitchFamily="2" charset="2"/>
              <a:buChar char="v"/>
              <a:tabLst>
                <a:tab pos="469265" algn="l"/>
                <a:tab pos="469900" algn="l"/>
              </a:tabLst>
            </a:pPr>
            <a:endParaRPr lang="en-US" sz="5000" b="1">
              <a:latin typeface="Times New Roman" panose="02020603050405020304" pitchFamily="18" charset="0"/>
              <a:cs typeface="Times New Roman" panose="02020603050405020304" pitchFamily="18" charset="0"/>
            </a:endParaRPr>
          </a:p>
          <a:p>
            <a:pPr indent="0" algn="ctr">
              <a:buFont typeface="Wingdings,Sans-Serif" panose="05000000000000000000" pitchFamily="2" charset="2"/>
              <a:buNone/>
              <a:tabLst>
                <a:tab pos="469265" algn="l"/>
                <a:tab pos="469900" algn="l"/>
              </a:tabLst>
            </a:pPr>
            <a:r>
              <a:rPr lang="en-US" sz="5000" b="1" spc="-95">
                <a:latin typeface="Times New Roman"/>
                <a:cs typeface="Times New Roman"/>
                <a:sym typeface="+mn-ea"/>
              </a:rPr>
              <a:t>HARDWARE PROGRESS</a:t>
            </a:r>
            <a:endParaRPr lang="en-US" sz="5000" b="1" spc="-95">
              <a:latin typeface="Times New Roman"/>
              <a:cs typeface="Times New Roman"/>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pitchFamily="18" charset="0"/>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929000"/>
            <a:ext cx="11030284" cy="551180"/>
          </a:xfrm>
          <a:prstGeom prst="rect">
            <a:avLst/>
          </a:prstGeom>
        </p:spPr>
        <p:txBody>
          <a:bodyPr vert="horz" wrap="square" lIns="0" tIns="12700" rIns="0" bIns="0" rtlCol="0">
            <a:spAutoFit/>
          </a:bodyPr>
          <a:lstStyle/>
          <a:p>
            <a:pPr marL="12700" algn="ctr">
              <a:lnSpc>
                <a:spcPct val="100000"/>
              </a:lnSpc>
              <a:spcBef>
                <a:spcPts val="100"/>
              </a:spcBef>
            </a:pPr>
            <a:r>
              <a:rPr lang="en-US" sz="3500" spc="-95">
                <a:latin typeface="Times New Roman" panose="02020603050405020304" pitchFamily="18" charset="0"/>
                <a:cs typeface="Times New Roman" panose="02020603050405020304" pitchFamily="18" charset="0"/>
              </a:rPr>
              <a:t>EXPECTED OUTCOME</a:t>
            </a:r>
          </a:p>
        </p:txBody>
      </p:sp>
      <p:sp>
        <p:nvSpPr>
          <p:cNvPr id="7" name="object 3"/>
          <p:cNvSpPr txBox="1"/>
          <p:nvPr/>
        </p:nvSpPr>
        <p:spPr>
          <a:xfrm>
            <a:off x="0"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CAD image"/>
          <p:cNvPicPr>
            <a:picLocks noChangeAspect="1"/>
          </p:cNvPicPr>
          <p:nvPr/>
        </p:nvPicPr>
        <p:blipFill>
          <a:blip r:embed="rId2"/>
          <a:stretch>
            <a:fillRect/>
          </a:stretch>
        </p:blipFill>
        <p:spPr>
          <a:xfrm>
            <a:off x="635" y="1480185"/>
            <a:ext cx="10692765" cy="608266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910" y="909315"/>
            <a:ext cx="11030284" cy="551433"/>
          </a:xfrm>
          <a:prstGeom prst="rect">
            <a:avLst/>
          </a:prstGeom>
        </p:spPr>
        <p:txBody>
          <a:bodyPr vert="horz" wrap="square" lIns="0" tIns="12700" rIns="0" bIns="0" rtlCol="0" anchor="t">
            <a:spAutoFit/>
          </a:bodyPr>
          <a:lstStyle/>
          <a:p>
            <a:pPr marL="12700" algn="ctr">
              <a:spcBef>
                <a:spcPts val="100"/>
              </a:spcBef>
            </a:pPr>
            <a:r>
              <a:rPr lang="en-US" sz="3500" spc="-95">
                <a:latin typeface="Times New Roman"/>
                <a:cs typeface="Times New Roman"/>
              </a:rPr>
              <a:t>SIMULATION OF WRIST WEARABLE DEVICE</a:t>
            </a:r>
          </a:p>
        </p:txBody>
      </p:sp>
      <p:sp>
        <p:nvSpPr>
          <p:cNvPr id="7" name="object 3"/>
          <p:cNvSpPr txBox="1"/>
          <p:nvPr/>
        </p:nvSpPr>
        <p:spPr>
          <a:xfrm>
            <a:off x="969645" y="1537068"/>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4" name="Picture 3" descr="A screenshot of a computer&#10;&#10;AI-generated content may be incorrect.">
            <a:extLst>
              <a:ext uri="{FF2B5EF4-FFF2-40B4-BE49-F238E27FC236}">
                <a16:creationId xmlns:a16="http://schemas.microsoft.com/office/drawing/2014/main" id="{A0DAAC95-490E-C487-FA77-225B77820F29}"/>
              </a:ext>
            </a:extLst>
          </p:cNvPr>
          <p:cNvPicPr>
            <a:picLocks noChangeAspect="1"/>
          </p:cNvPicPr>
          <p:nvPr/>
        </p:nvPicPr>
        <p:blipFill>
          <a:blip r:embed="rId2"/>
          <a:stretch>
            <a:fillRect/>
          </a:stretch>
        </p:blipFill>
        <p:spPr>
          <a:xfrm>
            <a:off x="4386" y="1533105"/>
            <a:ext cx="10685387" cy="603457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1DD14-4A29-2BCB-87A2-70C9330A7A4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EA0EB01-614D-E207-ADBE-FDB94A7DA9A6}"/>
              </a:ext>
            </a:extLst>
          </p:cNvPr>
          <p:cNvSpPr txBox="1">
            <a:spLocks noGrp="1"/>
          </p:cNvSpPr>
          <p:nvPr>
            <p:ph type="title"/>
          </p:nvPr>
        </p:nvSpPr>
        <p:spPr>
          <a:xfrm>
            <a:off x="-168910" y="544649"/>
            <a:ext cx="11030284" cy="628015"/>
          </a:xfrm>
          <a:prstGeom prst="rect">
            <a:avLst/>
          </a:prstGeom>
        </p:spPr>
        <p:txBody>
          <a:bodyPr vert="horz" wrap="square" lIns="0" tIns="12700" rIns="0" bIns="0" rtlCol="0">
            <a:spAutoFit/>
          </a:bodyPr>
          <a:lstStyle/>
          <a:p>
            <a:pPr marL="12700" algn="ctr">
              <a:lnSpc>
                <a:spcPct val="100000"/>
              </a:lnSpc>
              <a:spcBef>
                <a:spcPts val="100"/>
              </a:spcBef>
            </a:pPr>
            <a:r>
              <a:rPr lang="en-US" sz="4000" spc="-95">
                <a:latin typeface="Times New Roman" panose="02020603050405020304" pitchFamily="18" charset="0"/>
                <a:cs typeface="Times New Roman" panose="02020603050405020304" pitchFamily="18" charset="0"/>
              </a:rPr>
              <a:t>REAL-TIME DATA FROM SIMULATION</a:t>
            </a:r>
          </a:p>
        </p:txBody>
      </p:sp>
      <p:sp>
        <p:nvSpPr>
          <p:cNvPr id="7" name="object 3">
            <a:extLst>
              <a:ext uri="{FF2B5EF4-FFF2-40B4-BE49-F238E27FC236}">
                <a16:creationId xmlns:a16="http://schemas.microsoft.com/office/drawing/2014/main" id="{E8BC5EE5-06B8-C6D8-26C9-42AAA45EC13E}"/>
              </a:ext>
            </a:extLst>
          </p:cNvPr>
          <p:cNvSpPr txBox="1"/>
          <p:nvPr/>
        </p:nvSpPr>
        <p:spPr>
          <a:xfrm>
            <a:off x="969645" y="1537068"/>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3" name="Picture 2" descr="A screenshot of a chat&#10;&#10;AI-generated content may be incorrect.">
            <a:extLst>
              <a:ext uri="{FF2B5EF4-FFF2-40B4-BE49-F238E27FC236}">
                <a16:creationId xmlns:a16="http://schemas.microsoft.com/office/drawing/2014/main" id="{C3259D1F-BC03-86EF-B3E5-4A4CCCEA534F}"/>
              </a:ext>
            </a:extLst>
          </p:cNvPr>
          <p:cNvPicPr>
            <a:picLocks noChangeAspect="1"/>
          </p:cNvPicPr>
          <p:nvPr/>
        </p:nvPicPr>
        <p:blipFill>
          <a:blip r:embed="rId2"/>
          <a:stretch>
            <a:fillRect/>
          </a:stretch>
        </p:blipFill>
        <p:spPr>
          <a:xfrm>
            <a:off x="2099" y="1180433"/>
            <a:ext cx="10689962" cy="6375258"/>
          </a:xfrm>
          <a:prstGeom prst="rect">
            <a:avLst/>
          </a:prstGeom>
        </p:spPr>
      </p:pic>
    </p:spTree>
    <p:extLst>
      <p:ext uri="{BB962C8B-B14F-4D97-AF65-F5344CB8AC3E}">
        <p14:creationId xmlns:p14="http://schemas.microsoft.com/office/powerpoint/2010/main" val="40340904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567685"/>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a:latin typeface="Times New Roman" panose="02020603050405020304" pitchFamily="18" charset="0"/>
                <a:cs typeface="Times New Roman" panose="02020603050405020304" pitchFamily="18" charset="0"/>
              </a:rPr>
              <a:t>BILL OF MATERIALS</a:t>
            </a:r>
          </a:p>
        </p:txBody>
      </p:sp>
      <p:sp>
        <p:nvSpPr>
          <p:cNvPr id="7" name="object 3"/>
          <p:cNvSpPr txBox="1"/>
          <p:nvPr/>
        </p:nvSpPr>
        <p:spPr>
          <a:xfrm>
            <a:off x="0"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4" name="Picture 3" descr="A table with numbers and text&#10;&#10;AI-generated content may be incorrect.">
            <a:extLst>
              <a:ext uri="{FF2B5EF4-FFF2-40B4-BE49-F238E27FC236}">
                <a16:creationId xmlns:a16="http://schemas.microsoft.com/office/drawing/2014/main" id="{E58439BC-05B1-8E68-B0D6-4F5825CB905C}"/>
              </a:ext>
            </a:extLst>
          </p:cNvPr>
          <p:cNvPicPr>
            <a:picLocks noChangeAspect="1"/>
          </p:cNvPicPr>
          <p:nvPr/>
        </p:nvPicPr>
        <p:blipFill>
          <a:blip r:embed="rId2"/>
          <a:stretch>
            <a:fillRect/>
          </a:stretch>
        </p:blipFill>
        <p:spPr>
          <a:xfrm>
            <a:off x="-5684" y="1318185"/>
            <a:ext cx="10721393" cy="624244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567685"/>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a:latin typeface="Times New Roman" panose="02020603050405020304" pitchFamily="18" charset="0"/>
                <a:cs typeface="Times New Roman" panose="02020603050405020304" pitchFamily="18" charset="0"/>
              </a:rPr>
              <a:t>POWER CONSUMPTION</a:t>
            </a:r>
          </a:p>
        </p:txBody>
      </p:sp>
      <p:sp>
        <p:nvSpPr>
          <p:cNvPr id="7" name="object 3"/>
          <p:cNvSpPr txBox="1"/>
          <p:nvPr/>
        </p:nvSpPr>
        <p:spPr>
          <a:xfrm>
            <a:off x="0"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4" name="Picture 3" descr="PowerConsumption"/>
          <p:cNvPicPr>
            <a:picLocks noChangeAspect="1"/>
          </p:cNvPicPr>
          <p:nvPr/>
        </p:nvPicPr>
        <p:blipFill>
          <a:blip r:embed="rId2"/>
          <a:stretch>
            <a:fillRect/>
          </a:stretch>
        </p:blipFill>
        <p:spPr>
          <a:xfrm>
            <a:off x="635" y="1207135"/>
            <a:ext cx="10693400" cy="635571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567685"/>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a:latin typeface="Times New Roman" panose="02020603050405020304" pitchFamily="18" charset="0"/>
                <a:cs typeface="Times New Roman" panose="02020603050405020304" pitchFamily="18" charset="0"/>
              </a:rPr>
              <a:t>BATTERY LIFE CALCULATION</a:t>
            </a:r>
          </a:p>
        </p:txBody>
      </p:sp>
      <p:sp>
        <p:nvSpPr>
          <p:cNvPr id="7" name="object 3"/>
          <p:cNvSpPr txBox="1"/>
          <p:nvPr/>
        </p:nvSpPr>
        <p:spPr>
          <a:xfrm>
            <a:off x="0"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pic>
        <p:nvPicPr>
          <p:cNvPr id="5" name="Picture 4" descr="BatteryLifeCalculation"/>
          <p:cNvPicPr>
            <a:picLocks noChangeAspect="1"/>
          </p:cNvPicPr>
          <p:nvPr/>
        </p:nvPicPr>
        <p:blipFill>
          <a:blip r:embed="rId2"/>
          <a:stretch>
            <a:fillRect/>
          </a:stretch>
        </p:blipFill>
        <p:spPr>
          <a:xfrm>
            <a:off x="-635" y="1318895"/>
            <a:ext cx="10694670" cy="624395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C0137-6B5E-41AB-1C04-3C5497FF12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83DC57-81EC-E7DC-99DE-A8DFE55F3081}"/>
              </a:ext>
            </a:extLst>
          </p:cNvPr>
          <p:cNvSpPr txBox="1">
            <a:spLocks noGrp="1"/>
          </p:cNvSpPr>
          <p:nvPr>
            <p:ph type="title"/>
          </p:nvPr>
        </p:nvSpPr>
        <p:spPr>
          <a:xfrm>
            <a:off x="0" y="567685"/>
            <a:ext cx="11030284" cy="751205"/>
          </a:xfrm>
          <a:prstGeom prst="rect">
            <a:avLst/>
          </a:prstGeom>
        </p:spPr>
        <p:txBody>
          <a:bodyPr vert="horz" wrap="square" lIns="0" tIns="12700" rIns="0" bIns="0" rtlCol="0" anchor="t">
            <a:spAutoFit/>
          </a:bodyPr>
          <a:lstStyle/>
          <a:p>
            <a:pPr marL="12700" algn="ctr">
              <a:spcBef>
                <a:spcPts val="100"/>
              </a:spcBef>
            </a:pPr>
            <a:r>
              <a:rPr lang="en-US" sz="4800" spc="-95">
                <a:latin typeface="Times New Roman"/>
                <a:cs typeface="Times New Roman"/>
              </a:rPr>
              <a:t>VIDEO DEMO</a:t>
            </a:r>
            <a:endParaRPr lang="en-US" sz="48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71929684-26B8-4E21-EE7B-43992435F13E}"/>
              </a:ext>
            </a:extLst>
          </p:cNvPr>
          <p:cNvSpPr txBox="1"/>
          <p:nvPr/>
        </p:nvSpPr>
        <p:spPr>
          <a:xfrm>
            <a:off x="0" y="1925053"/>
            <a:ext cx="10693400" cy="5518150"/>
          </a:xfrm>
          <a:prstGeom prst="rect">
            <a:avLst/>
          </a:prstGeom>
        </p:spPr>
        <p:txBody>
          <a:bodyPr vert="horz" wrap="square" lIns="0" tIns="216535" rIns="0" bIns="0" rtlCol="0" anchor="t">
            <a:spAutoFit/>
          </a:bodyPr>
          <a:lstStyle/>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panose="02020603050405020304" pitchFamily="18" charset="0"/>
                <a:cs typeface="Times New Roman" panose="02020603050405020304" pitchFamily="18" charset="0"/>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extLst>
      <p:ext uri="{BB962C8B-B14F-4D97-AF65-F5344CB8AC3E}">
        <p14:creationId xmlns:p14="http://schemas.microsoft.com/office/powerpoint/2010/main" val="6140678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FB7FE-854D-7C65-3752-40062B9B777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2E3DA35-B47C-426D-BBE3-BCA343954F0C}"/>
              </a:ext>
            </a:extLst>
          </p:cNvPr>
          <p:cNvSpPr txBox="1">
            <a:spLocks noGrp="1"/>
          </p:cNvSpPr>
          <p:nvPr>
            <p:ph type="title"/>
          </p:nvPr>
        </p:nvSpPr>
        <p:spPr>
          <a:xfrm>
            <a:off x="0" y="567685"/>
            <a:ext cx="11030284" cy="751205"/>
          </a:xfrm>
          <a:prstGeom prst="rect">
            <a:avLst/>
          </a:prstGeom>
        </p:spPr>
        <p:txBody>
          <a:bodyPr vert="horz" wrap="square" lIns="0" tIns="12700" rIns="0" bIns="0" rtlCol="0" anchor="t">
            <a:spAutoFit/>
          </a:bodyPr>
          <a:lstStyle/>
          <a:p>
            <a:pPr marL="12700" algn="ctr">
              <a:spcBef>
                <a:spcPts val="100"/>
              </a:spcBef>
            </a:pPr>
            <a:r>
              <a:rPr lang="en-US" sz="4800" spc="-95">
                <a:latin typeface="Times New Roman"/>
                <a:cs typeface="Times New Roman"/>
              </a:rPr>
              <a:t>NEXT STEPS</a:t>
            </a:r>
            <a:endParaRPr lang="en-US" sz="4800" spc="-95">
              <a:latin typeface="Times New Roman" panose="02020603050405020304" pitchFamily="18" charset="0"/>
              <a:cs typeface="Times New Roman" panose="02020603050405020304" pitchFamily="18" charset="0"/>
            </a:endParaRPr>
          </a:p>
        </p:txBody>
      </p:sp>
      <p:sp>
        <p:nvSpPr>
          <p:cNvPr id="7" name="object 3">
            <a:extLst>
              <a:ext uri="{FF2B5EF4-FFF2-40B4-BE49-F238E27FC236}">
                <a16:creationId xmlns:a16="http://schemas.microsoft.com/office/drawing/2014/main" id="{A011905D-1F24-DED9-9217-FFCA4639E15C}"/>
              </a:ext>
            </a:extLst>
          </p:cNvPr>
          <p:cNvSpPr txBox="1"/>
          <p:nvPr/>
        </p:nvSpPr>
        <p:spPr>
          <a:xfrm>
            <a:off x="0" y="1925053"/>
            <a:ext cx="10693400" cy="7836056"/>
          </a:xfrm>
          <a:prstGeom prst="rect">
            <a:avLst/>
          </a:prstGeom>
        </p:spPr>
        <p:txBody>
          <a:bodyPr vert="horz" wrap="square" lIns="0" tIns="216535" rIns="0" bIns="0" rtlCol="0" anchor="t">
            <a:spAutoFit/>
          </a:bodyPr>
          <a:lstStyle/>
          <a:p>
            <a:pPr marL="342900" indent="-342900">
              <a:buFont typeface="Wingdings"/>
              <a:buChar char="v"/>
              <a:tabLst>
                <a:tab pos="469265" algn="l"/>
                <a:tab pos="469900" algn="l"/>
              </a:tabLst>
            </a:pPr>
            <a:r>
              <a:rPr lang="en-US" sz="2500" dirty="0">
                <a:latin typeface="Times New Roman"/>
                <a:cs typeface="Times New Roman"/>
              </a:rPr>
              <a:t>Implementation Of Wrist Wearable Device</a:t>
            </a:r>
            <a:endParaRPr lang="en-US" sz="2500" dirty="0">
              <a:latin typeface="Times New Roman" panose="02020603050405020304" pitchFamily="18" charset="0"/>
              <a:cs typeface="Times New Roman" panose="02020603050405020304" pitchFamily="18" charset="0"/>
            </a:endParaRPr>
          </a:p>
          <a:p>
            <a:pPr>
              <a:tabLst>
                <a:tab pos="469265" algn="l"/>
                <a:tab pos="469900" algn="l"/>
              </a:tabLst>
            </a:pPr>
            <a:endParaRPr lang="en-US" sz="2500">
              <a:latin typeface="Times New Roman" panose="02020603050405020304" pitchFamily="18" charset="0"/>
              <a:cs typeface="Times New Roman" panose="02020603050405020304" pitchFamily="18" charset="0"/>
            </a:endParaRPr>
          </a:p>
          <a:p>
            <a:pPr marL="342900" indent="-342900">
              <a:buFont typeface="Wingdings"/>
              <a:buChar char="v"/>
              <a:tabLst>
                <a:tab pos="469265" algn="l"/>
                <a:tab pos="469900" algn="l"/>
              </a:tabLst>
            </a:pPr>
            <a:endParaRPr lang="en-US" sz="2500">
              <a:latin typeface="Times New Roman" panose="02020603050405020304" pitchFamily="18" charset="0"/>
              <a:cs typeface="Times New Roman" panose="02020603050405020304" pitchFamily="18" charset="0"/>
            </a:endParaRPr>
          </a:p>
          <a:p>
            <a:pPr marL="342900" indent="-342900">
              <a:buFont typeface="Wingdings"/>
              <a:buChar char="v"/>
              <a:tabLst>
                <a:tab pos="469265" algn="l"/>
                <a:tab pos="469900" algn="l"/>
              </a:tabLst>
            </a:pPr>
            <a:r>
              <a:rPr lang="en-US" sz="2500" dirty="0">
                <a:latin typeface="Times New Roman"/>
                <a:cs typeface="Times New Roman"/>
              </a:rPr>
              <a:t>Broadening Scope Of Project To General Health Information From Vitals</a:t>
            </a:r>
            <a:endParaRPr lang="en-US" sz="2500" dirty="0">
              <a:latin typeface="Times New Roman" panose="02020603050405020304" pitchFamily="18" charset="0"/>
              <a:cs typeface="Times New Roman" panose="02020603050405020304" pitchFamily="18" charset="0"/>
            </a:endParaRPr>
          </a:p>
          <a:p>
            <a:pPr marL="342900" indent="-342900">
              <a:buFont typeface="Wingdings"/>
              <a:buChar char="v"/>
              <a:tabLst>
                <a:tab pos="469265" algn="l"/>
                <a:tab pos="469900" algn="l"/>
              </a:tabLst>
            </a:pPr>
            <a:endParaRPr lang="en-US" sz="2500">
              <a:latin typeface="Times New Roman" panose="02020603050405020304" pitchFamily="18" charset="0"/>
              <a:cs typeface="Times New Roman" panose="02020603050405020304" pitchFamily="18" charset="0"/>
            </a:endParaRPr>
          </a:p>
          <a:p>
            <a:pPr marL="342900" indent="-342900">
              <a:buFont typeface="Wingdings"/>
              <a:buChar char="v"/>
              <a:tabLst>
                <a:tab pos="469265" algn="l"/>
                <a:tab pos="469900" algn="l"/>
              </a:tabLst>
            </a:pPr>
            <a:endParaRPr lang="en-US" sz="2500">
              <a:latin typeface="Times New Roman" panose="02020603050405020304" pitchFamily="18" charset="0"/>
              <a:cs typeface="Times New Roman" panose="02020603050405020304" pitchFamily="18" charset="0"/>
            </a:endParaRPr>
          </a:p>
          <a:p>
            <a:pPr marL="342900" indent="-342900">
              <a:buFont typeface="Wingdings"/>
              <a:buChar char="v"/>
              <a:tabLst>
                <a:tab pos="469265" algn="l"/>
                <a:tab pos="469900" algn="l"/>
              </a:tabLst>
            </a:pPr>
            <a:r>
              <a:rPr lang="en-US" sz="2500" dirty="0">
                <a:latin typeface="Times New Roman"/>
                <a:cs typeface="Times New Roman"/>
              </a:rPr>
              <a:t>Complete Training of AI model for Anemia Prediction</a:t>
            </a:r>
            <a:endParaRPr lang="en-US" sz="25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a:cs typeface="Times New Roman"/>
              </a:rPr>
              <a:t>                                             </a:t>
            </a: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extLst>
      <p:ext uri="{BB962C8B-B14F-4D97-AF65-F5344CB8AC3E}">
        <p14:creationId xmlns:p14="http://schemas.microsoft.com/office/powerpoint/2010/main" val="3244394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84EE6-325F-86B5-378B-9EFB62D061A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2A5F76B-2D29-81C1-2722-A39F7671D437}"/>
              </a:ext>
            </a:extLst>
          </p:cNvPr>
          <p:cNvSpPr txBox="1">
            <a:spLocks noGrp="1"/>
          </p:cNvSpPr>
          <p:nvPr>
            <p:ph type="title"/>
          </p:nvPr>
        </p:nvSpPr>
        <p:spPr>
          <a:xfrm>
            <a:off x="0" y="567685"/>
            <a:ext cx="11030284" cy="751205"/>
          </a:xfrm>
          <a:prstGeom prst="rect">
            <a:avLst/>
          </a:prstGeom>
        </p:spPr>
        <p:txBody>
          <a:bodyPr vert="horz" wrap="square" lIns="0" tIns="12700" rIns="0" bIns="0" rtlCol="0" anchor="t">
            <a:spAutoFit/>
          </a:bodyPr>
          <a:lstStyle/>
          <a:p>
            <a:pPr marL="12700" algn="ctr">
              <a:lnSpc>
                <a:spcPct val="100000"/>
              </a:lnSpc>
              <a:spcBef>
                <a:spcPts val="100"/>
              </a:spcBef>
            </a:pPr>
            <a:r>
              <a:rPr lang="en-US" sz="4800" spc="-95">
                <a:latin typeface="Times New Roman"/>
                <a:cs typeface="Times New Roman"/>
              </a:rPr>
              <a:t>CONCLUSION</a:t>
            </a:r>
            <a:endParaRPr lang="en-US" sz="4800" spc="-95">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ECAB964-6C8F-74BE-DC7C-13B47578AE2E}"/>
              </a:ext>
            </a:extLst>
          </p:cNvPr>
          <p:cNvSpPr txBox="1"/>
          <p:nvPr/>
        </p:nvSpPr>
        <p:spPr>
          <a:xfrm>
            <a:off x="-7160" y="1919757"/>
            <a:ext cx="10707720" cy="54784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v"/>
            </a:pPr>
            <a:r>
              <a:rPr lang="en-US" sz="2500">
                <a:latin typeface="TimesNewRomanPS-BoldMT"/>
              </a:rPr>
              <a:t>The wearable device provides a practical solution for monitoring pregnant women in Ghana, using advanced sensors and AI to track vital signs and detect complications like preeclampsia, anemia and gestational diabetes early.</a:t>
            </a:r>
            <a:endParaRPr lang="en-US">
              <a:latin typeface="Calibri"/>
              <a:ea typeface="Calibri"/>
              <a:cs typeface="Calibri"/>
            </a:endParaRPr>
          </a:p>
          <a:p>
            <a:pPr marL="342900" indent="-342900">
              <a:buFont typeface="Wingdings"/>
              <a:buChar char="v"/>
            </a:pPr>
            <a:endParaRPr lang="en-US" sz="2500">
              <a:latin typeface="TimesNewRomanPS-BoldMT"/>
              <a:ea typeface="Calibri"/>
              <a:cs typeface="Calibri"/>
            </a:endParaRPr>
          </a:p>
          <a:p>
            <a:pPr marL="342900" indent="-342900">
              <a:buFont typeface="Wingdings"/>
              <a:buChar char="v"/>
            </a:pPr>
            <a:endParaRPr lang="en-US" sz="2500">
              <a:latin typeface="TimesNewRomanPS-BoldMT"/>
              <a:ea typeface="Calibri"/>
              <a:cs typeface="Calibri"/>
            </a:endParaRPr>
          </a:p>
          <a:p>
            <a:pPr marL="342900" indent="-342900">
              <a:buFont typeface="Wingdings"/>
              <a:buChar char="v"/>
            </a:pPr>
            <a:r>
              <a:rPr lang="en-US" sz="2500">
                <a:latin typeface="Times New Roman"/>
                <a:ea typeface="+mn-lt"/>
                <a:cs typeface="Times New Roman"/>
              </a:rPr>
              <a:t>The mobile app enhances care for pregnant women by offering real-time data, alerts about health risks, and appointment scheduling, ensuring better communication with healthcare providers.</a:t>
            </a:r>
            <a:endParaRPr lang="en-US" sz="2500" b="1">
              <a:latin typeface="Times New Roman"/>
              <a:cs typeface="Times New Roman"/>
            </a:endParaRPr>
          </a:p>
          <a:p>
            <a:pPr marL="342900" indent="-342900">
              <a:buFont typeface="Wingdings"/>
              <a:buChar char="v"/>
            </a:pPr>
            <a:endParaRPr lang="en-US" sz="2500">
              <a:latin typeface="Times New Roman"/>
              <a:ea typeface="Calibri"/>
              <a:cs typeface="Times New Roman"/>
            </a:endParaRPr>
          </a:p>
          <a:p>
            <a:pPr marL="342900" indent="-342900">
              <a:buFont typeface="Wingdings"/>
              <a:buChar char="v"/>
            </a:pPr>
            <a:endParaRPr lang="en-US" sz="2500">
              <a:latin typeface="Times New Roman"/>
              <a:ea typeface="Calibri"/>
              <a:cs typeface="Times New Roman"/>
            </a:endParaRPr>
          </a:p>
          <a:p>
            <a:pPr marL="342900" indent="-342900">
              <a:buFont typeface="Wingdings"/>
              <a:buChar char="v"/>
            </a:pPr>
            <a:r>
              <a:rPr lang="en-US" sz="2500">
                <a:latin typeface="Times New Roman"/>
                <a:ea typeface="Calibri"/>
                <a:cs typeface="Times New Roman"/>
              </a:rPr>
              <a:t>This project addresses critical gaps in maternal healthcare and contributes to global efforts to reduce maternal and child mortality rates.</a:t>
            </a:r>
            <a:endParaRPr lang="en-US" sz="2500">
              <a:latin typeface="Times New Roman"/>
              <a:cs typeface="Times New Roman"/>
            </a:endParaRPr>
          </a:p>
          <a:p>
            <a:endParaRPr lang="en-US" sz="2500">
              <a:latin typeface="Times New Roman"/>
              <a:ea typeface="Calibri"/>
              <a:cs typeface="Times New Roman"/>
            </a:endParaRPr>
          </a:p>
          <a:p>
            <a:endParaRPr lang="en-US" sz="2500">
              <a:latin typeface="TimesNewRomanPS-BoldMT"/>
              <a:ea typeface="Calibri"/>
              <a:cs typeface="Calibri"/>
            </a:endParaRPr>
          </a:p>
        </p:txBody>
      </p:sp>
    </p:spTree>
    <p:extLst>
      <p:ext uri="{BB962C8B-B14F-4D97-AF65-F5344CB8AC3E}">
        <p14:creationId xmlns:p14="http://schemas.microsoft.com/office/powerpoint/2010/main" val="30653972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619CC-AD42-E901-AC06-1F71AD1F24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273D4E3-690D-B33F-2D28-4CB90B853D54}"/>
              </a:ext>
            </a:extLst>
          </p:cNvPr>
          <p:cNvSpPr txBox="1">
            <a:spLocks noGrp="1"/>
          </p:cNvSpPr>
          <p:nvPr>
            <p:ph type="title"/>
          </p:nvPr>
        </p:nvSpPr>
        <p:spPr>
          <a:xfrm>
            <a:off x="0" y="567685"/>
            <a:ext cx="11030284" cy="1490152"/>
          </a:xfrm>
          <a:prstGeom prst="rect">
            <a:avLst/>
          </a:prstGeom>
        </p:spPr>
        <p:txBody>
          <a:bodyPr vert="horz" wrap="square" lIns="0" tIns="12700" rIns="0" bIns="0" rtlCol="0" anchor="t">
            <a:spAutoFit/>
          </a:bodyPr>
          <a:lstStyle/>
          <a:p>
            <a:pPr marL="12700" algn="ctr">
              <a:spcBef>
                <a:spcPts val="100"/>
              </a:spcBef>
            </a:pPr>
            <a:r>
              <a:rPr lang="en-US" sz="4800" spc="-95">
                <a:latin typeface="Times New Roman"/>
                <a:cs typeface="Times New Roman"/>
              </a:rPr>
              <a:t>REFERENCES</a:t>
            </a:r>
            <a:br>
              <a:rPr lang="en-US" sz="4800" spc="-95">
                <a:latin typeface="Times New Roman"/>
                <a:cs typeface="Times New Roman"/>
              </a:rPr>
            </a:br>
            <a:endParaRPr lang="en-US" sz="4800" spc="-95">
              <a:latin typeface="Times New Roman"/>
              <a:cs typeface="Times New Roman"/>
            </a:endParaRPr>
          </a:p>
        </p:txBody>
      </p:sp>
      <p:sp>
        <p:nvSpPr>
          <p:cNvPr id="7" name="object 3">
            <a:extLst>
              <a:ext uri="{FF2B5EF4-FFF2-40B4-BE49-F238E27FC236}">
                <a16:creationId xmlns:a16="http://schemas.microsoft.com/office/drawing/2014/main" id="{F6A2E820-75C9-31CB-780C-EFD057F8A159}"/>
              </a:ext>
            </a:extLst>
          </p:cNvPr>
          <p:cNvSpPr txBox="1"/>
          <p:nvPr/>
        </p:nvSpPr>
        <p:spPr>
          <a:xfrm>
            <a:off x="0" y="1925053"/>
            <a:ext cx="10693400" cy="10390601"/>
          </a:xfrm>
          <a:prstGeom prst="rect">
            <a:avLst/>
          </a:prstGeom>
        </p:spPr>
        <p:txBody>
          <a:bodyPr vert="horz" wrap="square" lIns="0" tIns="216535" rIns="0" bIns="0" rtlCol="0" anchor="t">
            <a:spAutoFit/>
          </a:bodyPr>
          <a:lstStyle/>
          <a:p>
            <a:pPr>
              <a:tabLst>
                <a:tab pos="469265" algn="l"/>
                <a:tab pos="469900" algn="l"/>
              </a:tabLst>
            </a:pPr>
            <a:r>
              <a:rPr lang="en-US" sz="2500">
                <a:latin typeface="Times New Roman"/>
                <a:cs typeface="Times New Roman"/>
              </a:rPr>
              <a:t>[1] </a:t>
            </a:r>
            <a:r>
              <a:rPr lang="en-US" sz="2500">
                <a:latin typeface="Times New Roman"/>
                <a:ea typeface="+mn-lt"/>
                <a:cs typeface="+mn-lt"/>
              </a:rPr>
              <a:t>T. Tabassum, S. Podder, and S. T. S. Rafid, "A Comprehensive Framework for </a:t>
            </a:r>
            <a:endParaRPr lang="en-US" sz="2500">
              <a:latin typeface="Times New Roman"/>
              <a:cs typeface="Times New Roman"/>
            </a:endParaRPr>
          </a:p>
          <a:p>
            <a:pPr>
              <a:tabLst>
                <a:tab pos="469265" algn="l"/>
                <a:tab pos="469900" algn="l"/>
              </a:tabLst>
            </a:pPr>
            <a:r>
              <a:rPr lang="en-US" sz="2500">
                <a:latin typeface="Times New Roman"/>
                <a:ea typeface="+mn-lt"/>
                <a:cs typeface="+mn-lt"/>
              </a:rPr>
              <a:t>Wearable Module for Prenatal Health Monitoring and Risk Detection," </a:t>
            </a:r>
            <a:r>
              <a:rPr lang="en-US" sz="2500" i="1">
                <a:latin typeface="Times New Roman"/>
                <a:ea typeface="+mn-lt"/>
                <a:cs typeface="+mn-lt"/>
              </a:rPr>
              <a:t>IEEE Int. Conf. Women </a:t>
            </a:r>
            <a:r>
              <a:rPr lang="en-US" sz="2500" i="1" err="1">
                <a:latin typeface="Times New Roman"/>
                <a:ea typeface="+mn-lt"/>
                <a:cs typeface="+mn-lt"/>
              </a:rPr>
              <a:t>Innov</a:t>
            </a:r>
            <a:r>
              <a:rPr lang="en-US" sz="2500" i="1">
                <a:latin typeface="Times New Roman"/>
                <a:ea typeface="+mn-lt"/>
                <a:cs typeface="+mn-lt"/>
              </a:rPr>
              <a:t>., Technol. Entrepreneurship (ICWITE)</a:t>
            </a:r>
            <a:r>
              <a:rPr lang="en-US" sz="2500">
                <a:latin typeface="Times New Roman"/>
                <a:ea typeface="+mn-lt"/>
                <a:cs typeface="+mn-lt"/>
              </a:rPr>
              <a:t>, pp. 283-288, 2024.</a:t>
            </a:r>
            <a:endParaRPr lang="en-US" sz="2500">
              <a:latin typeface="Times New Roman"/>
              <a:cs typeface="Times New Roman"/>
            </a:endParaRPr>
          </a:p>
          <a:p>
            <a:pPr>
              <a:tabLst>
                <a:tab pos="469265" algn="l"/>
                <a:tab pos="469900" algn="l"/>
              </a:tabLst>
            </a:pPr>
            <a:endParaRPr lang="en-US" sz="2500">
              <a:latin typeface="Times New Roman"/>
              <a:ea typeface="Calibri"/>
              <a:cs typeface="Calibri"/>
            </a:endParaRPr>
          </a:p>
          <a:p>
            <a:pPr>
              <a:tabLst>
                <a:tab pos="469265" algn="l"/>
                <a:tab pos="469900" algn="l"/>
              </a:tabLst>
            </a:pPr>
            <a:r>
              <a:rPr lang="en-US" sz="2500">
                <a:latin typeface="Times New Roman"/>
                <a:ea typeface="Calibri"/>
                <a:cs typeface="Calibri"/>
              </a:rPr>
              <a:t>[2] </a:t>
            </a:r>
            <a:r>
              <a:rPr lang="en-US" sz="2500">
                <a:latin typeface="Times New Roman"/>
                <a:ea typeface="+mn-lt"/>
                <a:cs typeface="+mn-lt"/>
              </a:rPr>
              <a:t>Y. K. Wiafe, A. Asamoah, P. Akweongo, and A. Kumah, "Factors Affecting Pregnancy Complications in Ghana," </a:t>
            </a:r>
            <a:r>
              <a:rPr lang="en-US" sz="2500" i="1">
                <a:latin typeface="Times New Roman"/>
                <a:ea typeface="+mn-lt"/>
                <a:cs typeface="+mn-lt"/>
              </a:rPr>
              <a:t>Global J. Quality Safety Healthcare</a:t>
            </a:r>
            <a:r>
              <a:rPr lang="en-US" sz="2500">
                <a:latin typeface="Times New Roman"/>
                <a:ea typeface="+mn-lt"/>
                <a:cs typeface="+mn-lt"/>
              </a:rPr>
              <a:t>, vol. 7, no. 4, pp. 156-161, 2024.</a:t>
            </a:r>
            <a:endParaRPr lang="en-US" sz="2500">
              <a:latin typeface="Times New Roman"/>
              <a:cs typeface="Times New Roman"/>
            </a:endParaRPr>
          </a:p>
          <a:p>
            <a:pPr>
              <a:tabLst>
                <a:tab pos="469265" algn="l"/>
                <a:tab pos="469900" algn="l"/>
              </a:tabLst>
            </a:pPr>
            <a:endParaRPr lang="en-US" sz="2500">
              <a:latin typeface="Times New Roman"/>
              <a:ea typeface="Calibri"/>
              <a:cs typeface="Calibri"/>
            </a:endParaRPr>
          </a:p>
          <a:p>
            <a:pPr>
              <a:tabLst>
                <a:tab pos="469265" algn="l"/>
                <a:tab pos="469900" algn="l"/>
              </a:tabLst>
            </a:pPr>
            <a:r>
              <a:rPr lang="en-US" sz="2500">
                <a:latin typeface="Times New Roman"/>
                <a:ea typeface="Calibri"/>
                <a:cs typeface="Calibri"/>
              </a:rPr>
              <a:t>[3] </a:t>
            </a:r>
            <a:r>
              <a:rPr lang="en-US" sz="2500">
                <a:latin typeface="Times New Roman"/>
                <a:ea typeface="+mn-lt"/>
                <a:cs typeface="+mn-lt"/>
              </a:rPr>
              <a:t>B. D. B. Lopez, J. A. A. Aguirre, D. A. R. Coronado, and P. A. Gonzalez, "Wearable technology model to control and monitor hypertension during pregnancy," </a:t>
            </a:r>
            <a:r>
              <a:rPr lang="en-US" sz="2500" i="1">
                <a:latin typeface="Times New Roman"/>
                <a:ea typeface="+mn-lt"/>
                <a:cs typeface="+mn-lt"/>
              </a:rPr>
              <a:t>Proc. IEEE</a:t>
            </a:r>
            <a:r>
              <a:rPr lang="en-US" sz="2500">
                <a:latin typeface="Times New Roman"/>
                <a:ea typeface="+mn-lt"/>
                <a:cs typeface="+mn-lt"/>
              </a:rPr>
              <a:t>, Lima, Peru, 2017</a:t>
            </a:r>
            <a:endParaRPr lang="en-US" sz="2500">
              <a:latin typeface="Times New Roman"/>
              <a:cs typeface="Times New Roman"/>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a:cs typeface="Times New Roman"/>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extLst>
      <p:ext uri="{BB962C8B-B14F-4D97-AF65-F5344CB8AC3E}">
        <p14:creationId xmlns:p14="http://schemas.microsoft.com/office/powerpoint/2010/main" val="7805972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CC3F-9043-B186-2E93-1BAD2EB9613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037283E-BA99-518E-E9C0-84373B6FC9F2}"/>
              </a:ext>
            </a:extLst>
          </p:cNvPr>
          <p:cNvSpPr txBox="1">
            <a:spLocks noGrp="1"/>
          </p:cNvSpPr>
          <p:nvPr>
            <p:ph type="title"/>
          </p:nvPr>
        </p:nvSpPr>
        <p:spPr>
          <a:xfrm>
            <a:off x="0" y="567685"/>
            <a:ext cx="11030284" cy="1490152"/>
          </a:xfrm>
          <a:prstGeom prst="rect">
            <a:avLst/>
          </a:prstGeom>
        </p:spPr>
        <p:txBody>
          <a:bodyPr vert="horz" wrap="square" lIns="0" tIns="12700" rIns="0" bIns="0" rtlCol="0" anchor="t">
            <a:spAutoFit/>
          </a:bodyPr>
          <a:lstStyle/>
          <a:p>
            <a:pPr marL="12700" algn="ctr">
              <a:spcBef>
                <a:spcPts val="100"/>
              </a:spcBef>
            </a:pPr>
            <a:r>
              <a:rPr lang="en-US" sz="4800" spc="-95">
                <a:latin typeface="Times New Roman"/>
                <a:cs typeface="Times New Roman"/>
              </a:rPr>
              <a:t>REFERENCES</a:t>
            </a:r>
            <a:br>
              <a:rPr lang="en-US" sz="4800" spc="-95">
                <a:latin typeface="Times New Roman"/>
                <a:cs typeface="Times New Roman"/>
              </a:rPr>
            </a:br>
            <a:endParaRPr lang="en-US" sz="4800" spc="-95">
              <a:latin typeface="Times New Roman"/>
              <a:cs typeface="Times New Roman"/>
            </a:endParaRPr>
          </a:p>
        </p:txBody>
      </p:sp>
      <p:sp>
        <p:nvSpPr>
          <p:cNvPr id="7" name="object 3">
            <a:extLst>
              <a:ext uri="{FF2B5EF4-FFF2-40B4-BE49-F238E27FC236}">
                <a16:creationId xmlns:a16="http://schemas.microsoft.com/office/drawing/2014/main" id="{AE68AC13-F112-76B7-A12C-CF2787F1DF3B}"/>
              </a:ext>
            </a:extLst>
          </p:cNvPr>
          <p:cNvSpPr txBox="1"/>
          <p:nvPr/>
        </p:nvSpPr>
        <p:spPr>
          <a:xfrm>
            <a:off x="0" y="1925053"/>
            <a:ext cx="10693400" cy="13914643"/>
          </a:xfrm>
          <a:prstGeom prst="rect">
            <a:avLst/>
          </a:prstGeom>
        </p:spPr>
        <p:txBody>
          <a:bodyPr vert="horz" wrap="square" lIns="0" tIns="216535" rIns="0" bIns="0" rtlCol="0" anchor="t">
            <a:spAutoFit/>
          </a:bodyPr>
          <a:lstStyle/>
          <a:p>
            <a:pPr>
              <a:tabLst>
                <a:tab pos="469265" algn="l"/>
                <a:tab pos="469900" algn="l"/>
              </a:tabLst>
            </a:pPr>
            <a:r>
              <a:rPr lang="en-US" sz="2500">
                <a:latin typeface="Times New Roman"/>
                <a:cs typeface="Times New Roman"/>
              </a:rPr>
              <a:t>[4] </a:t>
            </a:r>
            <a:r>
              <a:rPr lang="en-US" sz="2500">
                <a:latin typeface="Times New Roman"/>
                <a:ea typeface="+mn-lt"/>
                <a:cs typeface="+mn-lt"/>
              </a:rPr>
              <a:t>T. Tabassum, S. Podder, and S. T. S. Rafid, "A Comprehensive Framework for </a:t>
            </a:r>
            <a:endParaRPr lang="en-US" sz="2500">
              <a:latin typeface="Times New Roman"/>
              <a:cs typeface="Times New Roman"/>
            </a:endParaRPr>
          </a:p>
          <a:p>
            <a:pPr>
              <a:tabLst>
                <a:tab pos="469265" algn="l"/>
                <a:tab pos="469900" algn="l"/>
              </a:tabLst>
            </a:pPr>
            <a:r>
              <a:rPr lang="en-US" sz="2500">
                <a:latin typeface="Times New Roman"/>
                <a:ea typeface="+mn-lt"/>
                <a:cs typeface="+mn-lt"/>
              </a:rPr>
              <a:t>Wearable Module for Prenatal Health Monitoring and Risk Detection," </a:t>
            </a:r>
            <a:r>
              <a:rPr lang="en-US" sz="2500" i="1">
                <a:latin typeface="Times New Roman"/>
                <a:ea typeface="+mn-lt"/>
                <a:cs typeface="+mn-lt"/>
              </a:rPr>
              <a:t>IEEE Int. Conf. Women </a:t>
            </a:r>
            <a:r>
              <a:rPr lang="en-US" sz="2500" i="1" err="1">
                <a:latin typeface="Times New Roman"/>
                <a:ea typeface="+mn-lt"/>
                <a:cs typeface="+mn-lt"/>
              </a:rPr>
              <a:t>Innov</a:t>
            </a:r>
            <a:r>
              <a:rPr lang="en-US" sz="2500" i="1">
                <a:latin typeface="Times New Roman"/>
                <a:ea typeface="+mn-lt"/>
                <a:cs typeface="+mn-lt"/>
              </a:rPr>
              <a:t>., Technol. Entrepreneurship (ICWITE)</a:t>
            </a:r>
            <a:r>
              <a:rPr lang="en-US" sz="2500">
                <a:latin typeface="Times New Roman"/>
                <a:ea typeface="+mn-lt"/>
                <a:cs typeface="+mn-lt"/>
              </a:rPr>
              <a:t>, pp. 283-288, 2024.</a:t>
            </a:r>
            <a:endParaRPr lang="en-US" sz="2500">
              <a:latin typeface="Times New Roman"/>
              <a:cs typeface="Times New Roman"/>
            </a:endParaRPr>
          </a:p>
          <a:p>
            <a:pPr>
              <a:tabLst>
                <a:tab pos="469265" algn="l"/>
                <a:tab pos="469900" algn="l"/>
              </a:tabLst>
            </a:pPr>
            <a:endParaRPr lang="en-US" sz="2500">
              <a:latin typeface="Times New Roman"/>
              <a:ea typeface="Calibri"/>
              <a:cs typeface="Calibri"/>
            </a:endParaRPr>
          </a:p>
          <a:p>
            <a:pPr>
              <a:tabLst>
                <a:tab pos="469265" algn="l"/>
                <a:tab pos="469900" algn="l"/>
              </a:tabLst>
            </a:pPr>
            <a:r>
              <a:rPr lang="en-US" sz="2500">
                <a:latin typeface="Times New Roman"/>
                <a:ea typeface="Calibri"/>
                <a:cs typeface="Calibri"/>
              </a:rPr>
              <a:t>[5] </a:t>
            </a:r>
            <a:r>
              <a:rPr lang="en-US" sz="2500">
                <a:latin typeface="Times New Roman"/>
                <a:ea typeface="+mn-lt"/>
                <a:cs typeface="+mn-lt"/>
              </a:rPr>
              <a:t>A. F. Hernández-Castañeda, R. Pardo-Gómez, M. Sierra-Sosa, and A. García-Ramos, "Explainable Early Prediction of Gestational Diabetes Biomarkers by Combining Medical Background and Wearable Devices: A Pilot Study With a Cohort Group," </a:t>
            </a:r>
            <a:r>
              <a:rPr lang="en-US" sz="2500" i="1">
                <a:latin typeface="Times New Roman"/>
                <a:ea typeface="+mn-lt"/>
                <a:cs typeface="+mn-lt"/>
              </a:rPr>
              <a:t>Sensors</a:t>
            </a:r>
            <a:r>
              <a:rPr lang="en-US" sz="2500">
                <a:latin typeface="Times New Roman"/>
                <a:ea typeface="+mn-lt"/>
                <a:cs typeface="+mn-lt"/>
              </a:rPr>
              <a:t>, vol. 22, no. 15, p. 5793, 2022</a:t>
            </a:r>
            <a:endParaRPr lang="en-US" sz="2500">
              <a:latin typeface="Times New Roman"/>
              <a:cs typeface="Times New Roman"/>
            </a:endParaRPr>
          </a:p>
          <a:p>
            <a:pPr>
              <a:tabLst>
                <a:tab pos="469265" algn="l"/>
                <a:tab pos="469900" algn="l"/>
              </a:tabLst>
            </a:pPr>
            <a:endParaRPr lang="en-US" sz="2500">
              <a:latin typeface="Times New Roman"/>
              <a:ea typeface="Calibri"/>
              <a:cs typeface="Calibri"/>
            </a:endParaRPr>
          </a:p>
          <a:p>
            <a:pPr>
              <a:tabLst>
                <a:tab pos="469265" algn="l"/>
                <a:tab pos="469900" algn="l"/>
              </a:tabLst>
            </a:pPr>
            <a:r>
              <a:rPr lang="en-US" sz="2500">
                <a:latin typeface="Times New Roman"/>
                <a:ea typeface="Calibri"/>
                <a:cs typeface="Calibri"/>
              </a:rPr>
              <a:t>[6] </a:t>
            </a:r>
            <a:r>
              <a:rPr lang="en-US" sz="2500">
                <a:latin typeface="Times New Roman"/>
                <a:ea typeface="+mn-lt"/>
                <a:cs typeface="+mn-lt"/>
              </a:rPr>
              <a:t>A. Kumar, D. Sharma, and V. Gupta, "Health Monitoring of Expecting Mothers using Multiple Sensor Approach: 'Preg Care'," in </a:t>
            </a:r>
            <a:r>
              <a:rPr lang="en-US" sz="2500" i="1">
                <a:latin typeface="Times New Roman"/>
                <a:ea typeface="+mn-lt"/>
                <a:cs typeface="+mn-lt"/>
              </a:rPr>
              <a:t>Proceedings of the 2nd International Conference on Advanced Information and Communication Technology (ICAICT)</a:t>
            </a:r>
            <a:r>
              <a:rPr lang="en-US" sz="2500">
                <a:latin typeface="Times New Roman"/>
                <a:ea typeface="+mn-lt"/>
                <a:cs typeface="+mn-lt"/>
              </a:rPr>
              <a:t>, 2020, pp. 77-82</a:t>
            </a:r>
            <a:endParaRPr lang="en-US" sz="2500">
              <a:latin typeface="Times New Roman"/>
              <a:cs typeface="Times New Roman"/>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Calibri"/>
              <a:ea typeface="Calibri"/>
              <a:cs typeface="Calibri"/>
            </a:endParaRPr>
          </a:p>
          <a:p>
            <a:pPr>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a:latin typeface="Times New Roman"/>
                <a:cs typeface="Times New Roman"/>
              </a:rPr>
              <a:t>                                             </a:t>
            </a: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a:latin typeface="Times New Roman" panose="02020603050405020304" pitchFamily="18" charset="0"/>
              <a:cs typeface="Times New Roman" panose="02020603050405020304" pitchFamily="18" charset="0"/>
            </a:endParaRPr>
          </a:p>
          <a:p>
            <a:pPr>
              <a:tabLst>
                <a:tab pos="469265" algn="l"/>
                <a:tab pos="469900" algn="l"/>
              </a:tabLst>
            </a:pPr>
            <a:endParaRPr lang="en-US" sz="220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a:latin typeface="Times New Roman" panose="02020603050405020304"/>
              <a:cs typeface="Calibri" panose="020F0502020204030204"/>
            </a:endParaRPr>
          </a:p>
        </p:txBody>
      </p:sp>
    </p:spTree>
    <p:extLst>
      <p:ext uri="{BB962C8B-B14F-4D97-AF65-F5344CB8AC3E}">
        <p14:creationId xmlns:p14="http://schemas.microsoft.com/office/powerpoint/2010/main" val="8730735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3700" y="3009970"/>
            <a:ext cx="10363200" cy="2477135"/>
          </a:xfrm>
        </p:spPr>
        <p:txBody>
          <a:bodyPr wrap="square" lIns="0" tIns="0" rIns="0" bIns="0" anchor="t">
            <a:spAutoFit/>
          </a:bodyPr>
          <a:lstStyle/>
          <a:p>
            <a:r>
              <a:rPr lang="en-GB" sz="2600"/>
              <a:t>                            </a:t>
            </a:r>
            <a:r>
              <a:rPr lang="en-US" altLang="en-GB" sz="8000" b="1"/>
              <a:t>      </a:t>
            </a:r>
            <a:r>
              <a:rPr lang="en-US" altLang="en-GB" sz="5500" b="1">
                <a:latin typeface="Times New Roman"/>
                <a:cs typeface="Times New Roman"/>
              </a:rPr>
              <a:t> THANK YOU!</a:t>
            </a:r>
            <a:endParaRPr lang="en-GB" sz="8000" b="1">
              <a:latin typeface="Times New Roman"/>
              <a:cs typeface="Times New Roman"/>
            </a:endParaRPr>
          </a:p>
          <a:p>
            <a:pPr algn="ctr"/>
            <a:r>
              <a:rPr lang="en-GB" sz="5500" b="1">
                <a:latin typeface="Times New Roman"/>
                <a:cs typeface="Times New Roman"/>
              </a:rPr>
              <a:t>QUESTIONS/FEEDBACK</a:t>
            </a:r>
          </a:p>
          <a:p>
            <a:pPr marL="457200" indent="-457200">
              <a:buFont typeface="Arial" panose="020B0604020202020204" pitchFamily="34" charset="0"/>
              <a:buChar char="•"/>
            </a:pPr>
            <a:endParaRPr lang="en-US" sz="26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42*355"/>
  <p:tag name="TABLE_ENDDRAG_RECT" val="0*151*842*35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48</Slides>
  <Notes>0</Notes>
  <HiddenSlides>0</HiddenSlide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DEVELOPMENT OF INTEGRATED WEARABLE DEVICE FOR REMOTE MONITORING OF PREGNANT WOMEN IN GHANA</vt:lpstr>
      <vt:lpstr>COLLABORATORS</vt:lpstr>
      <vt:lpstr>        PRESENTATION OUTLINE</vt:lpstr>
      <vt:lpstr>BACKGROUND</vt:lpstr>
      <vt:lpstr>PROBLEM STATEMENT</vt:lpstr>
      <vt:lpstr>RELEVANCE OF WORK</vt:lpstr>
      <vt:lpstr>                            PROJECT OBJECTIVES</vt:lpstr>
      <vt:lpstr>                  FUNCTIONAL REQUIREMENTS</vt:lpstr>
      <vt:lpstr>                 NON-FUNCTIONAL REQUIREMENTS</vt:lpstr>
      <vt:lpstr>                                 EXISTING  SOLUTIONS</vt:lpstr>
      <vt:lpstr>                                 EXISTING  SOLUTIONS</vt:lpstr>
      <vt:lpstr>                                 EXISTING  SOLUTIONS</vt:lpstr>
      <vt:lpstr>  FIELD VISIT TO KORLE-BU TEACHING HOSPITAL</vt:lpstr>
      <vt:lpstr>               PROPOSED  SYSTEM ARCHITECTURE  </vt:lpstr>
      <vt:lpstr>                                 </vt:lpstr>
      <vt:lpstr>PowerPoint Presentation</vt:lpstr>
      <vt:lpstr>MACHINE LEARNING WORKFLOW</vt:lpstr>
      <vt:lpstr>    PREECLAMPSIA  DATASET OVERVIEW</vt:lpstr>
      <vt:lpstr>PREECLAMPSIA FEATURES</vt:lpstr>
      <vt:lpstr>PREECLAMPSIA MODEL SELECTION</vt:lpstr>
      <vt:lpstr>TIME TAKEN (S)</vt:lpstr>
      <vt:lpstr>PREECLAMPSIA TESTING RESULTS</vt:lpstr>
      <vt:lpstr>PowerPoint Presentation</vt:lpstr>
      <vt:lpstr>PowerPoint Presentation</vt:lpstr>
      <vt:lpstr>PowerPoint Presentation</vt:lpstr>
      <vt:lpstr>PowerPoint Presentation</vt:lpstr>
      <vt:lpstr>PowerPoint Presentation</vt:lpstr>
      <vt:lpstr>QUANTITATIVE DATA GATHERING </vt:lpstr>
      <vt:lpstr>QUANTITATIVE DATA GATHERING </vt:lpstr>
      <vt:lpstr>QUANTITATIVE DATA GATHERING </vt:lpstr>
      <vt:lpstr>FLOW DIAGRAM OF MOBILE APP </vt:lpstr>
      <vt:lpstr>FLOW DIAGRAM OF MOBILE APP </vt:lpstr>
      <vt:lpstr>TOOLS AND TECHNOLOGIES USED </vt:lpstr>
      <vt:lpstr> REAL-TIME PREECLAMPSIA PREDICTIONS </vt:lpstr>
      <vt:lpstr> REAL-TIME GDM RISK ANALYSIS </vt:lpstr>
      <vt:lpstr>PowerPoint Presentation</vt:lpstr>
      <vt:lpstr>EXPECTED OUTCOME</vt:lpstr>
      <vt:lpstr>SIMULATION OF WRIST WEARABLE DEVICE</vt:lpstr>
      <vt:lpstr>REAL-TIME DATA FROM SIMULATION</vt:lpstr>
      <vt:lpstr>BILL OF MATERIALS</vt:lpstr>
      <vt:lpstr>POWER CONSUMPTION</vt:lpstr>
      <vt:lpstr>BATTERY LIFE CALCULATION</vt:lpstr>
      <vt:lpstr>VIDEO DEMO</vt:lpstr>
      <vt:lpstr>NEXT STEPS</vt:lpstr>
      <vt:lpstr>CONCLUSION</vt:lpstr>
      <vt:lpstr>REFERENCES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 Powerpoint template</dc:title>
  <dc:creator>Graham</dc:creator>
  <cp:revision>61</cp:revision>
  <dcterms:created xsi:type="dcterms:W3CDTF">2021-02-07T15:10:00Z</dcterms:created>
  <dcterms:modified xsi:type="dcterms:W3CDTF">2025-06-25T17:16:02Z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2014-10-29T22:00:00Z</vt:filetime>
  </property>
  <property fmtid="{D5CDD505-2E9C-101B-9397-08002B2CF9AE}" pid="3" name="Creator">
    <vt:lpwstr>CorelDRAW</vt:lpwstr>
  </property>
  <property fmtid="{D5CDD505-2E9C-101B-9397-08002B2CF9AE}" pid="4" name="LastSaved">
    <vt:filetime>2021-02-06T22:00:00Z</vt:filetime>
  </property>
  <property fmtid="{D5CDD505-2E9C-101B-9397-08002B2CF9AE}" pid="5" name="ICV">
    <vt:lpwstr>61EFDCB25254436A98EB8F47DF507C2F_13</vt:lpwstr>
  </property>
  <property fmtid="{D5CDD505-2E9C-101B-9397-08002B2CF9AE}" pid="6" name="KSOProductBuildVer">
    <vt:lpwstr>1033-12.2.0.21546</vt:lpwstr>
  </property>
</Properties>
</file>
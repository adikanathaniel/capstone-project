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0693400" cy="7569200"/>
  <p:notesSz cx="10693400" cy="7569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1919" y="695325"/>
            <a:ext cx="671575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90599" y="4194124"/>
            <a:ext cx="8174355" cy="863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-2946" y="2216023"/>
            <a:ext cx="4598035" cy="441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10371" y="1740916"/>
            <a:ext cx="4654391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765" cy="7560309"/>
          </a:xfrm>
          <a:custGeom>
            <a:avLst/>
            <a:gdLst/>
            <a:ahLst/>
            <a:cxnLst/>
            <a:rect l="l" t="t" r="r" b="b"/>
            <a:pathLst>
              <a:path w="10692765" h="7560309">
                <a:moveTo>
                  <a:pt x="10692257" y="1982546"/>
                </a:moveTo>
                <a:lnTo>
                  <a:pt x="0" y="1982546"/>
                </a:lnTo>
                <a:lnTo>
                  <a:pt x="0" y="7560005"/>
                </a:lnTo>
                <a:lnTo>
                  <a:pt x="10692257" y="7560005"/>
                </a:lnTo>
                <a:lnTo>
                  <a:pt x="10692257" y="1982546"/>
                </a:lnTo>
                <a:close/>
              </a:path>
              <a:path w="10692765" h="7560309">
                <a:moveTo>
                  <a:pt x="10692257" y="1874520"/>
                </a:moveTo>
                <a:lnTo>
                  <a:pt x="0" y="1874520"/>
                </a:lnTo>
                <a:lnTo>
                  <a:pt x="0" y="1878203"/>
                </a:lnTo>
                <a:lnTo>
                  <a:pt x="10692257" y="1878203"/>
                </a:lnTo>
                <a:lnTo>
                  <a:pt x="10692257" y="1874520"/>
                </a:lnTo>
                <a:close/>
              </a:path>
              <a:path w="10692765" h="7560309">
                <a:moveTo>
                  <a:pt x="10692257" y="0"/>
                </a:moveTo>
                <a:lnTo>
                  <a:pt x="0" y="0"/>
                </a:lnTo>
                <a:lnTo>
                  <a:pt x="0" y="325882"/>
                </a:lnTo>
                <a:lnTo>
                  <a:pt x="10692257" y="325882"/>
                </a:lnTo>
                <a:lnTo>
                  <a:pt x="10692257" y="0"/>
                </a:lnTo>
                <a:close/>
              </a:path>
            </a:pathLst>
          </a:custGeom>
          <a:solidFill>
            <a:srgbClr val="ED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429767"/>
            <a:ext cx="10692765" cy="1444625"/>
          </a:xfrm>
          <a:custGeom>
            <a:avLst/>
            <a:gdLst/>
            <a:ahLst/>
            <a:cxnLst/>
            <a:rect l="l" t="t" r="r" b="b"/>
            <a:pathLst>
              <a:path w="10692765" h="1444625">
                <a:moveTo>
                  <a:pt x="10692257" y="0"/>
                </a:moveTo>
                <a:lnTo>
                  <a:pt x="0" y="0"/>
                </a:lnTo>
                <a:lnTo>
                  <a:pt x="0" y="1444371"/>
                </a:lnTo>
                <a:lnTo>
                  <a:pt x="10692257" y="1444371"/>
                </a:lnTo>
                <a:lnTo>
                  <a:pt x="10692257" y="0"/>
                </a:lnTo>
                <a:close/>
              </a:path>
            </a:pathLst>
          </a:custGeom>
          <a:solidFill>
            <a:srgbClr val="282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765" cy="7560309"/>
          </a:xfrm>
          <a:custGeom>
            <a:avLst/>
            <a:gdLst/>
            <a:ahLst/>
            <a:cxnLst/>
            <a:rect l="l" t="t" r="r" b="b"/>
            <a:pathLst>
              <a:path w="10692765" h="7560309">
                <a:moveTo>
                  <a:pt x="10692257" y="1982546"/>
                </a:moveTo>
                <a:lnTo>
                  <a:pt x="0" y="1982546"/>
                </a:lnTo>
                <a:lnTo>
                  <a:pt x="0" y="7560005"/>
                </a:lnTo>
                <a:lnTo>
                  <a:pt x="10692257" y="7560005"/>
                </a:lnTo>
                <a:lnTo>
                  <a:pt x="10692257" y="1982546"/>
                </a:lnTo>
                <a:close/>
              </a:path>
              <a:path w="10692765" h="7560309">
                <a:moveTo>
                  <a:pt x="10692257" y="1874520"/>
                </a:moveTo>
                <a:lnTo>
                  <a:pt x="0" y="1874520"/>
                </a:lnTo>
                <a:lnTo>
                  <a:pt x="0" y="1878203"/>
                </a:lnTo>
                <a:lnTo>
                  <a:pt x="10692257" y="1878203"/>
                </a:lnTo>
                <a:lnTo>
                  <a:pt x="10692257" y="1874520"/>
                </a:lnTo>
                <a:close/>
              </a:path>
              <a:path w="10692765" h="7560309">
                <a:moveTo>
                  <a:pt x="10692257" y="0"/>
                </a:moveTo>
                <a:lnTo>
                  <a:pt x="0" y="0"/>
                </a:lnTo>
                <a:lnTo>
                  <a:pt x="0" y="325882"/>
                </a:lnTo>
                <a:lnTo>
                  <a:pt x="10692257" y="325882"/>
                </a:lnTo>
                <a:lnTo>
                  <a:pt x="10692257" y="0"/>
                </a:lnTo>
                <a:close/>
              </a:path>
            </a:pathLst>
          </a:custGeom>
          <a:solidFill>
            <a:srgbClr val="ED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429767"/>
            <a:ext cx="10692765" cy="1444625"/>
          </a:xfrm>
          <a:custGeom>
            <a:avLst/>
            <a:gdLst/>
            <a:ahLst/>
            <a:cxnLst/>
            <a:rect l="l" t="t" r="r" b="b"/>
            <a:pathLst>
              <a:path w="10692765" h="1444625">
                <a:moveTo>
                  <a:pt x="10692257" y="0"/>
                </a:moveTo>
                <a:lnTo>
                  <a:pt x="0" y="0"/>
                </a:lnTo>
                <a:lnTo>
                  <a:pt x="0" y="1444371"/>
                </a:lnTo>
                <a:lnTo>
                  <a:pt x="10692257" y="1444371"/>
                </a:lnTo>
                <a:lnTo>
                  <a:pt x="10692257" y="0"/>
                </a:lnTo>
                <a:close/>
              </a:path>
            </a:pathLst>
          </a:custGeom>
          <a:solidFill>
            <a:srgbClr val="282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326161"/>
            <a:ext cx="10692765" cy="1656714"/>
          </a:xfrm>
          <a:custGeom>
            <a:avLst/>
            <a:gdLst/>
            <a:ahLst/>
            <a:cxnLst/>
            <a:rect l="l" t="t" r="r" b="b"/>
            <a:pathLst>
              <a:path w="10692765" h="1656714">
                <a:moveTo>
                  <a:pt x="10692257" y="1552194"/>
                </a:moveTo>
                <a:lnTo>
                  <a:pt x="0" y="1552194"/>
                </a:lnTo>
                <a:lnTo>
                  <a:pt x="0" y="1656562"/>
                </a:lnTo>
                <a:lnTo>
                  <a:pt x="10692257" y="1656562"/>
                </a:lnTo>
                <a:lnTo>
                  <a:pt x="10692257" y="1552194"/>
                </a:lnTo>
                <a:close/>
              </a:path>
              <a:path w="10692765" h="1656714">
                <a:moveTo>
                  <a:pt x="10692257" y="0"/>
                </a:moveTo>
                <a:lnTo>
                  <a:pt x="0" y="0"/>
                </a:lnTo>
                <a:lnTo>
                  <a:pt x="0" y="104368"/>
                </a:lnTo>
                <a:lnTo>
                  <a:pt x="10692257" y="104368"/>
                </a:lnTo>
                <a:lnTo>
                  <a:pt x="10692257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429767"/>
            <a:ext cx="10699750" cy="144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9318" y="2223897"/>
            <a:ext cx="9821113" cy="4719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7915" y="7039356"/>
            <a:ext cx="3423920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987" y="7039356"/>
            <a:ext cx="246094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703820" y="7039356"/>
            <a:ext cx="246094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edgeaifoundation.org/" TargetMode="Externa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0692765" cy="5039995"/>
            <a:chOff x="0" y="0"/>
            <a:chExt cx="10692765" cy="5039995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10692765" cy="4721225"/>
            </a:xfrm>
            <a:custGeom>
              <a:avLst/>
              <a:gdLst/>
              <a:ahLst/>
              <a:cxnLst/>
              <a:rect l="l" t="t" r="r" b="b"/>
              <a:pathLst>
                <a:path w="10692765" h="4721225">
                  <a:moveTo>
                    <a:pt x="10692257" y="0"/>
                  </a:moveTo>
                  <a:lnTo>
                    <a:pt x="0" y="0"/>
                  </a:lnTo>
                  <a:lnTo>
                    <a:pt x="0" y="4720971"/>
                  </a:lnTo>
                  <a:lnTo>
                    <a:pt x="10692257" y="4720971"/>
                  </a:lnTo>
                  <a:lnTo>
                    <a:pt x="10692257" y="0"/>
                  </a:lnTo>
                  <a:close/>
                </a:path>
              </a:pathLst>
            </a:custGeom>
            <a:solidFill>
              <a:srgbClr val="282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4719891"/>
              <a:ext cx="10692765" cy="320040"/>
            </a:xfrm>
            <a:custGeom>
              <a:avLst/>
              <a:gdLst/>
              <a:ahLst/>
              <a:cxnLst/>
              <a:rect l="l" t="t" r="r" b="b"/>
              <a:pathLst>
                <a:path w="10692765" h="320039">
                  <a:moveTo>
                    <a:pt x="10692257" y="0"/>
                  </a:moveTo>
                  <a:lnTo>
                    <a:pt x="0" y="0"/>
                  </a:lnTo>
                  <a:lnTo>
                    <a:pt x="0" y="319849"/>
                  </a:lnTo>
                  <a:lnTo>
                    <a:pt x="10692257" y="319849"/>
                  </a:lnTo>
                  <a:lnTo>
                    <a:pt x="10692257" y="0"/>
                  </a:lnTo>
                  <a:close/>
                </a:path>
              </a:pathLst>
            </a:custGeom>
            <a:solidFill>
              <a:srgbClr val="D2AB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0822" y="239648"/>
            <a:ext cx="10027285" cy="19462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635">
              <a:lnSpc>
                <a:spcPct val="100000"/>
              </a:lnSpc>
              <a:spcBef>
                <a:spcPts val="100"/>
              </a:spcBef>
              <a:tabLst>
                <a:tab pos="4322445" algn="l"/>
                <a:tab pos="4695190" algn="l"/>
                <a:tab pos="5196205" algn="l"/>
                <a:tab pos="7821295" algn="l"/>
              </a:tabLst>
            </a:pPr>
            <a:r>
              <a:rPr dirty="0" sz="4200" spc="-10"/>
              <a:t>DEVELOPMENT</a:t>
            </a:r>
            <a:r>
              <a:rPr dirty="0" sz="4200"/>
              <a:t>	</a:t>
            </a:r>
            <a:r>
              <a:rPr dirty="0" sz="4200" spc="-25"/>
              <a:t>OF</a:t>
            </a:r>
            <a:r>
              <a:rPr dirty="0" sz="4200"/>
              <a:t>	</a:t>
            </a:r>
            <a:r>
              <a:rPr dirty="0" sz="4200" spc="-10"/>
              <a:t>INTEGRATED </a:t>
            </a:r>
            <a:r>
              <a:rPr dirty="0" sz="4200"/>
              <a:t>WEARABLE</a:t>
            </a:r>
            <a:r>
              <a:rPr dirty="0" sz="4200" spc="-50"/>
              <a:t> </a:t>
            </a:r>
            <a:r>
              <a:rPr dirty="0" sz="4200"/>
              <a:t>DEVICE</a:t>
            </a:r>
            <a:r>
              <a:rPr dirty="0" sz="4200" spc="-40"/>
              <a:t> </a:t>
            </a:r>
            <a:r>
              <a:rPr dirty="0" sz="4200"/>
              <a:t>FOR</a:t>
            </a:r>
            <a:r>
              <a:rPr dirty="0" sz="4200" spc="-55"/>
              <a:t> </a:t>
            </a:r>
            <a:r>
              <a:rPr dirty="0" sz="4200" spc="-10"/>
              <a:t>REMOTE </a:t>
            </a:r>
            <a:r>
              <a:rPr dirty="0" sz="4200"/>
              <a:t>MONITORING</a:t>
            </a:r>
            <a:r>
              <a:rPr dirty="0" sz="4200" spc="-110"/>
              <a:t> </a:t>
            </a:r>
            <a:r>
              <a:rPr dirty="0" sz="4200" spc="-25"/>
              <a:t>OF</a:t>
            </a:r>
            <a:r>
              <a:rPr dirty="0" sz="4200"/>
              <a:t>	</a:t>
            </a:r>
            <a:r>
              <a:rPr dirty="0" sz="4200" spc="-10"/>
              <a:t>PREGNANT</a:t>
            </a:r>
            <a:r>
              <a:rPr dirty="0" sz="4200"/>
              <a:t>	</a:t>
            </a:r>
            <a:r>
              <a:rPr dirty="0" sz="4200" spc="-10"/>
              <a:t>WOMEN</a:t>
            </a:r>
            <a:endParaRPr sz="4200"/>
          </a:p>
        </p:txBody>
      </p:sp>
      <p:sp>
        <p:nvSpPr>
          <p:cNvPr id="6" name="object 6" descr=""/>
          <p:cNvSpPr txBox="1"/>
          <p:nvPr/>
        </p:nvSpPr>
        <p:spPr>
          <a:xfrm>
            <a:off x="3925315" y="2160270"/>
            <a:ext cx="273748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8505" algn="l"/>
              </a:tabLst>
            </a:pPr>
            <a:r>
              <a:rPr dirty="0" sz="4200" spc="-25" b="1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42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4200" spc="-10" b="1">
                <a:solidFill>
                  <a:srgbClr val="FFFFFF"/>
                </a:solidFill>
                <a:latin typeface="Times New Roman"/>
                <a:cs typeface="Times New Roman"/>
              </a:rPr>
              <a:t>GHANA</a:t>
            </a:r>
            <a:endParaRPr sz="4200">
              <a:latin typeface="Times New Roman"/>
              <a:cs typeface="Times New Roma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376" y="5644896"/>
            <a:ext cx="1097280" cy="131825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146173" y="5899810"/>
            <a:ext cx="6483985" cy="680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300" spc="-85" b="1">
                <a:solidFill>
                  <a:srgbClr val="282781"/>
                </a:solidFill>
                <a:latin typeface="Times New Roman"/>
                <a:cs typeface="Times New Roman"/>
              </a:rPr>
              <a:t>UNIVERSITY</a:t>
            </a:r>
            <a:r>
              <a:rPr dirty="0" sz="4300" spc="-315" b="1">
                <a:solidFill>
                  <a:srgbClr val="282781"/>
                </a:solidFill>
                <a:latin typeface="Times New Roman"/>
                <a:cs typeface="Times New Roman"/>
              </a:rPr>
              <a:t> </a:t>
            </a:r>
            <a:r>
              <a:rPr dirty="0" sz="4300" b="1">
                <a:solidFill>
                  <a:srgbClr val="282781"/>
                </a:solidFill>
                <a:latin typeface="Times New Roman"/>
                <a:cs typeface="Times New Roman"/>
              </a:rPr>
              <a:t>OF</a:t>
            </a:r>
            <a:r>
              <a:rPr dirty="0" sz="4300" spc="190" b="1">
                <a:solidFill>
                  <a:srgbClr val="282781"/>
                </a:solidFill>
                <a:latin typeface="Times New Roman"/>
                <a:cs typeface="Times New Roman"/>
              </a:rPr>
              <a:t> </a:t>
            </a:r>
            <a:r>
              <a:rPr dirty="0" sz="4300" spc="95" b="1">
                <a:solidFill>
                  <a:srgbClr val="282781"/>
                </a:solidFill>
                <a:latin typeface="Times New Roman"/>
                <a:cs typeface="Times New Roman"/>
              </a:rPr>
              <a:t>GHANA</a:t>
            </a:r>
            <a:endParaRPr sz="43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43941" y="2732658"/>
            <a:ext cx="21958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Group</a:t>
            </a:r>
            <a:r>
              <a:rPr dirty="0" u="sng" sz="2400" spc="-8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Members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18541" y="3098419"/>
            <a:ext cx="4558665" cy="1481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939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Owoh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Einsteina</a:t>
            </a:r>
            <a:r>
              <a:rPr dirty="0" sz="24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Ofunne</a:t>
            </a:r>
            <a:r>
              <a:rPr dirty="0" sz="2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10943874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Anane</a:t>
            </a:r>
            <a:r>
              <a:rPr dirty="0" sz="2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George</a:t>
            </a:r>
            <a:r>
              <a:rPr dirty="0" sz="2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Nyarko</a:t>
            </a:r>
            <a:r>
              <a:rPr dirty="0" sz="2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dirty="0" sz="2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10947340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Adika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Nathaniel</a:t>
            </a:r>
            <a:r>
              <a:rPr dirty="0" sz="2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 10957036</a:t>
            </a:r>
            <a:endParaRPr sz="2400">
              <a:latin typeface="Times New Roman"/>
              <a:cs typeface="Times New Roman"/>
            </a:endParaRPr>
          </a:p>
          <a:p>
            <a:pPr algn="r" marR="30480">
              <a:lnSpc>
                <a:spcPts val="2820"/>
              </a:lnSpc>
            </a:pPr>
            <a:r>
              <a:rPr dirty="0" sz="2400" spc="-45">
                <a:solidFill>
                  <a:srgbClr val="FFFFFF"/>
                </a:solidFill>
                <a:latin typeface="Times New Roman"/>
                <a:cs typeface="Times New Roman"/>
              </a:rPr>
              <a:t>DATE:</a:t>
            </a:r>
            <a:r>
              <a:rPr dirty="0" sz="24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dirty="0" baseline="24305" sz="2400" spc="-30">
                <a:solidFill>
                  <a:srgbClr val="FFFFFF"/>
                </a:solidFill>
                <a:latin typeface="Times New Roman"/>
                <a:cs typeface="Times New Roman"/>
              </a:rPr>
              <a:t>th</a:t>
            </a:r>
            <a:endParaRPr baseline="24305" sz="24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930902" y="4187774"/>
            <a:ext cx="19513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December,2024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102856" y="2666746"/>
            <a:ext cx="341693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57580">
              <a:lnSpc>
                <a:spcPct val="100000"/>
              </a:lnSpc>
              <a:spcBef>
                <a:spcPts val="100"/>
              </a:spcBef>
            </a:pPr>
            <a:r>
              <a:rPr dirty="0" u="sng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dirty="0" u="sng" sz="2400" spc="-8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Supervisor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Dr.</a:t>
            </a:r>
            <a:r>
              <a:rPr dirty="0" sz="24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Godfrey</a:t>
            </a:r>
            <a:r>
              <a:rPr dirty="0" sz="24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Mills </a:t>
            </a:r>
            <a:r>
              <a:rPr dirty="0" u="sng" sz="2400" spc="-2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Co-</a:t>
            </a:r>
            <a:r>
              <a:rPr dirty="0" u="sng" sz="2400" spc="-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Supervisor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Prof.</a:t>
            </a:r>
            <a:r>
              <a:rPr dirty="0" sz="2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Elsie</a:t>
            </a:r>
            <a:r>
              <a:rPr dirty="0" sz="24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Effah</a:t>
            </a:r>
            <a:r>
              <a:rPr dirty="0" sz="2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Kaufmann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8176" y="5559552"/>
            <a:ext cx="1303020" cy="13075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0" rIns="0" bIns="0" rtlCol="0" vert="horz">
            <a:spAutoFit/>
          </a:bodyPr>
          <a:lstStyle/>
          <a:p>
            <a:pPr marL="9525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COLLABORATORS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6809231"/>
            <a:ext cx="271272" cy="3246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-2946" y="2199258"/>
            <a:ext cx="6839584" cy="1066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37845" indent="-52514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537845" algn="l"/>
                <a:tab pos="1837055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Nathaniel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10" b="1">
                <a:latin typeface="Times New Roman"/>
                <a:cs typeface="Times New Roman"/>
              </a:rPr>
              <a:t>Sakyi</a:t>
            </a:r>
            <a:r>
              <a:rPr dirty="0" sz="2200" spc="-16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Adibuer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,</a:t>
            </a:r>
            <a:r>
              <a:rPr dirty="0" sz="2200" spc="-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IT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Consortium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spc="-50" b="1">
                <a:latin typeface="Times New Roman"/>
                <a:cs typeface="Times New Roman"/>
              </a:rPr>
              <a:t>Dr.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Richard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Dei</a:t>
            </a:r>
            <a:r>
              <a:rPr dirty="0" sz="2200" spc="-1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Asamoa,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Korle-</a:t>
            </a:r>
            <a:r>
              <a:rPr dirty="0" sz="2200" b="1">
                <a:latin typeface="Times New Roman"/>
                <a:cs typeface="Times New Roman"/>
              </a:rPr>
              <a:t>Bu</a:t>
            </a:r>
            <a:r>
              <a:rPr dirty="0" sz="2200" spc="-105" b="1">
                <a:latin typeface="Times New Roman"/>
                <a:cs typeface="Times New Roman"/>
              </a:rPr>
              <a:t> </a:t>
            </a:r>
            <a:r>
              <a:rPr dirty="0" sz="2200" spc="-30" b="1">
                <a:latin typeface="Times New Roman"/>
                <a:cs typeface="Times New Roman"/>
              </a:rPr>
              <a:t>Teaching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Hospital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715882" y="6876291"/>
            <a:ext cx="1611630" cy="17526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669" y="721867"/>
            <a:ext cx="987044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16675" algn="l"/>
              </a:tabLst>
            </a:pPr>
            <a:r>
              <a:rPr dirty="0" spc="-10"/>
              <a:t>PRESENTATION</a:t>
            </a:r>
            <a:r>
              <a:rPr dirty="0"/>
              <a:t>	</a:t>
            </a:r>
            <a:r>
              <a:rPr dirty="0" spc="-85"/>
              <a:t>OUTLINE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6809231"/>
            <a:ext cx="271272" cy="324612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551815" indent="-539115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551815" algn="l"/>
              </a:tabLst>
            </a:pPr>
            <a:r>
              <a:rPr dirty="0"/>
              <a:t>PROJECT</a:t>
            </a:r>
            <a:r>
              <a:rPr dirty="0" spc="-140"/>
              <a:t> </a:t>
            </a:r>
            <a:r>
              <a:rPr dirty="0" spc="-10"/>
              <a:t>BACKGROUND</a:t>
            </a:r>
          </a:p>
          <a:p>
            <a:pPr>
              <a:lnSpc>
                <a:spcPct val="100000"/>
              </a:lnSpc>
              <a:spcBef>
                <a:spcPts val="165"/>
              </a:spcBef>
              <a:buFont typeface="Wingdings"/>
              <a:buChar char=""/>
            </a:pPr>
          </a:p>
          <a:p>
            <a:pPr marL="551815" indent="-539115">
              <a:lnSpc>
                <a:spcPct val="100000"/>
              </a:lnSpc>
              <a:buFont typeface="Wingdings"/>
              <a:buChar char=""/>
              <a:tabLst>
                <a:tab pos="551815" algn="l"/>
                <a:tab pos="2380615" algn="l"/>
              </a:tabLst>
            </a:pPr>
            <a:r>
              <a:rPr dirty="0" spc="-10"/>
              <a:t>PROBLEM</a:t>
            </a:r>
            <a:r>
              <a:rPr dirty="0"/>
              <a:t>	</a:t>
            </a:r>
            <a:r>
              <a:rPr dirty="0" spc="-10"/>
              <a:t>STATEMENT</a:t>
            </a:r>
          </a:p>
          <a:p>
            <a:pPr>
              <a:lnSpc>
                <a:spcPct val="100000"/>
              </a:lnSpc>
              <a:spcBef>
                <a:spcPts val="165"/>
              </a:spcBef>
              <a:buFont typeface="Wingdings"/>
              <a:buChar char=""/>
            </a:p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pc="-10"/>
              <a:t>OBJECTIVES</a:t>
            </a:r>
          </a:p>
          <a:p>
            <a:pPr>
              <a:lnSpc>
                <a:spcPct val="100000"/>
              </a:lnSpc>
              <a:spcBef>
                <a:spcPts val="180"/>
              </a:spcBef>
              <a:buFont typeface="Wingdings"/>
              <a:buChar char=""/>
            </a:pPr>
          </a:p>
          <a:p>
            <a:pPr marL="551815" indent="-539115">
              <a:lnSpc>
                <a:spcPct val="100000"/>
              </a:lnSpc>
              <a:buFont typeface="Wingdings"/>
              <a:buChar char=""/>
              <a:tabLst>
                <a:tab pos="551815" algn="l"/>
              </a:tabLst>
            </a:pPr>
            <a:r>
              <a:rPr dirty="0" spc="-40"/>
              <a:t>RELEVANCE</a:t>
            </a:r>
            <a:r>
              <a:rPr dirty="0" spc="-85"/>
              <a:t> </a:t>
            </a:r>
            <a:r>
              <a:rPr dirty="0"/>
              <a:t>OF</a:t>
            </a:r>
            <a:r>
              <a:rPr dirty="0" spc="-170"/>
              <a:t> </a:t>
            </a:r>
            <a:r>
              <a:rPr dirty="0" spc="-20"/>
              <a:t>WORK</a:t>
            </a:r>
          </a:p>
          <a:p>
            <a:pPr>
              <a:lnSpc>
                <a:spcPct val="100000"/>
              </a:lnSpc>
              <a:spcBef>
                <a:spcPts val="170"/>
              </a:spcBef>
              <a:buFont typeface="Wingdings"/>
              <a:buChar char=""/>
            </a:p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/>
              <a:t>EXISTING</a:t>
            </a:r>
            <a:r>
              <a:rPr dirty="0" spc="-60"/>
              <a:t> </a:t>
            </a:r>
            <a:r>
              <a:rPr dirty="0" spc="-10"/>
              <a:t>SOLUTIONS</a:t>
            </a:r>
          </a:p>
          <a:p>
            <a:pPr>
              <a:lnSpc>
                <a:spcPct val="100000"/>
              </a:lnSpc>
              <a:spcBef>
                <a:spcPts val="165"/>
              </a:spcBef>
              <a:buFont typeface="Wingdings"/>
              <a:buChar char=""/>
            </a:p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/>
              <a:t>PROPOSED</a:t>
            </a:r>
            <a:r>
              <a:rPr dirty="0" spc="-80"/>
              <a:t> </a:t>
            </a:r>
            <a:r>
              <a:rPr dirty="0" spc="-10"/>
              <a:t>SOLUTION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8715882" y="6876291"/>
            <a:ext cx="1611630" cy="17526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82895" y="2187067"/>
            <a:ext cx="5120640" cy="35928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469265" algn="l"/>
              </a:tabLst>
            </a:pPr>
            <a:r>
              <a:rPr dirty="0" sz="2600" b="1">
                <a:latin typeface="Times New Roman"/>
                <a:cs typeface="Times New Roman"/>
              </a:rPr>
              <a:t>SYSTEM</a:t>
            </a:r>
            <a:r>
              <a:rPr dirty="0" sz="2600" spc="-6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REQUIREMENTS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Wingdings"/>
              <a:buChar char=""/>
            </a:pP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469265" algn="l"/>
              </a:tabLst>
            </a:pPr>
            <a:r>
              <a:rPr dirty="0" sz="2600" b="1">
                <a:latin typeface="Times New Roman"/>
                <a:cs typeface="Times New Roman"/>
              </a:rPr>
              <a:t>RESOURCE</a:t>
            </a:r>
            <a:r>
              <a:rPr dirty="0" sz="2600" spc="-6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REQUIREMENTS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Wingdings"/>
              <a:buChar char=""/>
            </a:pP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600" b="1">
                <a:latin typeface="Times New Roman"/>
                <a:cs typeface="Times New Roman"/>
              </a:rPr>
              <a:t>PROJECT</a:t>
            </a:r>
            <a:r>
              <a:rPr dirty="0" sz="2600" spc="-12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TIMELINES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Wingdings"/>
              <a:buChar char=""/>
            </a:pP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600" spc="-10" b="1">
                <a:latin typeface="Times New Roman"/>
                <a:cs typeface="Times New Roman"/>
              </a:rPr>
              <a:t>CONCLUSION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Wingdings"/>
              <a:buChar char=""/>
            </a:pPr>
            <a:endParaRPr sz="26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600" spc="-10" b="1">
                <a:latin typeface="Times New Roman"/>
                <a:cs typeface="Times New Roman"/>
              </a:rPr>
              <a:t>REFERENCES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26161"/>
            <a:ext cx="10692765" cy="1656714"/>
          </a:xfrm>
          <a:custGeom>
            <a:avLst/>
            <a:gdLst/>
            <a:ahLst/>
            <a:cxnLst/>
            <a:rect l="l" t="t" r="r" b="b"/>
            <a:pathLst>
              <a:path w="10692765" h="1656714">
                <a:moveTo>
                  <a:pt x="10692257" y="1552194"/>
                </a:moveTo>
                <a:lnTo>
                  <a:pt x="0" y="1552194"/>
                </a:lnTo>
                <a:lnTo>
                  <a:pt x="0" y="1656562"/>
                </a:lnTo>
                <a:lnTo>
                  <a:pt x="10692257" y="1656562"/>
                </a:lnTo>
                <a:lnTo>
                  <a:pt x="10692257" y="1552194"/>
                </a:lnTo>
                <a:close/>
              </a:path>
              <a:path w="10692765" h="1656714">
                <a:moveTo>
                  <a:pt x="10692257" y="0"/>
                </a:moveTo>
                <a:lnTo>
                  <a:pt x="0" y="0"/>
                </a:lnTo>
                <a:lnTo>
                  <a:pt x="0" y="104368"/>
                </a:lnTo>
                <a:lnTo>
                  <a:pt x="10692257" y="104368"/>
                </a:lnTo>
                <a:lnTo>
                  <a:pt x="10692257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9902" y="726440"/>
            <a:ext cx="944943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95"/>
              <a:t>IMAGES</a:t>
            </a:r>
            <a:r>
              <a:rPr dirty="0" sz="4800" spc="-210"/>
              <a:t> </a:t>
            </a:r>
            <a:r>
              <a:rPr dirty="0" sz="4800" spc="-50"/>
              <a:t>OF</a:t>
            </a:r>
            <a:r>
              <a:rPr dirty="0" sz="4800" spc="-190"/>
              <a:t> </a:t>
            </a:r>
            <a:r>
              <a:rPr dirty="0" sz="4800" spc="-100"/>
              <a:t>PREGNANT</a:t>
            </a:r>
            <a:r>
              <a:rPr dirty="0" sz="4800" spc="-204"/>
              <a:t> </a:t>
            </a:r>
            <a:r>
              <a:rPr dirty="0" sz="4800" spc="-20"/>
              <a:t>WOMEN</a:t>
            </a:r>
            <a:endParaRPr sz="48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6809231"/>
            <a:ext cx="271272" cy="32461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961386"/>
            <a:ext cx="10693907" cy="56006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715882" y="6876291"/>
            <a:ext cx="1611630" cy="17526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0" rIns="0" bIns="0" rtlCol="0" vert="horz">
            <a:spAutoFit/>
          </a:bodyPr>
          <a:lstStyle/>
          <a:p>
            <a:pPr marL="262001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BACKGROUND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6809231"/>
            <a:ext cx="271272" cy="3246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69493" y="2208737"/>
            <a:ext cx="9846310" cy="3998595"/>
          </a:xfrm>
          <a:prstGeom prst="rect">
            <a:avLst/>
          </a:prstGeom>
        </p:spPr>
        <p:txBody>
          <a:bodyPr wrap="square" lIns="0" tIns="203835" rIns="0" bIns="0" rtlCol="0" vert="horz">
            <a:spAutoFit/>
          </a:bodyPr>
          <a:lstStyle/>
          <a:p>
            <a:pPr marL="551815" indent="-539115">
              <a:lnSpc>
                <a:spcPct val="100000"/>
              </a:lnSpc>
              <a:spcBef>
                <a:spcPts val="1605"/>
              </a:spcBef>
              <a:buSzPct val="118181"/>
              <a:buFont typeface="Wingdings"/>
              <a:buChar char=""/>
              <a:tabLst>
                <a:tab pos="551815" algn="l"/>
              </a:tabLst>
            </a:pPr>
            <a:r>
              <a:rPr dirty="0" sz="2200" b="1">
                <a:latin typeface="Times New Roman"/>
                <a:cs typeface="Times New Roman"/>
              </a:rPr>
              <a:t>Monitoring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pregnant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women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is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important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issue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maternal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care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due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to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505"/>
              </a:spcBef>
            </a:pPr>
            <a:r>
              <a:rPr dirty="0" sz="2200" b="1">
                <a:latin typeface="Times New Roman"/>
                <a:cs typeface="Times New Roman"/>
              </a:rPr>
              <a:t>possibility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complications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Pregnant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women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are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required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regularly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visit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clinic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10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antenatal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care.</a:t>
            </a:r>
            <a:endParaRPr sz="22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50000"/>
              </a:lnSpc>
              <a:spcBef>
                <a:spcPts val="1600"/>
              </a:spcBef>
              <a:buFont typeface="Wingdings"/>
              <a:buChar char=""/>
              <a:tabLst>
                <a:tab pos="469900" algn="l"/>
                <a:tab pos="1259840" algn="l"/>
                <a:tab pos="7153275" algn="l"/>
              </a:tabLst>
            </a:pPr>
            <a:r>
              <a:rPr dirty="0" sz="2200" b="1">
                <a:latin typeface="Times New Roman"/>
                <a:cs typeface="Times New Roman"/>
              </a:rPr>
              <a:t>Pregnant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women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are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monitored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1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critical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parameters</a:t>
            </a:r>
            <a:r>
              <a:rPr dirty="0" sz="2200" b="1">
                <a:latin typeface="Times New Roman"/>
                <a:cs typeface="Times New Roman"/>
              </a:rPr>
              <a:t>	like;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body </a:t>
            </a:r>
            <a:r>
              <a:rPr dirty="0" sz="2200" spc="-10" b="1">
                <a:latin typeface="Times New Roman"/>
                <a:cs typeface="Times New Roman"/>
              </a:rPr>
              <a:t>temperature,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blood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pressure,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protein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urine,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heart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rate,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blood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glucose levels</a:t>
            </a:r>
            <a:r>
              <a:rPr dirty="0" sz="2200" b="1">
                <a:latin typeface="Times New Roman"/>
                <a:cs typeface="Times New Roman"/>
              </a:rPr>
              <a:t>	and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oxygen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saturation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which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help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assessing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health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both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mother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baby.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715882" y="6876291"/>
            <a:ext cx="1611630" cy="17526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0" rIns="0" bIns="0" rtlCol="0" vert="horz">
            <a:spAutoFit/>
          </a:bodyPr>
          <a:lstStyle/>
          <a:p>
            <a:pPr marL="2665095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BACKGROUND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6809231"/>
            <a:ext cx="271272" cy="324612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87045" indent="-45656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487045" algn="l"/>
              </a:tabLst>
            </a:pPr>
            <a:r>
              <a:rPr dirty="0"/>
              <a:t>Body</a:t>
            </a:r>
            <a:r>
              <a:rPr dirty="0" spc="-95"/>
              <a:t> </a:t>
            </a:r>
            <a:r>
              <a:rPr dirty="0" spc="-25"/>
              <a:t>Temperature:</a:t>
            </a:r>
            <a:r>
              <a:rPr dirty="0" spc="-20"/>
              <a:t> </a:t>
            </a:r>
            <a:r>
              <a:rPr dirty="0"/>
              <a:t>Detects</a:t>
            </a:r>
            <a:r>
              <a:rPr dirty="0" spc="-45"/>
              <a:t> </a:t>
            </a:r>
            <a:r>
              <a:rPr dirty="0"/>
              <a:t>fever</a:t>
            </a:r>
            <a:r>
              <a:rPr dirty="0" spc="-80"/>
              <a:t> </a:t>
            </a:r>
            <a:r>
              <a:rPr dirty="0"/>
              <a:t>or</a:t>
            </a:r>
            <a:r>
              <a:rPr dirty="0" spc="-90"/>
              <a:t> </a:t>
            </a:r>
            <a:r>
              <a:rPr dirty="0"/>
              <a:t>infections</a:t>
            </a:r>
            <a:r>
              <a:rPr dirty="0" spc="-40"/>
              <a:t> </a:t>
            </a:r>
            <a:r>
              <a:rPr dirty="0"/>
              <a:t>that</a:t>
            </a:r>
            <a:r>
              <a:rPr dirty="0" spc="-40"/>
              <a:t> </a:t>
            </a:r>
            <a:r>
              <a:rPr dirty="0"/>
              <a:t>could</a:t>
            </a:r>
            <a:r>
              <a:rPr dirty="0" spc="-55"/>
              <a:t> </a:t>
            </a:r>
            <a:r>
              <a:rPr dirty="0"/>
              <a:t>harm</a:t>
            </a:r>
            <a:r>
              <a:rPr dirty="0" spc="-20"/>
              <a:t> </a:t>
            </a:r>
            <a:r>
              <a:rPr dirty="0"/>
              <a:t>both</a:t>
            </a:r>
            <a:r>
              <a:rPr dirty="0" spc="-35"/>
              <a:t> </a:t>
            </a:r>
            <a:r>
              <a:rPr dirty="0" spc="-10"/>
              <a:t>mother</a:t>
            </a:r>
          </a:p>
          <a:p>
            <a:pPr marL="487045">
              <a:lnSpc>
                <a:spcPct val="100000"/>
              </a:lnSpc>
            </a:pPr>
            <a:r>
              <a:rPr dirty="0"/>
              <a:t>and</a:t>
            </a:r>
            <a:r>
              <a:rPr dirty="0" spc="-35"/>
              <a:t> </a:t>
            </a:r>
            <a:r>
              <a:rPr dirty="0" spc="-10"/>
              <a:t>fetus.</a:t>
            </a:r>
          </a:p>
          <a:p>
            <a:pPr marL="17780">
              <a:lnSpc>
                <a:spcPct val="100000"/>
              </a:lnSpc>
              <a:spcBef>
                <a:spcPts val="110"/>
              </a:spcBef>
            </a:pPr>
          </a:p>
          <a:p>
            <a:pPr marL="487045" marR="5080" indent="-457200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487045" algn="l"/>
              </a:tabLst>
            </a:pPr>
            <a:r>
              <a:rPr dirty="0"/>
              <a:t>Blood</a:t>
            </a:r>
            <a:r>
              <a:rPr dirty="0" spc="-65"/>
              <a:t> </a:t>
            </a:r>
            <a:r>
              <a:rPr dirty="0" spc="-10"/>
              <a:t>Pressure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Protein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/>
              <a:t>Urine:</a:t>
            </a:r>
            <a:r>
              <a:rPr dirty="0" spc="-50"/>
              <a:t> </a:t>
            </a:r>
            <a:r>
              <a:rPr dirty="0"/>
              <a:t>Monitors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95"/>
              <a:t> </a:t>
            </a:r>
            <a:r>
              <a:rPr dirty="0"/>
              <a:t>hypertension</a:t>
            </a:r>
            <a:r>
              <a:rPr dirty="0" spc="-45"/>
              <a:t> </a:t>
            </a:r>
            <a:r>
              <a:rPr dirty="0"/>
              <a:t>disorders</a:t>
            </a:r>
            <a:r>
              <a:rPr dirty="0" spc="-70"/>
              <a:t> </a:t>
            </a:r>
            <a:r>
              <a:rPr dirty="0" spc="-20"/>
              <a:t>like </a:t>
            </a:r>
            <a:r>
              <a:rPr dirty="0" spc="-10"/>
              <a:t>preeclampsia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prevent</a:t>
            </a:r>
            <a:r>
              <a:rPr dirty="0" spc="-50"/>
              <a:t> </a:t>
            </a:r>
            <a:r>
              <a:rPr dirty="0" spc="-10"/>
              <a:t>complications.</a:t>
            </a:r>
          </a:p>
          <a:p>
            <a:pPr marL="17780">
              <a:lnSpc>
                <a:spcPct val="100000"/>
              </a:lnSpc>
              <a:spcBef>
                <a:spcPts val="105"/>
              </a:spcBef>
              <a:buFont typeface="Wingdings"/>
              <a:buChar char=""/>
            </a:pPr>
          </a:p>
          <a:p>
            <a:pPr marL="487045" indent="-45656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487045" algn="l"/>
              </a:tabLst>
            </a:pPr>
            <a:r>
              <a:rPr dirty="0"/>
              <a:t>Oxygen</a:t>
            </a:r>
            <a:r>
              <a:rPr dirty="0" spc="-70"/>
              <a:t> </a:t>
            </a:r>
            <a:r>
              <a:rPr dirty="0"/>
              <a:t>Saturation:</a:t>
            </a:r>
            <a:r>
              <a:rPr dirty="0" spc="-95"/>
              <a:t> </a:t>
            </a:r>
            <a:r>
              <a:rPr dirty="0" spc="-10"/>
              <a:t>Tracks</a:t>
            </a:r>
            <a:r>
              <a:rPr dirty="0" spc="-55"/>
              <a:t> </a:t>
            </a:r>
            <a:r>
              <a:rPr dirty="0"/>
              <a:t>oxygen</a:t>
            </a:r>
            <a:r>
              <a:rPr dirty="0" spc="-85"/>
              <a:t> </a:t>
            </a:r>
            <a:r>
              <a:rPr dirty="0"/>
              <a:t>levels</a:t>
            </a:r>
            <a:r>
              <a:rPr dirty="0" spc="-70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/>
              <a:t>prevent</a:t>
            </a:r>
            <a:r>
              <a:rPr dirty="0" spc="-55"/>
              <a:t> </a:t>
            </a:r>
            <a:r>
              <a:rPr dirty="0"/>
              <a:t>anemia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 spc="-10"/>
              <a:t>maternal</a:t>
            </a:r>
          </a:p>
          <a:p>
            <a:pPr marL="487045">
              <a:lnSpc>
                <a:spcPct val="100000"/>
              </a:lnSpc>
            </a:pPr>
            <a:r>
              <a:rPr dirty="0" spc="-10"/>
              <a:t>respiratory</a:t>
            </a:r>
            <a:r>
              <a:rPr dirty="0" spc="-40"/>
              <a:t> </a:t>
            </a:r>
            <a:r>
              <a:rPr dirty="0" spc="-10"/>
              <a:t>issues.</a:t>
            </a:r>
          </a:p>
          <a:p>
            <a:pPr marL="17780">
              <a:lnSpc>
                <a:spcPct val="100000"/>
              </a:lnSpc>
              <a:spcBef>
                <a:spcPts val="110"/>
              </a:spcBef>
            </a:pPr>
          </a:p>
          <a:p>
            <a:pPr marL="487045" indent="-456565">
              <a:lnSpc>
                <a:spcPct val="100000"/>
              </a:lnSpc>
              <a:buFont typeface="Wingdings"/>
              <a:buChar char=""/>
              <a:tabLst>
                <a:tab pos="487045" algn="l"/>
              </a:tabLst>
            </a:pPr>
            <a:r>
              <a:rPr dirty="0"/>
              <a:t>Heart</a:t>
            </a:r>
            <a:r>
              <a:rPr dirty="0" spc="-35"/>
              <a:t> </a:t>
            </a:r>
            <a:r>
              <a:rPr dirty="0" spc="-10"/>
              <a:t>Rate:</a:t>
            </a:r>
            <a:r>
              <a:rPr dirty="0" spc="-125"/>
              <a:t> </a:t>
            </a:r>
            <a:r>
              <a:rPr dirty="0"/>
              <a:t>Assesses</a:t>
            </a:r>
            <a:r>
              <a:rPr dirty="0" spc="-40"/>
              <a:t> </a:t>
            </a:r>
            <a:r>
              <a:rPr dirty="0" spc="-10"/>
              <a:t>cardiovascular</a:t>
            </a:r>
            <a:r>
              <a:rPr dirty="0" spc="-80"/>
              <a:t> </a:t>
            </a:r>
            <a:r>
              <a:rPr dirty="0"/>
              <a:t>health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ensure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heart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/>
              <a:t>coping</a:t>
            </a:r>
            <a:r>
              <a:rPr dirty="0" spc="-35"/>
              <a:t> </a:t>
            </a:r>
            <a:r>
              <a:rPr dirty="0" spc="-20"/>
              <a:t>with</a:t>
            </a:r>
          </a:p>
          <a:p>
            <a:pPr marL="487045">
              <a:lnSpc>
                <a:spcPct val="100000"/>
              </a:lnSpc>
            </a:pPr>
            <a:r>
              <a:rPr dirty="0" spc="-10"/>
              <a:t>pregnancy</a:t>
            </a:r>
            <a:r>
              <a:rPr dirty="0" spc="-55"/>
              <a:t> </a:t>
            </a:r>
            <a:r>
              <a:rPr dirty="0" spc="-10"/>
              <a:t>demands.</a:t>
            </a:r>
          </a:p>
          <a:p>
            <a:pPr marL="17780">
              <a:lnSpc>
                <a:spcPct val="100000"/>
              </a:lnSpc>
              <a:spcBef>
                <a:spcPts val="110"/>
              </a:spcBef>
            </a:pPr>
          </a:p>
          <a:p>
            <a:pPr marL="487045" marR="831850" indent="-457200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487045" algn="l"/>
              </a:tabLst>
            </a:pPr>
            <a:r>
              <a:rPr dirty="0"/>
              <a:t>Blood</a:t>
            </a:r>
            <a:r>
              <a:rPr dirty="0" spc="-65"/>
              <a:t> </a:t>
            </a:r>
            <a:r>
              <a:rPr dirty="0"/>
              <a:t>Glucose</a:t>
            </a:r>
            <a:r>
              <a:rPr dirty="0" spc="-50"/>
              <a:t> </a:t>
            </a:r>
            <a:r>
              <a:rPr dirty="0"/>
              <a:t>Level:</a:t>
            </a:r>
            <a:r>
              <a:rPr dirty="0" spc="-65"/>
              <a:t> </a:t>
            </a:r>
            <a:r>
              <a:rPr dirty="0"/>
              <a:t>Identifies</a:t>
            </a:r>
            <a:r>
              <a:rPr dirty="0" spc="-55"/>
              <a:t> </a:t>
            </a:r>
            <a:r>
              <a:rPr dirty="0"/>
              <a:t>gestational</a:t>
            </a:r>
            <a:r>
              <a:rPr dirty="0" spc="-65"/>
              <a:t> </a:t>
            </a:r>
            <a:r>
              <a:rPr dirty="0"/>
              <a:t>diabetes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manage</a:t>
            </a:r>
            <a:r>
              <a:rPr dirty="0" spc="-65"/>
              <a:t> </a:t>
            </a:r>
            <a:r>
              <a:rPr dirty="0"/>
              <a:t>risks</a:t>
            </a:r>
            <a:r>
              <a:rPr dirty="0" spc="-65"/>
              <a:t> </a:t>
            </a:r>
            <a:r>
              <a:rPr dirty="0" spc="-25"/>
              <a:t>for </a:t>
            </a:r>
            <a:r>
              <a:rPr dirty="0"/>
              <a:t>mother</a:t>
            </a:r>
            <a:r>
              <a:rPr dirty="0" spc="-80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10"/>
              <a:t>baby.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8715882" y="6876291"/>
            <a:ext cx="1611630" cy="17526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0" rIns="0" bIns="0" rtlCol="0" vert="horz">
            <a:spAutoFit/>
          </a:bodyPr>
          <a:lstStyle/>
          <a:p>
            <a:pPr marL="262001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BACKGROUND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6809231"/>
            <a:ext cx="271272" cy="3246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-507" y="2154072"/>
            <a:ext cx="10675620" cy="278892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469900" marR="5080" indent="-457200">
              <a:lnSpc>
                <a:spcPct val="153400"/>
              </a:lnSpc>
              <a:spcBef>
                <a:spcPts val="190"/>
              </a:spcBef>
              <a:buFont typeface="Wingdings"/>
              <a:buChar char=""/>
              <a:tabLst>
                <a:tab pos="469900" algn="l"/>
                <a:tab pos="551815" algn="l"/>
                <a:tab pos="3540125" algn="l"/>
              </a:tabLst>
            </a:pP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200" b="1">
                <a:latin typeface="Times New Roman"/>
                <a:cs typeface="Times New Roman"/>
              </a:rPr>
              <a:t>Potential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dangers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not</a:t>
            </a:r>
            <a:r>
              <a:rPr dirty="0" sz="2200" b="1">
                <a:latin typeface="Times New Roman"/>
                <a:cs typeface="Times New Roman"/>
              </a:rPr>
              <a:t>	monitoring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can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lead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critical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challenges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such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as; </a:t>
            </a:r>
            <a:r>
              <a:rPr dirty="0" sz="2200" spc="-10" b="1">
                <a:latin typeface="Times New Roman"/>
                <a:cs typeface="Times New Roman"/>
              </a:rPr>
              <a:t>preeclampsia,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anemia,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low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birth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weight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developmental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delays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ultimately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lead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death.</a:t>
            </a:r>
            <a:endParaRPr sz="2200">
              <a:latin typeface="Times New Roman"/>
              <a:cs typeface="Times New Roman"/>
            </a:endParaRPr>
          </a:p>
          <a:p>
            <a:pPr marL="469900" marR="80645" indent="-457200">
              <a:lnSpc>
                <a:spcPct val="150000"/>
              </a:lnSpc>
              <a:spcBef>
                <a:spcPts val="1600"/>
              </a:spcBef>
              <a:buFont typeface="Wingdings"/>
              <a:buChar char=""/>
              <a:tabLst>
                <a:tab pos="469900" algn="l"/>
                <a:tab pos="2322830" algn="l"/>
              </a:tabLst>
            </a:pPr>
            <a:r>
              <a:rPr dirty="0" sz="2200" b="1">
                <a:latin typeface="Times New Roman"/>
                <a:cs typeface="Times New Roman"/>
              </a:rPr>
              <a:t>Leveraging</a:t>
            </a:r>
            <a:r>
              <a:rPr dirty="0" sz="2200" spc="-11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on</a:t>
            </a:r>
            <a:r>
              <a:rPr dirty="0" sz="2200" b="1">
                <a:latin typeface="Times New Roman"/>
                <a:cs typeface="Times New Roman"/>
              </a:rPr>
              <a:t>	technology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that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can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support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remote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monitoring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acquire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all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key </a:t>
            </a:r>
            <a:r>
              <a:rPr dirty="0" sz="2200" b="1">
                <a:latin typeface="Times New Roman"/>
                <a:cs typeface="Times New Roman"/>
              </a:rPr>
              <a:t>parameters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provide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rapid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decision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could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help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save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mother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baby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real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time.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715882" y="6876291"/>
            <a:ext cx="1611630" cy="17526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039" y="721867"/>
            <a:ext cx="851027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PROBLEM</a:t>
            </a:r>
            <a:r>
              <a:rPr dirty="0" spc="-265"/>
              <a:t> </a:t>
            </a:r>
            <a:r>
              <a:rPr dirty="0" spc="-145"/>
              <a:t>STATEMENT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6809231"/>
            <a:ext cx="271272" cy="3246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-53746" y="2257958"/>
            <a:ext cx="10755630" cy="447992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520700" marR="158750" indent="-457200">
              <a:lnSpc>
                <a:spcPct val="151900"/>
              </a:lnSpc>
              <a:spcBef>
                <a:spcPts val="150"/>
              </a:spcBef>
              <a:buFont typeface="Wingdings"/>
              <a:buChar char=""/>
              <a:tabLst>
                <a:tab pos="520700" algn="l"/>
              </a:tabLst>
            </a:pPr>
            <a:r>
              <a:rPr dirty="0" sz="2200" b="1">
                <a:latin typeface="Times New Roman"/>
                <a:cs typeface="Times New Roman"/>
              </a:rPr>
              <a:t>According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World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Health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Organization(WHO),</a:t>
            </a:r>
            <a:r>
              <a:rPr dirty="0" sz="2200" spc="1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over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40%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pregnancies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in </a:t>
            </a:r>
            <a:r>
              <a:rPr dirty="0" sz="2200" b="1">
                <a:latin typeface="Times New Roman"/>
                <a:cs typeface="Times New Roman"/>
              </a:rPr>
              <a:t>developing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countries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face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significant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health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risks,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making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pregnancy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complications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50" b="1">
                <a:latin typeface="Times New Roman"/>
                <a:cs typeface="Times New Roman"/>
              </a:rPr>
              <a:t>a </a:t>
            </a:r>
            <a:r>
              <a:rPr dirty="0" sz="2200" b="1">
                <a:latin typeface="Times New Roman"/>
                <a:cs typeface="Times New Roman"/>
              </a:rPr>
              <a:t>major</a:t>
            </a:r>
            <a:r>
              <a:rPr dirty="0" sz="2200" spc="-10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public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health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concern.</a:t>
            </a:r>
            <a:r>
              <a:rPr dirty="0" sz="2200" spc="-170" b="1">
                <a:latin typeface="Times New Roman"/>
                <a:cs typeface="Times New Roman"/>
              </a:rPr>
              <a:t> </a:t>
            </a:r>
            <a:r>
              <a:rPr dirty="0" baseline="24904" sz="2175" spc="-37" b="1">
                <a:solidFill>
                  <a:srgbClr val="1F487C"/>
                </a:solidFill>
                <a:latin typeface="Times New Roman"/>
                <a:cs typeface="Times New Roman"/>
              </a:rPr>
              <a:t>[2]</a:t>
            </a:r>
            <a:endParaRPr baseline="24904" sz="2175">
              <a:latin typeface="Times New Roman"/>
              <a:cs typeface="Times New Roman"/>
            </a:endParaRPr>
          </a:p>
          <a:p>
            <a:pPr marL="520700" marR="170815" indent="-457200">
              <a:lnSpc>
                <a:spcPct val="150000"/>
              </a:lnSpc>
              <a:spcBef>
                <a:spcPts val="1595"/>
              </a:spcBef>
              <a:buFont typeface="Wingdings"/>
              <a:buChar char=""/>
              <a:tabLst>
                <a:tab pos="520700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Reports</a:t>
            </a:r>
            <a:r>
              <a:rPr dirty="0" sz="2200" spc="-180" b="1">
                <a:latin typeface="Times New Roman"/>
                <a:cs typeface="Times New Roman"/>
              </a:rPr>
              <a:t> </a:t>
            </a:r>
            <a:r>
              <a:rPr dirty="0" baseline="24904" sz="2175" b="1">
                <a:solidFill>
                  <a:srgbClr val="1F487C"/>
                </a:solidFill>
                <a:latin typeface="Times New Roman"/>
                <a:cs typeface="Times New Roman"/>
              </a:rPr>
              <a:t>[2]</a:t>
            </a:r>
            <a:r>
              <a:rPr dirty="0" baseline="24904" sz="2175" spc="19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reveal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that,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Ghana,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12%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female</a:t>
            </a:r>
            <a:r>
              <a:rPr dirty="0" sz="2200" spc="-1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deaths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(ages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15-</a:t>
            </a:r>
            <a:r>
              <a:rPr dirty="0" sz="2200" b="1">
                <a:latin typeface="Times New Roman"/>
                <a:cs typeface="Times New Roman"/>
              </a:rPr>
              <a:t>49)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previous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50" b="1">
                <a:latin typeface="Times New Roman"/>
                <a:cs typeface="Times New Roman"/>
              </a:rPr>
              <a:t>5 </a:t>
            </a:r>
            <a:r>
              <a:rPr dirty="0" sz="2200" b="1">
                <a:latin typeface="Times New Roman"/>
                <a:cs typeface="Times New Roman"/>
              </a:rPr>
              <a:t>years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stem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from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pregnancy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complications,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with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62%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due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late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or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poor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medical intervention.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520065" indent="-456565">
              <a:lnSpc>
                <a:spcPct val="100000"/>
              </a:lnSpc>
              <a:buFont typeface="Wingdings"/>
              <a:buChar char=""/>
              <a:tabLst>
                <a:tab pos="520065" algn="l"/>
              </a:tabLst>
            </a:pPr>
            <a:r>
              <a:rPr dirty="0" sz="2200" b="1">
                <a:latin typeface="Times New Roman"/>
                <a:cs typeface="Times New Roman"/>
              </a:rPr>
              <a:t>Barriers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distance,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transportation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cost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time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constraints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hinder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pregnant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women</a:t>
            </a:r>
            <a:endParaRPr sz="2200">
              <a:latin typeface="Times New Roman"/>
              <a:cs typeface="Times New Roman"/>
            </a:endParaRPr>
          </a:p>
          <a:p>
            <a:pPr marL="520700">
              <a:lnSpc>
                <a:spcPct val="100000"/>
              </a:lnSpc>
              <a:spcBef>
                <a:spcPts val="1325"/>
              </a:spcBef>
            </a:pPr>
            <a:r>
              <a:rPr dirty="0" sz="2200" b="1">
                <a:latin typeface="Times New Roman"/>
                <a:cs typeface="Times New Roman"/>
              </a:rPr>
              <a:t>from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undergoing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regular</a:t>
            </a:r>
            <a:r>
              <a:rPr dirty="0" sz="2200" spc="-1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antenatal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care,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hence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increasing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maternal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risks.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715882" y="6876291"/>
            <a:ext cx="1611630" cy="17526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039" y="721867"/>
            <a:ext cx="851027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PROBLEM</a:t>
            </a:r>
            <a:r>
              <a:rPr dirty="0" spc="-265"/>
              <a:t> </a:t>
            </a:r>
            <a:r>
              <a:rPr dirty="0" spc="-145"/>
              <a:t>STATEMENT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6809231"/>
            <a:ext cx="271272" cy="3246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-2946" y="2236622"/>
            <a:ext cx="9645015" cy="1535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50100"/>
              </a:lnSpc>
              <a:spcBef>
                <a:spcPts val="100"/>
              </a:spcBef>
              <a:buFont typeface="Wingdings"/>
              <a:buChar char=""/>
              <a:tabLst>
                <a:tab pos="469900" algn="l"/>
              </a:tabLst>
            </a:pPr>
            <a:r>
              <a:rPr dirty="0" sz="2200" b="1">
                <a:latin typeface="Times New Roman"/>
                <a:cs typeface="Times New Roman"/>
              </a:rPr>
              <a:t>Infrequent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visitation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antennal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care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lead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late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detection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pregnancy </a:t>
            </a:r>
            <a:r>
              <a:rPr dirty="0" sz="2200" b="1">
                <a:latin typeface="Times New Roman"/>
                <a:cs typeface="Times New Roman"/>
              </a:rPr>
              <a:t>complications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such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as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preeclampsia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anemia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lowers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chances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survival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of </a:t>
            </a:r>
            <a:r>
              <a:rPr dirty="0" sz="2200" b="1">
                <a:latin typeface="Times New Roman"/>
                <a:cs typeface="Times New Roman"/>
              </a:rPr>
              <a:t>pregnant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women.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715882" y="6876291"/>
            <a:ext cx="1611630" cy="17526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807" y="721867"/>
            <a:ext cx="841248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85"/>
              <a:t>RELEVANCE</a:t>
            </a:r>
            <a:r>
              <a:rPr dirty="0" spc="-245"/>
              <a:t> </a:t>
            </a:r>
            <a:r>
              <a:rPr dirty="0" spc="-85"/>
              <a:t>OF</a:t>
            </a:r>
            <a:r>
              <a:rPr dirty="0" spc="-290"/>
              <a:t> </a:t>
            </a:r>
            <a:r>
              <a:rPr dirty="0" spc="-60"/>
              <a:t>WORK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6809231"/>
            <a:ext cx="271272" cy="3246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-2946" y="2405252"/>
            <a:ext cx="10144125" cy="2982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Early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detection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pregnancy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complications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hence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reducing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maternal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mortality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Equip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pregnant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women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with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tools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monitor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manage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their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health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Continuous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collection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visualization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empower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doctors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make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informed,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dirty="0" sz="2200" spc="-10" b="1">
                <a:latin typeface="Times New Roman"/>
                <a:cs typeface="Times New Roman"/>
              </a:rPr>
              <a:t>data-</a:t>
            </a:r>
            <a:r>
              <a:rPr dirty="0" sz="2200" b="1">
                <a:latin typeface="Times New Roman"/>
                <a:cs typeface="Times New Roman"/>
              </a:rPr>
              <a:t>driven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decisions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rather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than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relying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solely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on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periodic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observations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Ease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pressure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antenatal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clinics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due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reduced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visitations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715882" y="6876291"/>
            <a:ext cx="1611630" cy="17526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0" rIns="0" bIns="0" rtlCol="0" vert="horz">
            <a:spAutoFit/>
          </a:bodyPr>
          <a:lstStyle/>
          <a:p>
            <a:pPr marL="2593975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OBJECTIVES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6809231"/>
            <a:ext cx="271272" cy="3246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-507" y="2266086"/>
            <a:ext cx="10346690" cy="39979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469900" marR="671195" indent="-457200">
              <a:lnSpc>
                <a:spcPct val="153400"/>
              </a:lnSpc>
              <a:spcBef>
                <a:spcPts val="190"/>
              </a:spcBef>
              <a:buFont typeface="Wingdings"/>
              <a:buChar char=""/>
              <a:tabLst>
                <a:tab pos="469900" algn="l"/>
                <a:tab pos="551815" algn="l"/>
              </a:tabLst>
            </a:pP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200" spc="-100" b="1">
                <a:latin typeface="Times New Roman"/>
                <a:cs typeface="Times New Roman"/>
              </a:rPr>
              <a:t>To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develop</a:t>
            </a:r>
            <a:r>
              <a:rPr dirty="0" sz="2200" spc="-11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integrated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system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consisting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wearable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device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mobile application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continuously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spc="-30" b="1">
                <a:latin typeface="Times New Roman"/>
                <a:cs typeface="Times New Roman"/>
              </a:rPr>
              <a:t>monitor,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detect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trigger</a:t>
            </a:r>
            <a:r>
              <a:rPr dirty="0" sz="2200" spc="-10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alerts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event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of </a:t>
            </a:r>
            <a:r>
              <a:rPr dirty="0" sz="2200" spc="-10" b="1">
                <a:latin typeface="Times New Roman"/>
                <a:cs typeface="Times New Roman"/>
              </a:rPr>
              <a:t>abnormality.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469265" algn="l"/>
              </a:tabLst>
            </a:pPr>
            <a:r>
              <a:rPr dirty="0" sz="2200" spc="-95" b="1">
                <a:latin typeface="Times New Roman"/>
                <a:cs typeface="Times New Roman"/>
              </a:rPr>
              <a:t>To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train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machine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learning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model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risk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prediction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pregnancy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complications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dirty="0" sz="2200" b="1">
                <a:latin typeface="Times New Roman"/>
                <a:cs typeface="Times New Roman"/>
              </a:rPr>
              <a:t>like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preeclampsia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anemia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long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before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standard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detection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window.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spc="-100" b="1">
                <a:latin typeface="Times New Roman"/>
                <a:cs typeface="Times New Roman"/>
              </a:rPr>
              <a:t>To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develop</a:t>
            </a:r>
            <a:r>
              <a:rPr dirty="0" sz="2200" spc="-10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user-</a:t>
            </a:r>
            <a:r>
              <a:rPr dirty="0" sz="2200" b="1">
                <a:latin typeface="Times New Roman"/>
                <a:cs typeface="Times New Roman"/>
              </a:rPr>
              <a:t>friendly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interface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system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acquire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visualize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information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for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dirty="0" sz="2200" spc="-10" b="1">
                <a:latin typeface="Times New Roman"/>
                <a:cs typeface="Times New Roman"/>
              </a:rPr>
              <a:t>processing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by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system.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715882" y="6876291"/>
            <a:ext cx="1611630" cy="17526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0" rIns="0" bIns="0" rtlCol="0" vert="horz">
            <a:spAutoFit/>
          </a:bodyPr>
          <a:lstStyle/>
          <a:p>
            <a:pPr marL="59055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EXISTING</a:t>
            </a:r>
            <a:r>
              <a:rPr dirty="0" spc="-300"/>
              <a:t> </a:t>
            </a:r>
            <a:r>
              <a:rPr dirty="0" spc="-130"/>
              <a:t>SOLUTIONS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-2946" y="2310129"/>
            <a:ext cx="1052131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dirty="0" sz="2200" spc="-25" b="1">
                <a:latin typeface="Times New Roman"/>
                <a:cs typeface="Times New Roman"/>
              </a:rPr>
              <a:t>(1)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sz="2200" spc="-20" b="1">
                <a:latin typeface="Times New Roman"/>
                <a:cs typeface="Times New Roman"/>
              </a:rPr>
              <a:t>A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Comprehensive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Framework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Wearable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Module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Prenatal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Health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Monitoring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4253" y="2812745"/>
            <a:ext cx="30359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1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Risk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Detection(2024)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607689" y="2822193"/>
            <a:ext cx="242570" cy="248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50" spc="-25" b="1">
                <a:solidFill>
                  <a:srgbClr val="006FC0"/>
                </a:solidFill>
                <a:latin typeface="Times New Roman"/>
                <a:cs typeface="Times New Roman"/>
              </a:rPr>
              <a:t>[1]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-2946" y="3350793"/>
            <a:ext cx="10647680" cy="3246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72210">
              <a:lnSpc>
                <a:spcPct val="15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1F487C"/>
                </a:solidFill>
                <a:latin typeface="Times New Roman"/>
                <a:cs typeface="Times New Roman"/>
              </a:rPr>
              <a:t>GOAL:</a:t>
            </a:r>
            <a:r>
              <a:rPr dirty="0" sz="2200" spc="-13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A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system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continuously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monitor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vitals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pregnant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women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throughout </a:t>
            </a:r>
            <a:r>
              <a:rPr dirty="0" sz="2200" b="1">
                <a:latin typeface="Times New Roman"/>
                <a:cs typeface="Times New Roman"/>
              </a:rPr>
              <a:t>pregnancy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send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SMS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healthcare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providers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event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any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anomaly.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1595"/>
              </a:spcBef>
            </a:pPr>
            <a:r>
              <a:rPr dirty="0" sz="2200" spc="-10" b="1">
                <a:solidFill>
                  <a:srgbClr val="1F487C"/>
                </a:solidFill>
                <a:latin typeface="Times New Roman"/>
                <a:cs typeface="Times New Roman"/>
              </a:rPr>
              <a:t>TECHNIQUE:</a:t>
            </a:r>
            <a:r>
              <a:rPr dirty="0" sz="2200" spc="-5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Threshold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values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are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set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ESP-</a:t>
            </a:r>
            <a:r>
              <a:rPr dirty="0" sz="2200" b="1">
                <a:latin typeface="Times New Roman"/>
                <a:cs typeface="Times New Roman"/>
              </a:rPr>
              <a:t>32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microcontroller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comparison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is </a:t>
            </a:r>
            <a:r>
              <a:rPr dirty="0" sz="2200" b="1">
                <a:latin typeface="Times New Roman"/>
                <a:cs typeface="Times New Roman"/>
              </a:rPr>
              <a:t>done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with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values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captured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by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wearable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device.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Body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temperature,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blood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glucose, </a:t>
            </a:r>
            <a:r>
              <a:rPr dirty="0" sz="2200" b="1">
                <a:latin typeface="Times New Roman"/>
                <a:cs typeface="Times New Roman"/>
              </a:rPr>
              <a:t>blood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pressure,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oxygen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saturation,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heart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rate,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fetal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movement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falls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pregnant </a:t>
            </a:r>
            <a:r>
              <a:rPr dirty="0" sz="2200" b="1">
                <a:latin typeface="Times New Roman"/>
                <a:cs typeface="Times New Roman"/>
              </a:rPr>
              <a:t>woman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were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monitored.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0" rIns="0" bIns="0" rtlCol="0" vert="horz">
            <a:spAutoFit/>
          </a:bodyPr>
          <a:lstStyle/>
          <a:p>
            <a:pPr marL="59055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EXISTING</a:t>
            </a:r>
            <a:r>
              <a:rPr dirty="0" spc="-300"/>
              <a:t> </a:t>
            </a:r>
            <a:r>
              <a:rPr dirty="0" spc="-130"/>
              <a:t>SOLUTIONS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-2946" y="2142368"/>
            <a:ext cx="10641965" cy="103124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200" b="1">
                <a:solidFill>
                  <a:srgbClr val="1F487C"/>
                </a:solidFill>
                <a:latin typeface="Times New Roman"/>
                <a:cs typeface="Times New Roman"/>
              </a:rPr>
              <a:t>RESEARCH</a:t>
            </a:r>
            <a:r>
              <a:rPr dirty="0" sz="2200" spc="-6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1F487C"/>
                </a:solidFill>
                <a:latin typeface="Times New Roman"/>
                <a:cs typeface="Times New Roman"/>
              </a:rPr>
              <a:t>GAP:</a:t>
            </a:r>
            <a:r>
              <a:rPr dirty="0" sz="2200" spc="-5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No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mechanism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10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predictive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analysis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patient's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vitals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forewarn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50" b="1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  <a:tabLst>
                <a:tab pos="4670425" algn="l"/>
              </a:tabLst>
            </a:pPr>
            <a:r>
              <a:rPr dirty="0" sz="2200" b="1">
                <a:latin typeface="Times New Roman"/>
                <a:cs typeface="Times New Roman"/>
              </a:rPr>
              <a:t>risk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complication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or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possible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illness</a:t>
            </a:r>
            <a:r>
              <a:rPr dirty="0" sz="2200" b="1">
                <a:latin typeface="Times New Roman"/>
                <a:cs typeface="Times New Roman"/>
              </a:rPr>
              <a:t>	of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mother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0" rIns="0" bIns="0" rtlCol="0" vert="horz">
            <a:spAutoFit/>
          </a:bodyPr>
          <a:lstStyle/>
          <a:p>
            <a:pPr marL="59055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EXISTING</a:t>
            </a:r>
            <a:r>
              <a:rPr dirty="0" spc="-300"/>
              <a:t> </a:t>
            </a:r>
            <a:r>
              <a:rPr dirty="0" spc="-130"/>
              <a:t>SOLUTIONS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6809231"/>
            <a:ext cx="271272" cy="3246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-53746" y="2158243"/>
            <a:ext cx="10743565" cy="5246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 marR="55880">
              <a:lnSpc>
                <a:spcPct val="150100"/>
              </a:lnSpc>
              <a:spcBef>
                <a:spcPts val="95"/>
              </a:spcBef>
            </a:pPr>
            <a:r>
              <a:rPr dirty="0" sz="2200" spc="-10" b="1">
                <a:latin typeface="Times New Roman"/>
                <a:cs typeface="Times New Roman"/>
              </a:rPr>
              <a:t>(2)Explainable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Early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Prediction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Gestational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Diabetes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Biomarkers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by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Combining </a:t>
            </a:r>
            <a:r>
              <a:rPr dirty="0" sz="2200" b="1">
                <a:latin typeface="Times New Roman"/>
                <a:cs typeface="Times New Roman"/>
              </a:rPr>
              <a:t>Medical</a:t>
            </a:r>
            <a:r>
              <a:rPr dirty="0" sz="2200" spc="-13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Background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Wearable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Devices:</a:t>
            </a:r>
            <a:r>
              <a:rPr dirty="0" sz="2200" spc="-1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1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Pilot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Study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With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Cohort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Group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South Africa(2024)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baseline="24904" sz="2175" spc="-37" b="1">
                <a:solidFill>
                  <a:srgbClr val="006FC0"/>
                </a:solidFill>
                <a:latin typeface="Times New Roman"/>
                <a:cs typeface="Times New Roman"/>
              </a:rPr>
              <a:t>[5]</a:t>
            </a:r>
            <a:endParaRPr baseline="24904" sz="2175">
              <a:latin typeface="Times New Roman"/>
              <a:cs typeface="Times New Roman"/>
            </a:endParaRPr>
          </a:p>
          <a:p>
            <a:pPr marL="63500" marR="778510">
              <a:lnSpc>
                <a:spcPct val="150100"/>
              </a:lnSpc>
              <a:spcBef>
                <a:spcPts val="1590"/>
              </a:spcBef>
            </a:pPr>
            <a:r>
              <a:rPr dirty="0" sz="2200" spc="-20" b="1">
                <a:solidFill>
                  <a:srgbClr val="1F487C"/>
                </a:solidFill>
                <a:latin typeface="Times New Roman"/>
                <a:cs typeface="Times New Roman"/>
              </a:rPr>
              <a:t>GOAL:</a:t>
            </a:r>
            <a:r>
              <a:rPr dirty="0" sz="2200" spc="-12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3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wrist-</a:t>
            </a:r>
            <a:r>
              <a:rPr dirty="0" sz="2200" b="1">
                <a:latin typeface="Times New Roman"/>
                <a:cs typeface="Times New Roman"/>
              </a:rPr>
              <a:t>worn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device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that</a:t>
            </a:r>
            <a:r>
              <a:rPr dirty="0" sz="2200" spc="-1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forecasts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biomarkers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13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16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weeks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prior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the </a:t>
            </a:r>
            <a:r>
              <a:rPr dirty="0" sz="2200" b="1">
                <a:latin typeface="Times New Roman"/>
                <a:cs typeface="Times New Roman"/>
              </a:rPr>
              <a:t>Gestational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Diabetes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Mellitus(GDM)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screening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test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done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24-28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weeks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pregnancy.</a:t>
            </a:r>
            <a:endParaRPr sz="2200">
              <a:latin typeface="Times New Roman"/>
              <a:cs typeface="Times New Roman"/>
            </a:endParaRPr>
          </a:p>
          <a:p>
            <a:pPr marL="63500" marR="585470">
              <a:lnSpc>
                <a:spcPct val="151600"/>
              </a:lnSpc>
              <a:spcBef>
                <a:spcPts val="1830"/>
              </a:spcBef>
            </a:pPr>
            <a:r>
              <a:rPr dirty="0" sz="2200" spc="-10" b="1">
                <a:solidFill>
                  <a:srgbClr val="1F487C"/>
                </a:solidFill>
                <a:latin typeface="Times New Roman"/>
                <a:cs typeface="Times New Roman"/>
              </a:rPr>
              <a:t>TECHNIQUE:</a:t>
            </a:r>
            <a:r>
              <a:rPr dirty="0" sz="2200" spc="-6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Glucose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monitoring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devices,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wristband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10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activity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detection,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and </a:t>
            </a:r>
            <a:r>
              <a:rPr dirty="0" sz="2200" b="1">
                <a:latin typeface="Times New Roman"/>
                <a:cs typeface="Times New Roman"/>
              </a:rPr>
              <a:t>medical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background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were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fed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into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ML</a:t>
            </a:r>
            <a:r>
              <a:rPr dirty="0" sz="2200" spc="-1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model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predict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possible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occurrence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of </a:t>
            </a:r>
            <a:r>
              <a:rPr dirty="0" sz="2200" spc="-20" b="1">
                <a:latin typeface="Times New Roman"/>
                <a:cs typeface="Times New Roman"/>
              </a:rPr>
              <a:t>GDM.</a:t>
            </a:r>
            <a:endParaRPr sz="2200">
              <a:latin typeface="Times New Roman"/>
              <a:cs typeface="Times New Roman"/>
            </a:endParaRPr>
          </a:p>
          <a:p>
            <a:pPr algn="r" marR="367030">
              <a:lnSpc>
                <a:spcPts val="1215"/>
              </a:lnSpc>
              <a:spcBef>
                <a:spcPts val="1820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  <a:p>
            <a:pPr marL="63500">
              <a:lnSpc>
                <a:spcPts val="2835"/>
              </a:lnSpc>
            </a:pPr>
            <a:r>
              <a:rPr dirty="0" sz="2400" b="1">
                <a:solidFill>
                  <a:srgbClr val="1F487C"/>
                </a:solidFill>
                <a:latin typeface="Times New Roman"/>
                <a:cs typeface="Times New Roman"/>
              </a:rPr>
              <a:t>RESEARCH</a:t>
            </a:r>
            <a:r>
              <a:rPr dirty="0" sz="2400" spc="-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1F487C"/>
                </a:solidFill>
                <a:latin typeface="Times New Roman"/>
                <a:cs typeface="Times New Roman"/>
              </a:rPr>
              <a:t>GAP:</a:t>
            </a:r>
            <a:r>
              <a:rPr dirty="0" sz="2400" spc="-5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Limited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scope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to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Times New Roman"/>
                <a:cs typeface="Times New Roman"/>
              </a:rPr>
              <a:t>GDM.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0" rIns="0" bIns="0" rtlCol="0" vert="horz">
            <a:spAutoFit/>
          </a:bodyPr>
          <a:lstStyle/>
          <a:p>
            <a:pPr marL="64389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EXISTING</a:t>
            </a:r>
            <a:r>
              <a:rPr dirty="0" spc="-300"/>
              <a:t> </a:t>
            </a:r>
            <a:r>
              <a:rPr dirty="0" spc="-130"/>
              <a:t>SOLUTIONS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283" y="6809231"/>
            <a:ext cx="271272" cy="3246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715882" y="6863588"/>
            <a:ext cx="16116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-66446" y="2158243"/>
            <a:ext cx="10234295" cy="465899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415"/>
              </a:spcBef>
            </a:pPr>
            <a:r>
              <a:rPr dirty="0" sz="2200" b="1">
                <a:latin typeface="Times New Roman"/>
                <a:cs typeface="Times New Roman"/>
              </a:rPr>
              <a:t>(3)Health</a:t>
            </a:r>
            <a:r>
              <a:rPr dirty="0" sz="2200" spc="-10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Monitoring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Expecting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Mothers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Using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Multiple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Sensor</a:t>
            </a:r>
            <a:r>
              <a:rPr dirty="0" sz="2200" spc="-21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Approach: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"Preg</a:t>
            </a:r>
            <a:endParaRPr sz="22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1320"/>
              </a:spcBef>
            </a:pPr>
            <a:r>
              <a:rPr dirty="0" sz="2200" b="1">
                <a:latin typeface="Times New Roman"/>
                <a:cs typeface="Times New Roman"/>
              </a:rPr>
              <a:t>Care"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(2020)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baseline="24904" sz="2175" spc="-37" b="1">
                <a:solidFill>
                  <a:srgbClr val="006FC0"/>
                </a:solidFill>
                <a:latin typeface="Times New Roman"/>
                <a:cs typeface="Times New Roman"/>
              </a:rPr>
              <a:t>[6]</a:t>
            </a:r>
            <a:endParaRPr baseline="24904" sz="2175">
              <a:latin typeface="Times New Roman"/>
              <a:cs typeface="Times New Roman"/>
            </a:endParaRPr>
          </a:p>
          <a:p>
            <a:pPr marL="76200" marR="50800">
              <a:lnSpc>
                <a:spcPct val="150000"/>
              </a:lnSpc>
              <a:spcBef>
                <a:spcPts val="1600"/>
              </a:spcBef>
              <a:tabLst>
                <a:tab pos="5795645" algn="l"/>
              </a:tabLst>
            </a:pPr>
            <a:r>
              <a:rPr dirty="0" sz="2200" spc="-20" b="1">
                <a:solidFill>
                  <a:srgbClr val="1F487C"/>
                </a:solidFill>
                <a:latin typeface="Times New Roman"/>
                <a:cs typeface="Times New Roman"/>
              </a:rPr>
              <a:t>GOAL:</a:t>
            </a:r>
            <a:r>
              <a:rPr dirty="0" sz="2200" spc="-12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39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hand/wrist-</a:t>
            </a:r>
            <a:r>
              <a:rPr dirty="0" sz="2200" b="1">
                <a:latin typeface="Times New Roman"/>
                <a:cs typeface="Times New Roman"/>
              </a:rPr>
              <a:t>worn</a:t>
            </a:r>
            <a:r>
              <a:rPr dirty="0" sz="2200" spc="-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system</a:t>
            </a:r>
            <a:r>
              <a:rPr dirty="0" sz="2200" spc="-1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comprising</a:t>
            </a:r>
            <a:r>
              <a:rPr dirty="0" sz="2200" b="1">
                <a:latin typeface="Times New Roman"/>
                <a:cs typeface="Times New Roman"/>
              </a:rPr>
              <a:t>	provides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complete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health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monitoring </a:t>
            </a:r>
            <a:r>
              <a:rPr dirty="0" sz="2200" b="1">
                <a:latin typeface="Times New Roman"/>
                <a:cs typeface="Times New Roman"/>
              </a:rPr>
              <a:t>during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pregnancy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period.</a:t>
            </a:r>
            <a:endParaRPr sz="2200">
              <a:latin typeface="Times New Roman"/>
              <a:cs typeface="Times New Roman"/>
            </a:endParaRPr>
          </a:p>
          <a:p>
            <a:pPr marL="76200" marR="461645">
              <a:lnSpc>
                <a:spcPct val="150000"/>
              </a:lnSpc>
              <a:spcBef>
                <a:spcPts val="1595"/>
              </a:spcBef>
            </a:pPr>
            <a:r>
              <a:rPr dirty="0" sz="2200" b="1">
                <a:solidFill>
                  <a:srgbClr val="1F487C"/>
                </a:solidFill>
                <a:latin typeface="Times New Roman"/>
                <a:cs typeface="Times New Roman"/>
              </a:rPr>
              <a:t>TECHNIQUE:</a:t>
            </a:r>
            <a:r>
              <a:rPr dirty="0" sz="2200" spc="-50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Body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temperature,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glucose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rate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detection,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heart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rate,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sudden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fall </a:t>
            </a:r>
            <a:r>
              <a:rPr dirty="0" sz="2200" b="1">
                <a:latin typeface="Times New Roman"/>
                <a:cs typeface="Times New Roman"/>
              </a:rPr>
              <a:t>detection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anemia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status(using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python-</a:t>
            </a:r>
            <a:r>
              <a:rPr dirty="0" sz="2200" b="1">
                <a:latin typeface="Times New Roman"/>
                <a:cs typeface="Times New Roman"/>
              </a:rPr>
              <a:t>based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image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processing)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are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monitored </a:t>
            </a:r>
            <a:r>
              <a:rPr dirty="0" sz="2200" b="1">
                <a:latin typeface="Times New Roman"/>
                <a:cs typeface="Times New Roman"/>
              </a:rPr>
              <a:t>throughout</a:t>
            </a:r>
            <a:r>
              <a:rPr dirty="0" sz="2200" spc="-1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gestational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period.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Alert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systems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are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implemented.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2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dirty="0" sz="2200" b="1">
                <a:solidFill>
                  <a:srgbClr val="1F487C"/>
                </a:solidFill>
                <a:latin typeface="Times New Roman"/>
                <a:cs typeface="Times New Roman"/>
              </a:rPr>
              <a:t>RESEARCH</a:t>
            </a:r>
            <a:r>
              <a:rPr dirty="0" sz="2200" spc="-65" b="1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1F487C"/>
                </a:solidFill>
                <a:latin typeface="Times New Roman"/>
                <a:cs typeface="Times New Roman"/>
              </a:rPr>
              <a:t>GAP</a:t>
            </a:r>
            <a:r>
              <a:rPr dirty="0" sz="2200" b="1">
                <a:latin typeface="Times New Roman"/>
                <a:cs typeface="Times New Roman"/>
              </a:rPr>
              <a:t>: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No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security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measures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are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implemented.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63600" y="5990682"/>
            <a:ext cx="1358265" cy="249554"/>
          </a:xfrm>
          <a:custGeom>
            <a:avLst/>
            <a:gdLst/>
            <a:ahLst/>
            <a:cxnLst/>
            <a:rect l="l" t="t" r="r" b="b"/>
            <a:pathLst>
              <a:path w="1358264" h="249554">
                <a:moveTo>
                  <a:pt x="1295751" y="0"/>
                </a:moveTo>
                <a:lnTo>
                  <a:pt x="62260" y="0"/>
                </a:lnTo>
                <a:lnTo>
                  <a:pt x="39399" y="10700"/>
                </a:lnTo>
                <a:lnTo>
                  <a:pt x="19456" y="38912"/>
                </a:lnTo>
                <a:lnTo>
                  <a:pt x="5350" y="78798"/>
                </a:lnTo>
                <a:lnTo>
                  <a:pt x="0" y="124520"/>
                </a:lnTo>
                <a:lnTo>
                  <a:pt x="5350" y="170243"/>
                </a:lnTo>
                <a:lnTo>
                  <a:pt x="19456" y="210128"/>
                </a:lnTo>
                <a:lnTo>
                  <a:pt x="39399" y="238340"/>
                </a:lnTo>
                <a:lnTo>
                  <a:pt x="62260" y="249041"/>
                </a:lnTo>
                <a:lnTo>
                  <a:pt x="1295751" y="249041"/>
                </a:lnTo>
                <a:lnTo>
                  <a:pt x="1318613" y="238340"/>
                </a:lnTo>
                <a:lnTo>
                  <a:pt x="1338556" y="210128"/>
                </a:lnTo>
                <a:lnTo>
                  <a:pt x="1352663" y="170243"/>
                </a:lnTo>
                <a:lnTo>
                  <a:pt x="1358013" y="124520"/>
                </a:lnTo>
                <a:lnTo>
                  <a:pt x="1352663" y="78798"/>
                </a:lnTo>
                <a:lnTo>
                  <a:pt x="1338556" y="38912"/>
                </a:lnTo>
                <a:lnTo>
                  <a:pt x="1318613" y="10700"/>
                </a:lnTo>
                <a:lnTo>
                  <a:pt x="1295751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63600" y="3776300"/>
            <a:ext cx="7151370" cy="248920"/>
          </a:xfrm>
          <a:custGeom>
            <a:avLst/>
            <a:gdLst/>
            <a:ahLst/>
            <a:cxnLst/>
            <a:rect l="l" t="t" r="r" b="b"/>
            <a:pathLst>
              <a:path w="7151370" h="248920">
                <a:moveTo>
                  <a:pt x="7088877" y="0"/>
                </a:moveTo>
                <a:lnTo>
                  <a:pt x="62192" y="0"/>
                </a:lnTo>
                <a:lnTo>
                  <a:pt x="39356" y="10689"/>
                </a:lnTo>
                <a:lnTo>
                  <a:pt x="19435" y="38869"/>
                </a:lnTo>
                <a:lnTo>
                  <a:pt x="5344" y="78711"/>
                </a:lnTo>
                <a:lnTo>
                  <a:pt x="0" y="124383"/>
                </a:lnTo>
                <a:lnTo>
                  <a:pt x="5344" y="170055"/>
                </a:lnTo>
                <a:lnTo>
                  <a:pt x="19435" y="209897"/>
                </a:lnTo>
                <a:lnTo>
                  <a:pt x="39356" y="238078"/>
                </a:lnTo>
                <a:lnTo>
                  <a:pt x="62192" y="248767"/>
                </a:lnTo>
                <a:lnTo>
                  <a:pt x="7088877" y="248767"/>
                </a:lnTo>
                <a:lnTo>
                  <a:pt x="7111713" y="238078"/>
                </a:lnTo>
                <a:lnTo>
                  <a:pt x="7131634" y="209897"/>
                </a:lnTo>
                <a:lnTo>
                  <a:pt x="7145725" y="170055"/>
                </a:lnTo>
                <a:lnTo>
                  <a:pt x="7151070" y="124383"/>
                </a:lnTo>
                <a:lnTo>
                  <a:pt x="7145725" y="78711"/>
                </a:lnTo>
                <a:lnTo>
                  <a:pt x="7131634" y="38869"/>
                </a:lnTo>
                <a:lnTo>
                  <a:pt x="7111713" y="10689"/>
                </a:lnTo>
                <a:lnTo>
                  <a:pt x="7088877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0"/>
            <a:ext cx="10692765" cy="326390"/>
          </a:xfrm>
          <a:custGeom>
            <a:avLst/>
            <a:gdLst/>
            <a:ahLst/>
            <a:cxnLst/>
            <a:rect l="l" t="t" r="r" b="b"/>
            <a:pathLst>
              <a:path w="10692765" h="326390">
                <a:moveTo>
                  <a:pt x="10692257" y="0"/>
                </a:moveTo>
                <a:lnTo>
                  <a:pt x="0" y="0"/>
                </a:lnTo>
                <a:lnTo>
                  <a:pt x="0" y="325881"/>
                </a:lnTo>
                <a:lnTo>
                  <a:pt x="10692257" y="325881"/>
                </a:lnTo>
                <a:lnTo>
                  <a:pt x="10692257" y="0"/>
                </a:lnTo>
                <a:close/>
              </a:path>
            </a:pathLst>
          </a:custGeom>
          <a:solidFill>
            <a:srgbClr val="ED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0" y="1982545"/>
            <a:ext cx="10692765" cy="5577840"/>
          </a:xfrm>
          <a:custGeom>
            <a:avLst/>
            <a:gdLst/>
            <a:ahLst/>
            <a:cxnLst/>
            <a:rect l="l" t="t" r="r" b="b"/>
            <a:pathLst>
              <a:path w="10692765" h="5577840">
                <a:moveTo>
                  <a:pt x="10692257" y="0"/>
                </a:moveTo>
                <a:lnTo>
                  <a:pt x="0" y="0"/>
                </a:lnTo>
                <a:lnTo>
                  <a:pt x="0" y="5577459"/>
                </a:lnTo>
                <a:lnTo>
                  <a:pt x="10692257" y="5577459"/>
                </a:lnTo>
                <a:lnTo>
                  <a:pt x="10692257" y="0"/>
                </a:lnTo>
                <a:close/>
              </a:path>
            </a:pathLst>
          </a:custGeom>
          <a:solidFill>
            <a:srgbClr val="EDEC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0" y="1874519"/>
            <a:ext cx="10692765" cy="108585"/>
            <a:chOff x="0" y="1874519"/>
            <a:chExt cx="10692765" cy="108585"/>
          </a:xfrm>
        </p:grpSpPr>
        <p:sp>
          <p:nvSpPr>
            <p:cNvPr id="7" name="object 7" descr=""/>
            <p:cNvSpPr/>
            <p:nvPr/>
          </p:nvSpPr>
          <p:spPr>
            <a:xfrm>
              <a:off x="0" y="1874519"/>
              <a:ext cx="10692765" cy="3810"/>
            </a:xfrm>
            <a:custGeom>
              <a:avLst/>
              <a:gdLst/>
              <a:ahLst/>
              <a:cxnLst/>
              <a:rect l="l" t="t" r="r" b="b"/>
              <a:pathLst>
                <a:path w="10692765" h="3810">
                  <a:moveTo>
                    <a:pt x="10692257" y="0"/>
                  </a:moveTo>
                  <a:lnTo>
                    <a:pt x="0" y="0"/>
                  </a:lnTo>
                  <a:lnTo>
                    <a:pt x="0" y="3683"/>
                  </a:lnTo>
                  <a:lnTo>
                    <a:pt x="10692257" y="3683"/>
                  </a:lnTo>
                  <a:lnTo>
                    <a:pt x="10692257" y="0"/>
                  </a:lnTo>
                  <a:close/>
                </a:path>
              </a:pathLst>
            </a:custGeom>
            <a:solidFill>
              <a:srgbClr val="EDE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1878351"/>
              <a:ext cx="10692765" cy="104775"/>
            </a:xfrm>
            <a:custGeom>
              <a:avLst/>
              <a:gdLst/>
              <a:ahLst/>
              <a:cxnLst/>
              <a:rect l="l" t="t" r="r" b="b"/>
              <a:pathLst>
                <a:path w="10692765" h="104775">
                  <a:moveTo>
                    <a:pt x="10692257" y="0"/>
                  </a:moveTo>
                  <a:lnTo>
                    <a:pt x="0" y="0"/>
                  </a:lnTo>
                  <a:lnTo>
                    <a:pt x="0" y="104372"/>
                  </a:lnTo>
                  <a:lnTo>
                    <a:pt x="10692257" y="104372"/>
                  </a:lnTo>
                  <a:lnTo>
                    <a:pt x="10692257" y="0"/>
                  </a:lnTo>
                  <a:close/>
                </a:path>
              </a:pathLst>
            </a:custGeom>
            <a:solidFill>
              <a:srgbClr val="D2AB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0" y="326156"/>
            <a:ext cx="10692765" cy="104775"/>
          </a:xfrm>
          <a:custGeom>
            <a:avLst/>
            <a:gdLst/>
            <a:ahLst/>
            <a:cxnLst/>
            <a:rect l="l" t="t" r="r" b="b"/>
            <a:pathLst>
              <a:path w="10692765" h="104775">
                <a:moveTo>
                  <a:pt x="10692257" y="0"/>
                </a:moveTo>
                <a:lnTo>
                  <a:pt x="0" y="0"/>
                </a:lnTo>
                <a:lnTo>
                  <a:pt x="0" y="104373"/>
                </a:lnTo>
                <a:lnTo>
                  <a:pt x="10692257" y="104373"/>
                </a:lnTo>
                <a:lnTo>
                  <a:pt x="10692257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0" y="429767"/>
            <a:ext cx="10692765" cy="1444625"/>
          </a:xfrm>
          <a:prstGeom prst="rect"/>
          <a:solidFill>
            <a:srgbClr val="282781"/>
          </a:solidFill>
        </p:spPr>
        <p:txBody>
          <a:bodyPr wrap="square" lIns="0" tIns="304800" rIns="0" bIns="0" rtlCol="0" vert="horz">
            <a:spAutoFit/>
          </a:bodyPr>
          <a:lstStyle/>
          <a:p>
            <a:pPr marL="381000">
              <a:lnSpc>
                <a:spcPct val="100000"/>
              </a:lnSpc>
              <a:spcBef>
                <a:spcPts val="2400"/>
              </a:spcBef>
            </a:pPr>
            <a:r>
              <a:rPr dirty="0" spc="-175"/>
              <a:t>PROPOSED</a:t>
            </a:r>
            <a:r>
              <a:rPr dirty="0" spc="-229"/>
              <a:t> </a:t>
            </a:r>
            <a:r>
              <a:rPr dirty="0" spc="-100"/>
              <a:t>METHODOLOGY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-6299" y="1824380"/>
            <a:ext cx="10548620" cy="4958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  <a:buFont typeface="Wingdings"/>
              <a:buChar char=""/>
              <a:tabLst>
                <a:tab pos="469900" algn="l"/>
              </a:tabLst>
            </a:pP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vitals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measured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are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captured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by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wrist-</a:t>
            </a:r>
            <a:r>
              <a:rPr dirty="0" sz="2200" b="1">
                <a:latin typeface="Times New Roman"/>
                <a:cs typeface="Times New Roman"/>
              </a:rPr>
              <a:t>worn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wearable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device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and </a:t>
            </a:r>
            <a:r>
              <a:rPr dirty="0" sz="2200" b="1">
                <a:latin typeface="Times New Roman"/>
                <a:cs typeface="Times New Roman"/>
              </a:rPr>
              <a:t>additional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such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as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protein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urine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are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manually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inputted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into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mobile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app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and </a:t>
            </a:r>
            <a:r>
              <a:rPr dirty="0" sz="2200" b="1">
                <a:latin typeface="Times New Roman"/>
                <a:cs typeface="Times New Roman"/>
              </a:rPr>
              <a:t>sent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cloud.</a:t>
            </a:r>
            <a:endParaRPr sz="2200">
              <a:latin typeface="Times New Roman"/>
              <a:cs typeface="Times New Roman"/>
            </a:endParaRPr>
          </a:p>
          <a:p>
            <a:pPr marL="469900" marR="61594" indent="-457200">
              <a:lnSpc>
                <a:spcPct val="150000"/>
              </a:lnSpc>
              <a:spcBef>
                <a:spcPts val="1595"/>
              </a:spcBef>
              <a:buFont typeface="Wingdings"/>
              <a:buChar char=""/>
              <a:tabLst>
                <a:tab pos="469900" algn="l"/>
                <a:tab pos="1679575" algn="l"/>
                <a:tab pos="4724400" algn="l"/>
              </a:tabLst>
            </a:pP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Preprocessing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feature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selection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occurs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cloud.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These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are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fed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into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50" b="1">
                <a:latin typeface="Times New Roman"/>
                <a:cs typeface="Times New Roman"/>
              </a:rPr>
              <a:t>a </a:t>
            </a:r>
            <a:r>
              <a:rPr dirty="0" sz="2200" b="1">
                <a:latin typeface="Times New Roman"/>
                <a:cs typeface="Times New Roman"/>
              </a:rPr>
              <a:t>machine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learning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model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trained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to</a:t>
            </a:r>
            <a:r>
              <a:rPr dirty="0" sz="2200" b="1">
                <a:latin typeface="Times New Roman"/>
                <a:cs typeface="Times New Roman"/>
              </a:rPr>
              <a:t>	predict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pregnancy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complications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weeks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ahead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of </a:t>
            </a:r>
            <a:r>
              <a:rPr dirty="0" sz="2200" spc="-10" b="1">
                <a:latin typeface="Times New Roman"/>
                <a:cs typeface="Times New Roman"/>
              </a:rPr>
              <a:t>standard</a:t>
            </a:r>
            <a:r>
              <a:rPr dirty="0" sz="2200" b="1">
                <a:latin typeface="Times New Roman"/>
                <a:cs typeface="Times New Roman"/>
              </a:rPr>
              <a:t>	detection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window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alert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pregnant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woman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doctor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if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anomaly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is </a:t>
            </a:r>
            <a:r>
              <a:rPr dirty="0" sz="2200" b="1">
                <a:latin typeface="Times New Roman"/>
                <a:cs typeface="Times New Roman"/>
              </a:rPr>
              <a:t>detected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vitals.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  <a:tab pos="4608830" algn="l"/>
                <a:tab pos="8247380" algn="l"/>
              </a:tabLst>
            </a:pPr>
            <a:r>
              <a:rPr dirty="0" sz="2200" b="1">
                <a:latin typeface="Times New Roman"/>
                <a:cs typeface="Times New Roman"/>
              </a:rPr>
              <a:t>Mobile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app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provides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dashboard</a:t>
            </a:r>
            <a:r>
              <a:rPr dirty="0" sz="2200" b="1">
                <a:latin typeface="Times New Roman"/>
                <a:cs typeface="Times New Roman"/>
              </a:rPr>
              <a:t>	each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pregnant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woman</a:t>
            </a:r>
            <a:r>
              <a:rPr dirty="0" sz="2200" b="1">
                <a:latin typeface="Times New Roman"/>
                <a:cs typeface="Times New Roman"/>
              </a:rPr>
              <a:t>	and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doctor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to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25"/>
              </a:spcBef>
            </a:pPr>
            <a:r>
              <a:rPr dirty="0" sz="2200" b="1">
                <a:latin typeface="Times New Roman"/>
                <a:cs typeface="Times New Roman"/>
              </a:rPr>
              <a:t>visualize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vitals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receive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alerts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event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anomaly.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59801" y="3634971"/>
            <a:ext cx="304800" cy="304800"/>
            <a:chOff x="559801" y="3634971"/>
            <a:chExt cx="304800" cy="304800"/>
          </a:xfrm>
        </p:grpSpPr>
        <p:sp>
          <p:nvSpPr>
            <p:cNvPr id="13" name="object 13" descr=""/>
            <p:cNvSpPr/>
            <p:nvPr/>
          </p:nvSpPr>
          <p:spPr>
            <a:xfrm>
              <a:off x="572502" y="3647668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FFE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72501" y="3647671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2700" y="-2"/>
                  </a:moveTo>
                  <a:lnTo>
                    <a:pt x="5686" y="-2"/>
                  </a:lnTo>
                  <a:lnTo>
                    <a:pt x="0" y="5684"/>
                  </a:lnTo>
                  <a:lnTo>
                    <a:pt x="0" y="12697"/>
                  </a:lnTo>
                  <a:lnTo>
                    <a:pt x="0" y="266697"/>
                  </a:lnTo>
                  <a:lnTo>
                    <a:pt x="0" y="273711"/>
                  </a:lnTo>
                  <a:lnTo>
                    <a:pt x="5686" y="279397"/>
                  </a:lnTo>
                  <a:lnTo>
                    <a:pt x="12700" y="279397"/>
                  </a:lnTo>
                  <a:lnTo>
                    <a:pt x="266700" y="279397"/>
                  </a:lnTo>
                  <a:lnTo>
                    <a:pt x="273714" y="279397"/>
                  </a:lnTo>
                  <a:lnTo>
                    <a:pt x="279400" y="273711"/>
                  </a:lnTo>
                  <a:lnTo>
                    <a:pt x="279400" y="266697"/>
                  </a:lnTo>
                  <a:lnTo>
                    <a:pt x="279400" y="12697"/>
                  </a:lnTo>
                  <a:lnTo>
                    <a:pt x="279400" y="5684"/>
                  </a:lnTo>
                  <a:lnTo>
                    <a:pt x="273714" y="-2"/>
                  </a:lnTo>
                  <a:lnTo>
                    <a:pt x="266700" y="-2"/>
                  </a:lnTo>
                  <a:lnTo>
                    <a:pt x="12700" y="-2"/>
                  </a:lnTo>
                  <a:close/>
                </a:path>
              </a:pathLst>
            </a:custGeom>
            <a:ln w="25400">
              <a:solidFill>
                <a:srgbClr val="E5C9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489672" y="5776767"/>
            <a:ext cx="304800" cy="304800"/>
            <a:chOff x="489672" y="5776767"/>
            <a:chExt cx="304800" cy="304800"/>
          </a:xfrm>
        </p:grpSpPr>
        <p:sp>
          <p:nvSpPr>
            <p:cNvPr id="16" name="object 16" descr=""/>
            <p:cNvSpPr/>
            <p:nvPr/>
          </p:nvSpPr>
          <p:spPr>
            <a:xfrm>
              <a:off x="502372" y="5789472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FFE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02372" y="5789467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2700" y="5"/>
                  </a:moveTo>
                  <a:lnTo>
                    <a:pt x="5686" y="5"/>
                  </a:lnTo>
                  <a:lnTo>
                    <a:pt x="0" y="5690"/>
                  </a:lnTo>
                  <a:lnTo>
                    <a:pt x="0" y="12705"/>
                  </a:lnTo>
                  <a:lnTo>
                    <a:pt x="0" y="266705"/>
                  </a:lnTo>
                  <a:lnTo>
                    <a:pt x="0" y="273719"/>
                  </a:lnTo>
                  <a:lnTo>
                    <a:pt x="5686" y="279405"/>
                  </a:lnTo>
                  <a:lnTo>
                    <a:pt x="12700" y="279405"/>
                  </a:lnTo>
                  <a:lnTo>
                    <a:pt x="266700" y="279405"/>
                  </a:lnTo>
                  <a:lnTo>
                    <a:pt x="273714" y="279405"/>
                  </a:lnTo>
                  <a:lnTo>
                    <a:pt x="279400" y="273719"/>
                  </a:lnTo>
                  <a:lnTo>
                    <a:pt x="279400" y="266705"/>
                  </a:lnTo>
                  <a:lnTo>
                    <a:pt x="279400" y="12705"/>
                  </a:lnTo>
                  <a:lnTo>
                    <a:pt x="279400" y="5690"/>
                  </a:lnTo>
                  <a:lnTo>
                    <a:pt x="273714" y="5"/>
                  </a:lnTo>
                  <a:lnTo>
                    <a:pt x="266700" y="5"/>
                  </a:lnTo>
                  <a:lnTo>
                    <a:pt x="12700" y="5"/>
                  </a:lnTo>
                  <a:close/>
                </a:path>
              </a:pathLst>
            </a:custGeom>
            <a:ln w="25400">
              <a:solidFill>
                <a:srgbClr val="E5C9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1140432" y="3619972"/>
            <a:ext cx="304800" cy="304800"/>
            <a:chOff x="1140432" y="3619972"/>
            <a:chExt cx="304800" cy="304800"/>
          </a:xfrm>
        </p:grpSpPr>
        <p:sp>
          <p:nvSpPr>
            <p:cNvPr id="19" name="object 19" descr=""/>
            <p:cNvSpPr/>
            <p:nvPr/>
          </p:nvSpPr>
          <p:spPr>
            <a:xfrm>
              <a:off x="1153132" y="3632669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279402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2" y="279400"/>
                  </a:lnTo>
                  <a:lnTo>
                    <a:pt x="279402" y="0"/>
                  </a:lnTo>
                  <a:close/>
                </a:path>
              </a:pathLst>
            </a:custGeom>
            <a:solidFill>
              <a:srgbClr val="FFE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153132" y="3632672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2700" y="-2"/>
                  </a:moveTo>
                  <a:lnTo>
                    <a:pt x="5685" y="-2"/>
                  </a:lnTo>
                  <a:lnTo>
                    <a:pt x="0" y="5683"/>
                  </a:lnTo>
                  <a:lnTo>
                    <a:pt x="0" y="12697"/>
                  </a:lnTo>
                  <a:lnTo>
                    <a:pt x="0" y="266697"/>
                  </a:lnTo>
                  <a:lnTo>
                    <a:pt x="0" y="273711"/>
                  </a:lnTo>
                  <a:lnTo>
                    <a:pt x="5685" y="279397"/>
                  </a:lnTo>
                  <a:lnTo>
                    <a:pt x="12700" y="279397"/>
                  </a:lnTo>
                  <a:lnTo>
                    <a:pt x="266701" y="279397"/>
                  </a:lnTo>
                  <a:lnTo>
                    <a:pt x="273716" y="279397"/>
                  </a:lnTo>
                  <a:lnTo>
                    <a:pt x="279402" y="273711"/>
                  </a:lnTo>
                  <a:lnTo>
                    <a:pt x="279402" y="266697"/>
                  </a:lnTo>
                  <a:lnTo>
                    <a:pt x="279402" y="12697"/>
                  </a:lnTo>
                  <a:lnTo>
                    <a:pt x="279402" y="5683"/>
                  </a:lnTo>
                  <a:lnTo>
                    <a:pt x="273716" y="-2"/>
                  </a:lnTo>
                  <a:lnTo>
                    <a:pt x="266701" y="-2"/>
                  </a:lnTo>
                  <a:lnTo>
                    <a:pt x="12700" y="-2"/>
                  </a:lnTo>
                  <a:close/>
                </a:path>
              </a:pathLst>
            </a:custGeom>
            <a:ln w="25400">
              <a:solidFill>
                <a:srgbClr val="E5C9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8763507" y="3634968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Nathaniel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Adibuer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2024-12-</a:t>
            </a:r>
            <a:r>
              <a:rPr dirty="0" sz="800" i="1">
                <a:latin typeface="Arial"/>
                <a:cs typeface="Arial"/>
              </a:rPr>
              <a:t>14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08:51:29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 spc="5">
                <a:latin typeface="Arial MT"/>
                <a:cs typeface="Arial MT"/>
                <a:hlinkClick r:id="rId2"/>
              </a:rPr>
              <a:t>How</a:t>
            </a:r>
            <a:r>
              <a:rPr dirty="0" sz="1000">
                <a:latin typeface="Arial MT"/>
                <a:cs typeface="Arial MT"/>
                <a:hlinkClick r:id="rId2"/>
              </a:rPr>
              <a:t> about situations </a:t>
            </a:r>
            <a:r>
              <a:rPr dirty="0" sz="1000" spc="5">
                <a:latin typeface="Arial MT"/>
                <a:cs typeface="Arial MT"/>
                <a:hlinkClick r:id="rId2"/>
              </a:rPr>
              <a:t>where</a:t>
            </a:r>
            <a:r>
              <a:rPr dirty="0" sz="1000">
                <a:latin typeface="Arial MT"/>
                <a:cs typeface="Arial MT"/>
                <a:hlinkClick r:id="rId2"/>
              </a:rPr>
              <a:t> there is </a:t>
            </a:r>
            <a:r>
              <a:rPr dirty="0" sz="1000" spc="5">
                <a:latin typeface="Arial MT"/>
                <a:cs typeface="Arial MT"/>
                <a:hlinkClick r:id="rId2"/>
              </a:rPr>
              <a:t>poor</a:t>
            </a:r>
            <a:r>
              <a:rPr dirty="0" sz="1000">
                <a:latin typeface="Arial MT"/>
                <a:cs typeface="Arial MT"/>
                <a:hlinkClick r:id="rId2"/>
              </a:rPr>
              <a:t> </a:t>
            </a:r>
            <a:r>
              <a:rPr dirty="0" sz="1000" spc="5">
                <a:latin typeface="Arial MT"/>
                <a:cs typeface="Arial MT"/>
                <a:hlinkClick r:id="rId2"/>
              </a:rPr>
              <a:t>network</a:t>
            </a:r>
            <a:r>
              <a:rPr dirty="0" sz="1000">
                <a:latin typeface="Arial MT"/>
                <a:cs typeface="Arial MT"/>
                <a:hlinkClick r:id="rId2"/>
              </a:rPr>
              <a:t> connectivity? It might </a:t>
            </a:r>
            <a:r>
              <a:rPr dirty="0" sz="1000" spc="5">
                <a:latin typeface="Arial MT"/>
                <a:cs typeface="Arial MT"/>
                <a:hlinkClick r:id="rId2"/>
              </a:rPr>
              <a:t>compromise</a:t>
            </a:r>
            <a:r>
              <a:rPr dirty="0" sz="1000">
                <a:latin typeface="Arial MT"/>
                <a:cs typeface="Arial MT"/>
                <a:hlinkClick r:id="rId2"/>
              </a:rPr>
              <a:t> your requirement for data to </a:t>
            </a:r>
            <a:r>
              <a:rPr dirty="0" sz="1000" spc="5">
                <a:latin typeface="Arial MT"/>
                <a:cs typeface="Arial MT"/>
                <a:hlinkClick r:id="rId2"/>
              </a:rPr>
              <a:t>be</a:t>
            </a:r>
            <a:r>
              <a:rPr dirty="0" sz="1000">
                <a:latin typeface="Arial MT"/>
                <a:cs typeface="Arial MT"/>
                <a:hlinkClick r:id="rId2"/>
              </a:rPr>
              <a:t> </a:t>
            </a:r>
            <a:r>
              <a:rPr dirty="0" sz="1000" spc="5">
                <a:latin typeface="Arial MT"/>
                <a:cs typeface="Arial MT"/>
                <a:hlinkClick r:id="rId2"/>
              </a:rPr>
              <a:t>streamed</a:t>
            </a:r>
            <a:r>
              <a:rPr dirty="0" sz="1000">
                <a:latin typeface="Arial MT"/>
                <a:cs typeface="Arial MT"/>
                <a:hlinkClick r:id="rId2"/>
              </a:rPr>
              <a:t> </a:t>
            </a:r>
            <a:r>
              <a:rPr dirty="0" sz="1000" spc="5">
                <a:latin typeface="Arial MT"/>
                <a:cs typeface="Arial MT"/>
                <a:hlinkClick r:id="rId2"/>
              </a:rPr>
              <a:t>and</a:t>
            </a:r>
            <a:r>
              <a:rPr dirty="0" sz="1000">
                <a:latin typeface="Arial MT"/>
                <a:cs typeface="Arial MT"/>
                <a:hlinkClick r:id="rId2"/>
              </a:rPr>
              <a:t> sent to the cloud in realtime. </a:t>
            </a:r>
            <a:r>
              <a:rPr dirty="0" sz="1000" spc="5">
                <a:latin typeface="Arial MT"/>
                <a:cs typeface="Arial MT"/>
                <a:hlinkClick r:id="rId2"/>
              </a:rPr>
              <a:t>You</a:t>
            </a:r>
            <a:r>
              <a:rPr dirty="0" sz="1000">
                <a:latin typeface="Arial MT"/>
                <a:cs typeface="Arial MT"/>
                <a:hlinkClick r:id="rId2"/>
              </a:rPr>
              <a:t> </a:t>
            </a:r>
            <a:r>
              <a:rPr dirty="0" sz="1000" spc="5">
                <a:latin typeface="Arial MT"/>
                <a:cs typeface="Arial MT"/>
                <a:hlinkClick r:id="rId2"/>
              </a:rPr>
              <a:t>can</a:t>
            </a:r>
            <a:r>
              <a:rPr dirty="0" sz="1000">
                <a:latin typeface="Arial MT"/>
                <a:cs typeface="Arial MT"/>
                <a:hlinkClick r:id="rId2"/>
              </a:rPr>
              <a:t> consider </a:t>
            </a:r>
            <a:r>
              <a:rPr dirty="0" sz="1000" spc="5">
                <a:latin typeface="Arial MT"/>
                <a:cs typeface="Arial MT"/>
                <a:hlinkClick r:id="rId2"/>
              </a:rPr>
              <a:t>TInyML,</a:t>
            </a:r>
            <a:r>
              <a:rPr dirty="0" sz="1000">
                <a:latin typeface="Arial MT"/>
                <a:cs typeface="Arial MT"/>
                <a:hlinkClick r:id="rId2"/>
              </a:rPr>
              <a:t> running </a:t>
            </a:r>
            <a:r>
              <a:rPr dirty="0" sz="1000" spc="5">
                <a:latin typeface="Arial MT"/>
                <a:cs typeface="Arial MT"/>
                <a:hlinkClick r:id="rId2"/>
              </a:rPr>
              <a:t>model</a:t>
            </a:r>
            <a:r>
              <a:rPr dirty="0" sz="1000">
                <a:latin typeface="Arial MT"/>
                <a:cs typeface="Arial MT"/>
                <a:hlinkClick r:id="rId2"/>
              </a:rPr>
              <a:t> </a:t>
            </a:r>
            <a:r>
              <a:rPr dirty="0" sz="1000" spc="5">
                <a:latin typeface="Arial MT"/>
                <a:cs typeface="Arial MT"/>
                <a:hlinkClick r:id="rId2"/>
              </a:rPr>
              <a:t>on</a:t>
            </a:r>
            <a:r>
              <a:rPr dirty="0" sz="1000">
                <a:latin typeface="Arial MT"/>
                <a:cs typeface="Arial MT"/>
                <a:hlinkClick r:id="rId2"/>
              </a:rPr>
              <a:t> the edge, </a:t>
            </a:r>
            <a:r>
              <a:rPr dirty="0" sz="1000" spc="5">
                <a:latin typeface="Arial MT"/>
                <a:cs typeface="Arial MT"/>
                <a:hlinkClick r:id="rId2"/>
              </a:rPr>
              <a:t>model</a:t>
            </a:r>
            <a:r>
              <a:rPr dirty="0" sz="1000">
                <a:latin typeface="Arial MT"/>
                <a:cs typeface="Arial MT"/>
                <a:hlinkClick r:id="rId2"/>
              </a:rPr>
              <a:t> quantization, pruning.etc for prediction of complications?</a:t>
            </a:r>
            <a:r>
              <a:rPr dirty="0" sz="1000">
                <a:latin typeface="Arial MT"/>
                <a:cs typeface="Arial MT"/>
                <a:hlinkClick r:id="rId2"/>
              </a:rPr>
              <a:t>
</a:t>
            </a:r>
            <a:r>
              <a:rPr dirty="0" sz="1000" spc="5">
                <a:latin typeface="Arial MT"/>
                <a:cs typeface="Arial MT"/>
                <a:hlinkClick r:id="rId2"/>
              </a:rPr>
              <a:t>Here</a:t>
            </a:r>
            <a:r>
              <a:rPr dirty="0" sz="1000">
                <a:latin typeface="Arial MT"/>
                <a:cs typeface="Arial MT"/>
                <a:hlinkClick r:id="rId2"/>
              </a:rPr>
              <a:t> are </a:t>
            </a:r>
            <a:r>
              <a:rPr dirty="0" sz="1000" spc="5">
                <a:latin typeface="Arial MT"/>
                <a:cs typeface="Arial MT"/>
                <a:hlinkClick r:id="rId2"/>
              </a:rPr>
              <a:t>some</a:t>
            </a:r>
            <a:r>
              <a:rPr dirty="0" sz="1000">
                <a:latin typeface="Arial MT"/>
                <a:cs typeface="Arial MT"/>
                <a:hlinkClick r:id="rId2"/>
              </a:rPr>
              <a:t> materials for reference:</a:t>
            </a:r>
            <a:r>
              <a:rPr dirty="0" sz="1000">
                <a:latin typeface="Arial MT"/>
                <a:cs typeface="Arial MT"/>
                <a:hlinkClick r:id="rId2"/>
              </a:rPr>
              <a:t>
</a:t>
            </a:r>
            <a:r>
              <a:rPr dirty="0" sz="1000">
                <a:latin typeface="Arial MT"/>
                <a:cs typeface="Arial MT"/>
                <a:hlinkClick r:id="rId2"/>
              </a:rPr>
              <a:t>https://www.datacamp.com/blog/what-is-tinyml-tiny-</a:t>
            </a:r>
            <a:r>
              <a:rPr dirty="0" sz="1000" spc="5">
                <a:latin typeface="Arial MT"/>
                <a:cs typeface="Arial MT"/>
                <a:hlinkClick r:id="rId2"/>
              </a:rPr>
              <a:t>machine-</a:t>
            </a:r>
            <a:r>
              <a:rPr dirty="0" sz="1000">
                <a:latin typeface="Arial MT"/>
                <a:cs typeface="Arial MT"/>
                <a:hlinkClick r:id="rId2"/>
              </a:rPr>
              <a:t>learning</a:t>
            </a:r>
            <a:r>
              <a:rPr dirty="0" sz="1000">
                <a:latin typeface="Arial MT"/>
                <a:cs typeface="Arial MT"/>
                <a:hlinkClick r:id="rId2"/>
              </a:rPr>
              <a:t>
</a:t>
            </a:r>
            <a:r>
              <a:rPr dirty="0" sz="1000">
                <a:latin typeface="Arial MT"/>
                <a:cs typeface="Arial MT"/>
                <a:hlinkClick r:id="rId2"/>
              </a:rPr>
              <a:t>https://www.edgeaifoundation.org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763507" y="5776772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Nathaniel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Adibuer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2024-12-</a:t>
            </a:r>
            <a:r>
              <a:rPr dirty="0" sz="800" i="1">
                <a:latin typeface="Arial"/>
                <a:cs typeface="Arial"/>
              </a:rPr>
              <a:t>14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08:59:25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How about sms to cover </a:t>
            </a:r>
            <a:r>
              <a:rPr dirty="0" sz="1000" spc="-25">
                <a:latin typeface="Arial MT"/>
                <a:cs typeface="Arial MT"/>
              </a:rPr>
              <a:t>for </a:t>
            </a:r>
            <a:r>
              <a:rPr dirty="0" sz="1000">
                <a:latin typeface="Arial MT"/>
                <a:cs typeface="Arial MT"/>
              </a:rPr>
              <a:t>emergency situations in case </a:t>
            </a:r>
            <a:r>
              <a:rPr dirty="0" sz="1000" spc="-25">
                <a:latin typeface="Arial MT"/>
                <a:cs typeface="Arial MT"/>
              </a:rPr>
              <a:t>of </a:t>
            </a:r>
            <a:r>
              <a:rPr dirty="0" sz="1000">
                <a:latin typeface="Arial MT"/>
                <a:cs typeface="Arial MT"/>
              </a:rPr>
              <a:t>poor network </a:t>
            </a:r>
            <a:r>
              <a:rPr dirty="0" sz="1000" spc="-10">
                <a:latin typeface="Arial MT"/>
                <a:cs typeface="Arial MT"/>
              </a:rPr>
              <a:t>connectivity?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763507" y="3619969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Nathaniel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Adibuer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2024-12-</a:t>
            </a:r>
            <a:r>
              <a:rPr dirty="0" sz="800" i="1">
                <a:latin typeface="Arial"/>
                <a:cs typeface="Arial"/>
              </a:rPr>
              <a:t>14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09:01:50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If you do not want </a:t>
            </a:r>
            <a:r>
              <a:rPr dirty="0" sz="1000" spc="-25">
                <a:latin typeface="Arial MT"/>
                <a:cs typeface="Arial MT"/>
              </a:rPr>
              <a:t>run </a:t>
            </a:r>
            <a:r>
              <a:rPr dirty="0" sz="1000">
                <a:latin typeface="Arial MT"/>
                <a:cs typeface="Arial MT"/>
              </a:rPr>
              <a:t>computations on the edge </a:t>
            </a:r>
            <a:r>
              <a:rPr dirty="0" sz="1000" spc="-10">
                <a:latin typeface="Arial MT"/>
                <a:cs typeface="Arial MT"/>
              </a:rPr>
              <a:t>using </a:t>
            </a:r>
            <a:r>
              <a:rPr dirty="0" sz="1000">
                <a:latin typeface="Arial MT"/>
                <a:cs typeface="Arial MT"/>
              </a:rPr>
              <a:t>the low-powered wearable </a:t>
            </a:r>
            <a:r>
              <a:rPr dirty="0" sz="1000" spc="-25">
                <a:latin typeface="Arial MT"/>
                <a:cs typeface="Arial MT"/>
              </a:rPr>
              <a:t>you </a:t>
            </a:r>
            <a:r>
              <a:rPr dirty="0" sz="1000">
                <a:latin typeface="Arial MT"/>
                <a:cs typeface="Arial MT"/>
              </a:rPr>
              <a:t>can consider an option </a:t>
            </a:r>
            <a:r>
              <a:rPr dirty="0" sz="1000" spc="-25">
                <a:latin typeface="Arial MT"/>
                <a:cs typeface="Arial MT"/>
              </a:rPr>
              <a:t>of </a:t>
            </a:r>
            <a:r>
              <a:rPr dirty="0" sz="1000">
                <a:latin typeface="Arial MT"/>
                <a:cs typeface="Arial MT"/>
              </a:rPr>
              <a:t>introducing a low-powered </a:t>
            </a:r>
            <a:r>
              <a:rPr dirty="0" sz="1000" spc="-20">
                <a:latin typeface="Arial MT"/>
                <a:cs typeface="Arial MT"/>
              </a:rPr>
              <a:t>mini </a:t>
            </a:r>
            <a:r>
              <a:rPr dirty="0" sz="1000">
                <a:latin typeface="Arial MT"/>
                <a:cs typeface="Arial MT"/>
              </a:rPr>
              <a:t>hub to offload </a:t>
            </a:r>
            <a:r>
              <a:rPr dirty="0" sz="1000" spc="-10">
                <a:latin typeface="Arial MT"/>
                <a:cs typeface="Arial MT"/>
              </a:rPr>
              <a:t>computations.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26156"/>
            <a:ext cx="10692765" cy="104775"/>
          </a:xfrm>
          <a:custGeom>
            <a:avLst/>
            <a:gdLst/>
            <a:ahLst/>
            <a:cxnLst/>
            <a:rect l="l" t="t" r="r" b="b"/>
            <a:pathLst>
              <a:path w="10692765" h="104775">
                <a:moveTo>
                  <a:pt x="10692257" y="0"/>
                </a:moveTo>
                <a:lnTo>
                  <a:pt x="0" y="0"/>
                </a:lnTo>
                <a:lnTo>
                  <a:pt x="0" y="104373"/>
                </a:lnTo>
                <a:lnTo>
                  <a:pt x="10692257" y="104373"/>
                </a:lnTo>
                <a:lnTo>
                  <a:pt x="10692257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0" rIns="0" bIns="0" rtlCol="0" vert="horz">
            <a:spAutoFit/>
          </a:bodyPr>
          <a:lstStyle/>
          <a:p>
            <a:pPr marL="76962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SYSTEM</a:t>
            </a:r>
            <a:r>
              <a:rPr dirty="0" spc="-254"/>
              <a:t> </a:t>
            </a:r>
            <a:r>
              <a:rPr dirty="0" spc="-150"/>
              <a:t>ARCHITECTURE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78351"/>
            <a:ext cx="10692257" cy="56852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0692765" cy="326390"/>
          </a:xfrm>
          <a:custGeom>
            <a:avLst/>
            <a:gdLst/>
            <a:ahLst/>
            <a:cxnLst/>
            <a:rect l="l" t="t" r="r" b="b"/>
            <a:pathLst>
              <a:path w="10692765" h="326390">
                <a:moveTo>
                  <a:pt x="10692257" y="0"/>
                </a:moveTo>
                <a:lnTo>
                  <a:pt x="0" y="0"/>
                </a:lnTo>
                <a:lnTo>
                  <a:pt x="0" y="325881"/>
                </a:lnTo>
                <a:lnTo>
                  <a:pt x="10692257" y="325881"/>
                </a:lnTo>
                <a:lnTo>
                  <a:pt x="10692257" y="0"/>
                </a:lnTo>
                <a:close/>
              </a:path>
            </a:pathLst>
          </a:custGeom>
          <a:solidFill>
            <a:srgbClr val="ED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1982545"/>
            <a:ext cx="10692765" cy="5577840"/>
          </a:xfrm>
          <a:custGeom>
            <a:avLst/>
            <a:gdLst/>
            <a:ahLst/>
            <a:cxnLst/>
            <a:rect l="l" t="t" r="r" b="b"/>
            <a:pathLst>
              <a:path w="10692765" h="5577840">
                <a:moveTo>
                  <a:pt x="10692257" y="0"/>
                </a:moveTo>
                <a:lnTo>
                  <a:pt x="0" y="0"/>
                </a:lnTo>
                <a:lnTo>
                  <a:pt x="0" y="5577459"/>
                </a:lnTo>
                <a:lnTo>
                  <a:pt x="10692257" y="5577459"/>
                </a:lnTo>
                <a:lnTo>
                  <a:pt x="10692257" y="0"/>
                </a:lnTo>
                <a:close/>
              </a:path>
            </a:pathLst>
          </a:custGeom>
          <a:solidFill>
            <a:srgbClr val="EDEC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326156"/>
            <a:ext cx="10692765" cy="1552575"/>
            <a:chOff x="0" y="326156"/>
            <a:chExt cx="10692765" cy="1552575"/>
          </a:xfrm>
        </p:grpSpPr>
        <p:sp>
          <p:nvSpPr>
            <p:cNvPr id="5" name="object 5" descr=""/>
            <p:cNvSpPr/>
            <p:nvPr/>
          </p:nvSpPr>
          <p:spPr>
            <a:xfrm>
              <a:off x="0" y="1874519"/>
              <a:ext cx="10692765" cy="3810"/>
            </a:xfrm>
            <a:custGeom>
              <a:avLst/>
              <a:gdLst/>
              <a:ahLst/>
              <a:cxnLst/>
              <a:rect l="l" t="t" r="r" b="b"/>
              <a:pathLst>
                <a:path w="10692765" h="3810">
                  <a:moveTo>
                    <a:pt x="10692257" y="0"/>
                  </a:moveTo>
                  <a:lnTo>
                    <a:pt x="0" y="0"/>
                  </a:lnTo>
                  <a:lnTo>
                    <a:pt x="0" y="3683"/>
                  </a:lnTo>
                  <a:lnTo>
                    <a:pt x="10692257" y="3683"/>
                  </a:lnTo>
                  <a:lnTo>
                    <a:pt x="10692257" y="0"/>
                  </a:lnTo>
                  <a:close/>
                </a:path>
              </a:pathLst>
            </a:custGeom>
            <a:solidFill>
              <a:srgbClr val="EDE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429767"/>
              <a:ext cx="10692765" cy="1444625"/>
            </a:xfrm>
            <a:custGeom>
              <a:avLst/>
              <a:gdLst/>
              <a:ahLst/>
              <a:cxnLst/>
              <a:rect l="l" t="t" r="r" b="b"/>
              <a:pathLst>
                <a:path w="10692765" h="1444625">
                  <a:moveTo>
                    <a:pt x="10692257" y="0"/>
                  </a:moveTo>
                  <a:lnTo>
                    <a:pt x="0" y="0"/>
                  </a:lnTo>
                  <a:lnTo>
                    <a:pt x="0" y="1444371"/>
                  </a:lnTo>
                  <a:lnTo>
                    <a:pt x="10692257" y="1444371"/>
                  </a:lnTo>
                  <a:lnTo>
                    <a:pt x="10692257" y="0"/>
                  </a:lnTo>
                  <a:close/>
                </a:path>
              </a:pathLst>
            </a:custGeom>
            <a:solidFill>
              <a:srgbClr val="282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326156"/>
              <a:ext cx="10692765" cy="104775"/>
            </a:xfrm>
            <a:custGeom>
              <a:avLst/>
              <a:gdLst/>
              <a:ahLst/>
              <a:cxnLst/>
              <a:rect l="l" t="t" r="r" b="b"/>
              <a:pathLst>
                <a:path w="10692765" h="104775">
                  <a:moveTo>
                    <a:pt x="10692257" y="0"/>
                  </a:moveTo>
                  <a:lnTo>
                    <a:pt x="0" y="0"/>
                  </a:lnTo>
                  <a:lnTo>
                    <a:pt x="0" y="104373"/>
                  </a:lnTo>
                  <a:lnTo>
                    <a:pt x="10692257" y="104373"/>
                  </a:lnTo>
                  <a:lnTo>
                    <a:pt x="10692257" y="0"/>
                  </a:lnTo>
                  <a:close/>
                </a:path>
              </a:pathLst>
            </a:custGeom>
            <a:solidFill>
              <a:srgbClr val="D2AB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6324" rIns="0" bIns="0" rtlCol="0" vert="horz">
            <a:spAutoFit/>
          </a:bodyPr>
          <a:lstStyle/>
          <a:p>
            <a:pPr marL="292735">
              <a:lnSpc>
                <a:spcPct val="100000"/>
              </a:lnSpc>
              <a:spcBef>
                <a:spcPts val="100"/>
              </a:spcBef>
            </a:pPr>
            <a:r>
              <a:rPr dirty="0" sz="5300" spc="-160"/>
              <a:t>OPERATIONAL</a:t>
            </a:r>
            <a:r>
              <a:rPr dirty="0" sz="5300" spc="-290"/>
              <a:t> </a:t>
            </a:r>
            <a:r>
              <a:rPr dirty="0" sz="5300" spc="-125"/>
              <a:t>FLOW</a:t>
            </a:r>
            <a:r>
              <a:rPr dirty="0" sz="5300" spc="-295"/>
              <a:t> </a:t>
            </a:r>
            <a:r>
              <a:rPr dirty="0" sz="5300" spc="-25"/>
              <a:t>DIAGRAM</a:t>
            </a:r>
            <a:endParaRPr sz="5300"/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75814"/>
            <a:ext cx="10693908" cy="598779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63600" y="4483678"/>
            <a:ext cx="1573530" cy="247650"/>
          </a:xfrm>
          <a:custGeom>
            <a:avLst/>
            <a:gdLst/>
            <a:ahLst/>
            <a:cxnLst/>
            <a:rect l="l" t="t" r="r" b="b"/>
            <a:pathLst>
              <a:path w="1573530" h="247650">
                <a:moveTo>
                  <a:pt x="1511459" y="0"/>
                </a:moveTo>
                <a:lnTo>
                  <a:pt x="61814" y="0"/>
                </a:lnTo>
                <a:lnTo>
                  <a:pt x="39116" y="10624"/>
                </a:lnTo>
                <a:lnTo>
                  <a:pt x="19316" y="38633"/>
                </a:lnTo>
                <a:lnTo>
                  <a:pt x="5312" y="78232"/>
                </a:lnTo>
                <a:lnTo>
                  <a:pt x="0" y="123627"/>
                </a:lnTo>
                <a:lnTo>
                  <a:pt x="5312" y="169021"/>
                </a:lnTo>
                <a:lnTo>
                  <a:pt x="19316" y="208620"/>
                </a:lnTo>
                <a:lnTo>
                  <a:pt x="39116" y="236630"/>
                </a:lnTo>
                <a:lnTo>
                  <a:pt x="61814" y="247254"/>
                </a:lnTo>
                <a:lnTo>
                  <a:pt x="1511459" y="247254"/>
                </a:lnTo>
                <a:lnTo>
                  <a:pt x="1534157" y="236630"/>
                </a:lnTo>
                <a:lnTo>
                  <a:pt x="1553956" y="208620"/>
                </a:lnTo>
                <a:lnTo>
                  <a:pt x="1567961" y="169021"/>
                </a:lnTo>
                <a:lnTo>
                  <a:pt x="1573273" y="123627"/>
                </a:lnTo>
                <a:lnTo>
                  <a:pt x="1567961" y="78232"/>
                </a:lnTo>
                <a:lnTo>
                  <a:pt x="1553956" y="38633"/>
                </a:lnTo>
                <a:lnTo>
                  <a:pt x="1534157" y="10624"/>
                </a:lnTo>
                <a:lnTo>
                  <a:pt x="1511459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119013" y="3978993"/>
            <a:ext cx="868680" cy="248920"/>
          </a:xfrm>
          <a:custGeom>
            <a:avLst/>
            <a:gdLst/>
            <a:ahLst/>
            <a:cxnLst/>
            <a:rect l="l" t="t" r="r" b="b"/>
            <a:pathLst>
              <a:path w="868679" h="248920">
                <a:moveTo>
                  <a:pt x="805997" y="0"/>
                </a:moveTo>
                <a:lnTo>
                  <a:pt x="62193" y="0"/>
                </a:lnTo>
                <a:lnTo>
                  <a:pt x="39356" y="10689"/>
                </a:lnTo>
                <a:lnTo>
                  <a:pt x="19435" y="38870"/>
                </a:lnTo>
                <a:lnTo>
                  <a:pt x="5344" y="78712"/>
                </a:lnTo>
                <a:lnTo>
                  <a:pt x="0" y="124384"/>
                </a:lnTo>
                <a:lnTo>
                  <a:pt x="5344" y="170057"/>
                </a:lnTo>
                <a:lnTo>
                  <a:pt x="19435" y="209899"/>
                </a:lnTo>
                <a:lnTo>
                  <a:pt x="39356" y="238080"/>
                </a:lnTo>
                <a:lnTo>
                  <a:pt x="62193" y="248769"/>
                </a:lnTo>
                <a:lnTo>
                  <a:pt x="805997" y="248769"/>
                </a:lnTo>
                <a:lnTo>
                  <a:pt x="828834" y="238080"/>
                </a:lnTo>
                <a:lnTo>
                  <a:pt x="848755" y="209899"/>
                </a:lnTo>
                <a:lnTo>
                  <a:pt x="862846" y="170057"/>
                </a:lnTo>
                <a:lnTo>
                  <a:pt x="868190" y="124384"/>
                </a:lnTo>
                <a:lnTo>
                  <a:pt x="862846" y="78712"/>
                </a:lnTo>
                <a:lnTo>
                  <a:pt x="848755" y="38870"/>
                </a:lnTo>
                <a:lnTo>
                  <a:pt x="828834" y="10689"/>
                </a:lnTo>
                <a:lnTo>
                  <a:pt x="805997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63600" y="2569519"/>
            <a:ext cx="984250" cy="247015"/>
          </a:xfrm>
          <a:custGeom>
            <a:avLst/>
            <a:gdLst/>
            <a:ahLst/>
            <a:cxnLst/>
            <a:rect l="l" t="t" r="r" b="b"/>
            <a:pathLst>
              <a:path w="984250" h="247014">
                <a:moveTo>
                  <a:pt x="921905" y="0"/>
                </a:moveTo>
                <a:lnTo>
                  <a:pt x="61746" y="0"/>
                </a:lnTo>
                <a:lnTo>
                  <a:pt x="39074" y="10612"/>
                </a:lnTo>
                <a:lnTo>
                  <a:pt x="19295" y="38591"/>
                </a:lnTo>
                <a:lnTo>
                  <a:pt x="5306" y="78147"/>
                </a:lnTo>
                <a:lnTo>
                  <a:pt x="0" y="123492"/>
                </a:lnTo>
                <a:lnTo>
                  <a:pt x="5306" y="168837"/>
                </a:lnTo>
                <a:lnTo>
                  <a:pt x="19295" y="208393"/>
                </a:lnTo>
                <a:lnTo>
                  <a:pt x="39074" y="236372"/>
                </a:lnTo>
                <a:lnTo>
                  <a:pt x="61746" y="246985"/>
                </a:lnTo>
                <a:lnTo>
                  <a:pt x="921905" y="246985"/>
                </a:lnTo>
                <a:lnTo>
                  <a:pt x="944578" y="236372"/>
                </a:lnTo>
                <a:lnTo>
                  <a:pt x="964356" y="208393"/>
                </a:lnTo>
                <a:lnTo>
                  <a:pt x="978345" y="168837"/>
                </a:lnTo>
                <a:lnTo>
                  <a:pt x="983652" y="123492"/>
                </a:lnTo>
                <a:lnTo>
                  <a:pt x="978345" y="78147"/>
                </a:lnTo>
                <a:lnTo>
                  <a:pt x="964356" y="38591"/>
                </a:lnTo>
                <a:lnTo>
                  <a:pt x="944578" y="10612"/>
                </a:lnTo>
                <a:lnTo>
                  <a:pt x="921905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153768" y="2064595"/>
            <a:ext cx="2025650" cy="248920"/>
          </a:xfrm>
          <a:custGeom>
            <a:avLst/>
            <a:gdLst/>
            <a:ahLst/>
            <a:cxnLst/>
            <a:rect l="l" t="t" r="r" b="b"/>
            <a:pathLst>
              <a:path w="2025650" h="248919">
                <a:moveTo>
                  <a:pt x="1962842" y="0"/>
                </a:moveTo>
                <a:lnTo>
                  <a:pt x="62193" y="0"/>
                </a:lnTo>
                <a:lnTo>
                  <a:pt x="39356" y="10689"/>
                </a:lnTo>
                <a:lnTo>
                  <a:pt x="19435" y="38870"/>
                </a:lnTo>
                <a:lnTo>
                  <a:pt x="5344" y="78712"/>
                </a:lnTo>
                <a:lnTo>
                  <a:pt x="0" y="124385"/>
                </a:lnTo>
                <a:lnTo>
                  <a:pt x="5344" y="170057"/>
                </a:lnTo>
                <a:lnTo>
                  <a:pt x="19435" y="209899"/>
                </a:lnTo>
                <a:lnTo>
                  <a:pt x="39356" y="238080"/>
                </a:lnTo>
                <a:lnTo>
                  <a:pt x="62193" y="248770"/>
                </a:lnTo>
                <a:lnTo>
                  <a:pt x="1962842" y="248770"/>
                </a:lnTo>
                <a:lnTo>
                  <a:pt x="1985678" y="238080"/>
                </a:lnTo>
                <a:lnTo>
                  <a:pt x="2005600" y="209899"/>
                </a:lnTo>
                <a:lnTo>
                  <a:pt x="2019690" y="170057"/>
                </a:lnTo>
                <a:lnTo>
                  <a:pt x="2025035" y="124385"/>
                </a:lnTo>
                <a:lnTo>
                  <a:pt x="2019690" y="78712"/>
                </a:lnTo>
                <a:lnTo>
                  <a:pt x="2005600" y="38870"/>
                </a:lnTo>
                <a:lnTo>
                  <a:pt x="1985678" y="10689"/>
                </a:lnTo>
                <a:lnTo>
                  <a:pt x="1962842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0" y="0"/>
            <a:ext cx="10692765" cy="326390"/>
          </a:xfrm>
          <a:custGeom>
            <a:avLst/>
            <a:gdLst/>
            <a:ahLst/>
            <a:cxnLst/>
            <a:rect l="l" t="t" r="r" b="b"/>
            <a:pathLst>
              <a:path w="10692765" h="326390">
                <a:moveTo>
                  <a:pt x="10692257" y="0"/>
                </a:moveTo>
                <a:lnTo>
                  <a:pt x="0" y="0"/>
                </a:lnTo>
                <a:lnTo>
                  <a:pt x="0" y="325881"/>
                </a:lnTo>
                <a:lnTo>
                  <a:pt x="10692257" y="325881"/>
                </a:lnTo>
                <a:lnTo>
                  <a:pt x="10692257" y="0"/>
                </a:lnTo>
                <a:close/>
              </a:path>
            </a:pathLst>
          </a:custGeom>
          <a:solidFill>
            <a:srgbClr val="ED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0" y="1982545"/>
            <a:ext cx="10692765" cy="5577840"/>
          </a:xfrm>
          <a:custGeom>
            <a:avLst/>
            <a:gdLst/>
            <a:ahLst/>
            <a:cxnLst/>
            <a:rect l="l" t="t" r="r" b="b"/>
            <a:pathLst>
              <a:path w="10692765" h="5577840">
                <a:moveTo>
                  <a:pt x="10692257" y="0"/>
                </a:moveTo>
                <a:lnTo>
                  <a:pt x="0" y="0"/>
                </a:lnTo>
                <a:lnTo>
                  <a:pt x="0" y="5577459"/>
                </a:lnTo>
                <a:lnTo>
                  <a:pt x="10692257" y="5577459"/>
                </a:lnTo>
                <a:lnTo>
                  <a:pt x="10692257" y="0"/>
                </a:lnTo>
                <a:close/>
              </a:path>
            </a:pathLst>
          </a:custGeom>
          <a:solidFill>
            <a:srgbClr val="EDEC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0" y="1874519"/>
            <a:ext cx="10692765" cy="108585"/>
            <a:chOff x="0" y="1874519"/>
            <a:chExt cx="10692765" cy="108585"/>
          </a:xfrm>
        </p:grpSpPr>
        <p:sp>
          <p:nvSpPr>
            <p:cNvPr id="9" name="object 9" descr=""/>
            <p:cNvSpPr/>
            <p:nvPr/>
          </p:nvSpPr>
          <p:spPr>
            <a:xfrm>
              <a:off x="0" y="1874519"/>
              <a:ext cx="10692765" cy="3810"/>
            </a:xfrm>
            <a:custGeom>
              <a:avLst/>
              <a:gdLst/>
              <a:ahLst/>
              <a:cxnLst/>
              <a:rect l="l" t="t" r="r" b="b"/>
              <a:pathLst>
                <a:path w="10692765" h="3810">
                  <a:moveTo>
                    <a:pt x="10692257" y="0"/>
                  </a:moveTo>
                  <a:lnTo>
                    <a:pt x="0" y="0"/>
                  </a:lnTo>
                  <a:lnTo>
                    <a:pt x="0" y="3683"/>
                  </a:lnTo>
                  <a:lnTo>
                    <a:pt x="10692257" y="3683"/>
                  </a:lnTo>
                  <a:lnTo>
                    <a:pt x="10692257" y="0"/>
                  </a:lnTo>
                  <a:close/>
                </a:path>
              </a:pathLst>
            </a:custGeom>
            <a:solidFill>
              <a:srgbClr val="EDE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1878351"/>
              <a:ext cx="10692765" cy="104775"/>
            </a:xfrm>
            <a:custGeom>
              <a:avLst/>
              <a:gdLst/>
              <a:ahLst/>
              <a:cxnLst/>
              <a:rect l="l" t="t" r="r" b="b"/>
              <a:pathLst>
                <a:path w="10692765" h="104775">
                  <a:moveTo>
                    <a:pt x="10692257" y="0"/>
                  </a:moveTo>
                  <a:lnTo>
                    <a:pt x="0" y="0"/>
                  </a:lnTo>
                  <a:lnTo>
                    <a:pt x="0" y="104372"/>
                  </a:lnTo>
                  <a:lnTo>
                    <a:pt x="10692257" y="104372"/>
                  </a:lnTo>
                  <a:lnTo>
                    <a:pt x="10692257" y="0"/>
                  </a:lnTo>
                  <a:close/>
                </a:path>
              </a:pathLst>
            </a:custGeom>
            <a:solidFill>
              <a:srgbClr val="D2AB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0" y="326156"/>
            <a:ext cx="10692765" cy="104775"/>
          </a:xfrm>
          <a:custGeom>
            <a:avLst/>
            <a:gdLst/>
            <a:ahLst/>
            <a:cxnLst/>
            <a:rect l="l" t="t" r="r" b="b"/>
            <a:pathLst>
              <a:path w="10692765" h="104775">
                <a:moveTo>
                  <a:pt x="10692257" y="0"/>
                </a:moveTo>
                <a:lnTo>
                  <a:pt x="0" y="0"/>
                </a:lnTo>
                <a:lnTo>
                  <a:pt x="0" y="104373"/>
                </a:lnTo>
                <a:lnTo>
                  <a:pt x="10692257" y="104373"/>
                </a:lnTo>
                <a:lnTo>
                  <a:pt x="10692257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0" y="429767"/>
            <a:ext cx="10692765" cy="1444625"/>
          </a:xfrm>
          <a:prstGeom prst="rect"/>
          <a:solidFill>
            <a:srgbClr val="282781"/>
          </a:solidFill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endParaRPr sz="4000">
              <a:latin typeface="Times New Roman"/>
              <a:cs typeface="Times New Roman"/>
            </a:endParaRPr>
          </a:p>
          <a:p>
            <a:pPr marL="303530">
              <a:lnSpc>
                <a:spcPct val="100000"/>
              </a:lnSpc>
            </a:pPr>
            <a:r>
              <a:rPr dirty="0" sz="4000" spc="-165"/>
              <a:t>HARDWARE</a:t>
            </a:r>
            <a:r>
              <a:rPr dirty="0" sz="4000" spc="-35"/>
              <a:t> </a:t>
            </a:r>
            <a:r>
              <a:rPr dirty="0" sz="4000" spc="-170"/>
              <a:t>FUNCTIONAL</a:t>
            </a:r>
            <a:r>
              <a:rPr dirty="0" sz="4000" spc="-220"/>
              <a:t> </a:t>
            </a:r>
            <a:r>
              <a:rPr dirty="0" sz="4000" spc="-85"/>
              <a:t>REQUIREMENTS</a:t>
            </a:r>
            <a:endParaRPr sz="4000"/>
          </a:p>
        </p:txBody>
      </p:sp>
      <p:sp>
        <p:nvSpPr>
          <p:cNvPr id="13" name="object 13" descr=""/>
          <p:cNvSpPr txBox="1"/>
          <p:nvPr/>
        </p:nvSpPr>
        <p:spPr>
          <a:xfrm>
            <a:off x="-6299" y="1824380"/>
            <a:ext cx="10198100" cy="415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  <a:buFont typeface="Wingdings"/>
              <a:buChar char=""/>
              <a:tabLst>
                <a:tab pos="469900" algn="l"/>
              </a:tabLst>
            </a:pP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wearable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must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continuously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collect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transmit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vitals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cloud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every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30 </a:t>
            </a:r>
            <a:r>
              <a:rPr dirty="0" sz="2200" spc="-10" b="1">
                <a:latin typeface="Times New Roman"/>
                <a:cs typeface="Times New Roman"/>
              </a:rPr>
              <a:t>seconds.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device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should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store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essential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temporarily.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wearable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must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designed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operate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on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low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30" b="1">
                <a:latin typeface="Times New Roman"/>
                <a:cs typeface="Times New Roman"/>
              </a:rPr>
              <a:t>power,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with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focus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on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battery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dirty="0" sz="2200" spc="-10" b="1">
                <a:latin typeface="Times New Roman"/>
                <a:cs typeface="Times New Roman"/>
              </a:rPr>
              <a:t>optimization.</a:t>
            </a:r>
            <a:endParaRPr sz="2200">
              <a:latin typeface="Times New Roman"/>
              <a:cs typeface="Times New Roman"/>
            </a:endParaRPr>
          </a:p>
          <a:p>
            <a:pPr marL="469900" marR="493395" indent="-457200">
              <a:lnSpc>
                <a:spcPct val="150000"/>
              </a:lnSpc>
              <a:spcBef>
                <a:spcPts val="1610"/>
              </a:spcBef>
              <a:buFont typeface="Wingdings"/>
              <a:buChar char=""/>
              <a:tabLst>
                <a:tab pos="469900" algn="l"/>
              </a:tabLst>
            </a:pPr>
            <a:r>
              <a:rPr dirty="0" sz="2200" b="1">
                <a:latin typeface="Times New Roman"/>
                <a:cs typeface="Times New Roman"/>
              </a:rPr>
              <a:t>All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health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transmitted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from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device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mobile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application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or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cloud </a:t>
            </a:r>
            <a:r>
              <a:rPr dirty="0" sz="2200" b="1">
                <a:latin typeface="Times New Roman"/>
                <a:cs typeface="Times New Roman"/>
              </a:rPr>
              <a:t>platform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must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encrypted.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8500988" y="1924376"/>
            <a:ext cx="304800" cy="304800"/>
            <a:chOff x="8500988" y="1924376"/>
            <a:chExt cx="304800" cy="304800"/>
          </a:xfrm>
        </p:grpSpPr>
        <p:sp>
          <p:nvSpPr>
            <p:cNvPr id="15" name="object 15" descr=""/>
            <p:cNvSpPr/>
            <p:nvPr/>
          </p:nvSpPr>
          <p:spPr>
            <a:xfrm>
              <a:off x="8513686" y="1937080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FFE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513688" y="1937076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2697" y="3"/>
                  </a:moveTo>
                  <a:lnTo>
                    <a:pt x="5683" y="3"/>
                  </a:lnTo>
                  <a:lnTo>
                    <a:pt x="-2" y="5689"/>
                  </a:lnTo>
                  <a:lnTo>
                    <a:pt x="-2" y="12703"/>
                  </a:lnTo>
                  <a:lnTo>
                    <a:pt x="-2" y="266703"/>
                  </a:lnTo>
                  <a:lnTo>
                    <a:pt x="-2" y="273718"/>
                  </a:lnTo>
                  <a:lnTo>
                    <a:pt x="5683" y="279403"/>
                  </a:lnTo>
                  <a:lnTo>
                    <a:pt x="12697" y="279403"/>
                  </a:lnTo>
                  <a:lnTo>
                    <a:pt x="266697" y="279403"/>
                  </a:lnTo>
                  <a:lnTo>
                    <a:pt x="273710" y="279403"/>
                  </a:lnTo>
                  <a:lnTo>
                    <a:pt x="279397" y="273718"/>
                  </a:lnTo>
                  <a:lnTo>
                    <a:pt x="279397" y="266703"/>
                  </a:lnTo>
                  <a:lnTo>
                    <a:pt x="279397" y="12703"/>
                  </a:lnTo>
                  <a:lnTo>
                    <a:pt x="279397" y="5689"/>
                  </a:lnTo>
                  <a:lnTo>
                    <a:pt x="273710" y="3"/>
                  </a:lnTo>
                  <a:lnTo>
                    <a:pt x="266697" y="3"/>
                  </a:lnTo>
                  <a:lnTo>
                    <a:pt x="12697" y="3"/>
                  </a:lnTo>
                  <a:close/>
                </a:path>
              </a:pathLst>
            </a:custGeom>
            <a:ln w="25400">
              <a:solidFill>
                <a:srgbClr val="E5C9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9374147" y="3813538"/>
            <a:ext cx="304800" cy="304800"/>
            <a:chOff x="9374147" y="3813538"/>
            <a:chExt cx="304800" cy="304800"/>
          </a:xfrm>
        </p:grpSpPr>
        <p:sp>
          <p:nvSpPr>
            <p:cNvPr id="18" name="object 18" descr=""/>
            <p:cNvSpPr/>
            <p:nvPr/>
          </p:nvSpPr>
          <p:spPr>
            <a:xfrm>
              <a:off x="9386849" y="3826243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FFE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386847" y="3826238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2701" y="5"/>
                  </a:moveTo>
                  <a:lnTo>
                    <a:pt x="5687" y="5"/>
                  </a:lnTo>
                  <a:lnTo>
                    <a:pt x="1" y="5692"/>
                  </a:lnTo>
                  <a:lnTo>
                    <a:pt x="1" y="12705"/>
                  </a:lnTo>
                  <a:lnTo>
                    <a:pt x="1" y="266705"/>
                  </a:lnTo>
                  <a:lnTo>
                    <a:pt x="1" y="273719"/>
                  </a:lnTo>
                  <a:lnTo>
                    <a:pt x="5687" y="279405"/>
                  </a:lnTo>
                  <a:lnTo>
                    <a:pt x="12701" y="279405"/>
                  </a:lnTo>
                  <a:lnTo>
                    <a:pt x="266701" y="279405"/>
                  </a:lnTo>
                  <a:lnTo>
                    <a:pt x="273715" y="279405"/>
                  </a:lnTo>
                  <a:lnTo>
                    <a:pt x="279401" y="273719"/>
                  </a:lnTo>
                  <a:lnTo>
                    <a:pt x="279401" y="266705"/>
                  </a:lnTo>
                  <a:lnTo>
                    <a:pt x="279401" y="12705"/>
                  </a:lnTo>
                  <a:lnTo>
                    <a:pt x="279401" y="5692"/>
                  </a:lnTo>
                  <a:lnTo>
                    <a:pt x="273715" y="5"/>
                  </a:lnTo>
                  <a:lnTo>
                    <a:pt x="266701" y="5"/>
                  </a:lnTo>
                  <a:lnTo>
                    <a:pt x="12701" y="5"/>
                  </a:lnTo>
                  <a:close/>
                </a:path>
              </a:pathLst>
            </a:custGeom>
            <a:ln w="25400">
              <a:solidFill>
                <a:srgbClr val="E5C9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8763507" y="1924380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Nathaniel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Adibuer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2024-12-</a:t>
            </a:r>
            <a:r>
              <a:rPr dirty="0" sz="800" i="1">
                <a:latin typeface="Arial"/>
                <a:cs typeface="Arial"/>
              </a:rPr>
              <a:t>14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09:05:11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If the number of seconds can </a:t>
            </a:r>
            <a:r>
              <a:rPr dirty="0" sz="1000" spc="-25">
                <a:latin typeface="Arial MT"/>
                <a:cs typeface="Arial MT"/>
              </a:rPr>
              <a:t>be </a:t>
            </a:r>
            <a:r>
              <a:rPr dirty="0" sz="1000">
                <a:latin typeface="Arial MT"/>
                <a:cs typeface="Arial MT"/>
              </a:rPr>
              <a:t>reduced that will be </a:t>
            </a:r>
            <a:r>
              <a:rPr dirty="0" sz="1000" spc="-10">
                <a:latin typeface="Arial MT"/>
                <a:cs typeface="Arial MT"/>
              </a:rPr>
              <a:t>great.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763507" y="3813543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Nathaniel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Adibuer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2024-12-</a:t>
            </a:r>
            <a:r>
              <a:rPr dirty="0" sz="800" i="1">
                <a:latin typeface="Arial"/>
                <a:cs typeface="Arial"/>
              </a:rPr>
              <a:t>14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09:06:20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 spc="15">
                <a:latin typeface="Arial MT"/>
                <a:cs typeface="Arial MT"/>
              </a:rPr>
              <a:t>Battery</a:t>
            </a:r>
            <a:r>
              <a:rPr dirty="0" sz="1000" spc="10">
                <a:latin typeface="Arial MT"/>
                <a:cs typeface="Arial MT"/>
              </a:rPr>
              <a:t> circuit </a:t>
            </a:r>
            <a:r>
              <a:rPr dirty="0" sz="1000" spc="15">
                <a:latin typeface="Arial MT"/>
                <a:cs typeface="Arial MT"/>
              </a:rPr>
              <a:t>optimization?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Or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15">
                <a:latin typeface="Arial MT"/>
                <a:cs typeface="Arial MT"/>
              </a:rPr>
              <a:t>optimizating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15">
                <a:latin typeface="Arial MT"/>
                <a:cs typeface="Arial MT"/>
              </a:rPr>
              <a:t>computations/algorithms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on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15">
                <a:latin typeface="Arial MT"/>
                <a:cs typeface="Arial MT"/>
              </a:rPr>
              <a:t>the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15">
                <a:latin typeface="Arial MT"/>
                <a:cs typeface="Arial MT"/>
              </a:rPr>
              <a:t>device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15">
                <a:latin typeface="Arial MT"/>
                <a:cs typeface="Arial MT"/>
              </a:rPr>
              <a:t>you’re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15">
                <a:latin typeface="Arial MT"/>
                <a:cs typeface="Arial MT"/>
              </a:rPr>
              <a:t>using?</a:t>
            </a:r>
            <a:r>
              <a:rPr dirty="0" sz="1000">
                <a:latin typeface="Arial MT"/>
                <a:cs typeface="Arial MT"/>
              </a:rPr>
              <a:t>
</a:t>
            </a:r>
            <a:r>
              <a:rPr dirty="0" sz="1000" spc="20">
                <a:latin typeface="Arial MT"/>
                <a:cs typeface="Arial MT"/>
              </a:rPr>
              <a:t>Unless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you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15">
                <a:latin typeface="Arial MT"/>
                <a:cs typeface="Arial MT"/>
              </a:rPr>
              <a:t>are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15">
                <a:latin typeface="Arial MT"/>
                <a:cs typeface="Arial MT"/>
              </a:rPr>
              <a:t>building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a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20">
                <a:latin typeface="Arial MT"/>
                <a:cs typeface="Arial MT"/>
              </a:rPr>
              <a:t>new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15">
                <a:latin typeface="Arial MT"/>
                <a:cs typeface="Arial MT"/>
              </a:rPr>
              <a:t>battery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15">
                <a:latin typeface="Arial MT"/>
                <a:cs typeface="Arial MT"/>
              </a:rPr>
              <a:t>to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15">
                <a:latin typeface="Arial MT"/>
                <a:cs typeface="Arial MT"/>
              </a:rPr>
              <a:t>optimize</a:t>
            </a:r>
            <a:r>
              <a:rPr dirty="0" sz="1000" spc="10">
                <a:latin typeface="Arial MT"/>
                <a:cs typeface="Arial MT"/>
              </a:rPr>
              <a:t> it.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59" y="1011123"/>
            <a:ext cx="102489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87675" algn="l"/>
              </a:tabLst>
            </a:pPr>
            <a:r>
              <a:rPr dirty="0" sz="4000" spc="-10"/>
              <a:t>SOFTWARE</a:t>
            </a:r>
            <a:r>
              <a:rPr dirty="0" sz="4000"/>
              <a:t>	</a:t>
            </a:r>
            <a:r>
              <a:rPr dirty="0" sz="4000" spc="-170"/>
              <a:t>FUNCTIONAL</a:t>
            </a:r>
            <a:r>
              <a:rPr dirty="0" sz="4000" spc="-200"/>
              <a:t> </a:t>
            </a:r>
            <a:r>
              <a:rPr dirty="0" sz="4000" spc="-150"/>
              <a:t>REQUIREMENTS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-6299" y="1824380"/>
            <a:ext cx="10146030" cy="415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  <a:buFont typeface="Wingdings"/>
              <a:buChar char=""/>
              <a:tabLst>
                <a:tab pos="469900" algn="l"/>
              </a:tabLst>
            </a:pP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app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should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present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visually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make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it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easy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users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track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changes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in </a:t>
            </a:r>
            <a:r>
              <a:rPr dirty="0" sz="2200" b="1">
                <a:latin typeface="Times New Roman"/>
                <a:cs typeface="Times New Roman"/>
              </a:rPr>
              <a:t>their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health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over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time.</a:t>
            </a:r>
            <a:endParaRPr sz="2200">
              <a:latin typeface="Times New Roman"/>
              <a:cs typeface="Times New Roman"/>
            </a:endParaRPr>
          </a:p>
          <a:p>
            <a:pPr marL="469900" marR="67310" indent="-457200">
              <a:lnSpc>
                <a:spcPct val="150000"/>
              </a:lnSpc>
              <a:spcBef>
                <a:spcPts val="1595"/>
              </a:spcBef>
              <a:buFont typeface="Wingdings"/>
              <a:buChar char=""/>
              <a:tabLst>
                <a:tab pos="469900" algn="l"/>
                <a:tab pos="4783455" algn="l"/>
              </a:tabLst>
            </a:pP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case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anomalies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data,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the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AI</a:t>
            </a:r>
            <a:r>
              <a:rPr dirty="0" sz="2200" b="1">
                <a:latin typeface="Times New Roman"/>
                <a:cs typeface="Times New Roman"/>
              </a:rPr>
              <a:t>	should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automatically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trigger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alert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both </a:t>
            </a:r>
            <a:r>
              <a:rPr dirty="0" sz="2200" b="1">
                <a:latin typeface="Times New Roman"/>
                <a:cs typeface="Times New Roman"/>
              </a:rPr>
              <a:t>pregnant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woman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medical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officer.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app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should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provide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functionality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users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back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up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their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health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dirty="0" sz="2200" b="1">
                <a:latin typeface="Times New Roman"/>
                <a:cs typeface="Times New Roman"/>
              </a:rPr>
              <a:t>retrieve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it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if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needed.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app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should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allow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Patient-</a:t>
            </a:r>
            <a:r>
              <a:rPr dirty="0" sz="2200" b="1">
                <a:latin typeface="Times New Roman"/>
                <a:cs typeface="Times New Roman"/>
              </a:rPr>
              <a:t>Doctor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appointment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booking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7848" rIns="0" bIns="0" rtlCol="0" vert="horz">
            <a:spAutoFit/>
          </a:bodyPr>
          <a:lstStyle/>
          <a:p>
            <a:pPr marL="3383279" marR="5080" indent="-1753235">
              <a:lnSpc>
                <a:spcPct val="100000"/>
              </a:lnSpc>
              <a:spcBef>
                <a:spcPts val="95"/>
              </a:spcBef>
            </a:pPr>
            <a:r>
              <a:rPr dirty="0" sz="4000" spc="-165"/>
              <a:t>HARDWARE</a:t>
            </a:r>
            <a:r>
              <a:rPr dirty="0" sz="4000" spc="-204"/>
              <a:t> </a:t>
            </a:r>
            <a:r>
              <a:rPr dirty="0" sz="4000" spc="-200"/>
              <a:t>NON-</a:t>
            </a:r>
            <a:r>
              <a:rPr dirty="0" sz="4000" spc="-150"/>
              <a:t>FUNCTIONAL </a:t>
            </a:r>
            <a:r>
              <a:rPr dirty="0" sz="4000" spc="-85"/>
              <a:t>REQUIREMENTS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-6299" y="1992629"/>
            <a:ext cx="10512425" cy="3027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469265" algn="l"/>
                <a:tab pos="6179820" algn="l"/>
              </a:tabLst>
            </a:pP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wearable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device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should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lightweight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and</a:t>
            </a:r>
            <a:r>
              <a:rPr dirty="0" sz="2200" b="1">
                <a:latin typeface="Times New Roman"/>
                <a:cs typeface="Times New Roman"/>
              </a:rPr>
              <a:t>	comfortable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wear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long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period.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wearable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should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require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minimal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maintenance,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with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replaceable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parts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such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as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25"/>
              </a:spcBef>
            </a:pPr>
            <a:r>
              <a:rPr dirty="0" sz="2200" b="1">
                <a:latin typeface="Times New Roman"/>
                <a:cs typeface="Times New Roman"/>
              </a:rPr>
              <a:t>batteries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that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are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easily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accessible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affordable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users.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400" b="1">
                <a:latin typeface="Calibri"/>
                <a:cs typeface="Calibri"/>
              </a:rPr>
              <a:t>The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wearable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must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be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durable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hence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w</a:t>
            </a:r>
            <a:r>
              <a:rPr dirty="0" sz="2200" b="1">
                <a:latin typeface="Times New Roman"/>
                <a:cs typeface="Times New Roman"/>
              </a:rPr>
              <a:t>ater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shock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resistance.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Wingdings"/>
              <a:buChar char=""/>
            </a:pP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spc="-20" b="1">
                <a:latin typeface="Times New Roman"/>
                <a:cs typeface="Times New Roman"/>
              </a:rPr>
              <a:t>Cross-</a:t>
            </a:r>
            <a:r>
              <a:rPr dirty="0" sz="2200" b="1">
                <a:latin typeface="Times New Roman"/>
                <a:cs typeface="Times New Roman"/>
              </a:rPr>
              <a:t>platform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compatibility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hence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easy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communication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7848" rIns="0" bIns="0" rtlCol="0" vert="horz">
            <a:spAutoFit/>
          </a:bodyPr>
          <a:lstStyle/>
          <a:p>
            <a:pPr marL="3383915" marR="5080" indent="-1668780">
              <a:lnSpc>
                <a:spcPct val="100000"/>
              </a:lnSpc>
              <a:spcBef>
                <a:spcPts val="95"/>
              </a:spcBef>
            </a:pPr>
            <a:r>
              <a:rPr dirty="0" sz="4000" spc="-175"/>
              <a:t>SOFTWARE</a:t>
            </a:r>
            <a:r>
              <a:rPr dirty="0" sz="4000" spc="-195"/>
              <a:t> </a:t>
            </a:r>
            <a:r>
              <a:rPr dirty="0" sz="4000" spc="-190"/>
              <a:t>NON-</a:t>
            </a:r>
            <a:r>
              <a:rPr dirty="0" sz="4000" spc="-145"/>
              <a:t>FUNCTIONAL </a:t>
            </a:r>
            <a:r>
              <a:rPr dirty="0" sz="4000" spc="-85"/>
              <a:t>REQUIREMENTS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-6299" y="1992629"/>
            <a:ext cx="8546465" cy="2479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469265" algn="l"/>
              </a:tabLst>
            </a:pPr>
            <a:r>
              <a:rPr dirty="0" sz="2200" spc="-30" b="1">
                <a:latin typeface="Times New Roman"/>
                <a:cs typeface="Times New Roman"/>
              </a:rPr>
              <a:t>User-</a:t>
            </a:r>
            <a:r>
              <a:rPr dirty="0" sz="2200" b="1">
                <a:latin typeface="Times New Roman"/>
                <a:cs typeface="Times New Roman"/>
              </a:rPr>
              <a:t>friendly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intuitive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mobile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interface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Low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latency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between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wearable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device,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cloud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mobile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application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spc="-20" b="1">
                <a:latin typeface="Times New Roman"/>
                <a:cs typeface="Times New Roman"/>
              </a:rPr>
              <a:t>Cross-</a:t>
            </a:r>
            <a:r>
              <a:rPr dirty="0" sz="2200" b="1">
                <a:latin typeface="Times New Roman"/>
                <a:cs typeface="Times New Roman"/>
              </a:rPr>
              <a:t>platform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support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on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mobile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app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Scalability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accommodate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growing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user</a:t>
            </a:r>
            <a:r>
              <a:rPr dirty="0" sz="2200" spc="-10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base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400" y="4934794"/>
            <a:ext cx="3184525" cy="248920"/>
          </a:xfrm>
          <a:custGeom>
            <a:avLst/>
            <a:gdLst/>
            <a:ahLst/>
            <a:cxnLst/>
            <a:rect l="l" t="t" r="r" b="b"/>
            <a:pathLst>
              <a:path w="3184525" h="248920">
                <a:moveTo>
                  <a:pt x="3122292" y="0"/>
                </a:moveTo>
                <a:lnTo>
                  <a:pt x="62192" y="0"/>
                </a:lnTo>
                <a:lnTo>
                  <a:pt x="39356" y="10689"/>
                </a:lnTo>
                <a:lnTo>
                  <a:pt x="19435" y="38869"/>
                </a:lnTo>
                <a:lnTo>
                  <a:pt x="5344" y="78711"/>
                </a:lnTo>
                <a:lnTo>
                  <a:pt x="0" y="124383"/>
                </a:lnTo>
                <a:lnTo>
                  <a:pt x="5344" y="170055"/>
                </a:lnTo>
                <a:lnTo>
                  <a:pt x="19435" y="209897"/>
                </a:lnTo>
                <a:lnTo>
                  <a:pt x="39356" y="238078"/>
                </a:lnTo>
                <a:lnTo>
                  <a:pt x="62192" y="248767"/>
                </a:lnTo>
                <a:lnTo>
                  <a:pt x="3122292" y="248767"/>
                </a:lnTo>
                <a:lnTo>
                  <a:pt x="3145128" y="238078"/>
                </a:lnTo>
                <a:lnTo>
                  <a:pt x="3165049" y="209897"/>
                </a:lnTo>
                <a:lnTo>
                  <a:pt x="3179139" y="170055"/>
                </a:lnTo>
                <a:lnTo>
                  <a:pt x="3184484" y="124383"/>
                </a:lnTo>
                <a:lnTo>
                  <a:pt x="3179139" y="78711"/>
                </a:lnTo>
                <a:lnTo>
                  <a:pt x="3165049" y="38869"/>
                </a:lnTo>
                <a:lnTo>
                  <a:pt x="3145128" y="10689"/>
                </a:lnTo>
                <a:lnTo>
                  <a:pt x="3122292" y="0"/>
                </a:lnTo>
                <a:close/>
              </a:path>
            </a:pathLst>
          </a:custGeom>
          <a:solidFill>
            <a:srgbClr val="FACD5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10692765" cy="326390"/>
          </a:xfrm>
          <a:custGeom>
            <a:avLst/>
            <a:gdLst/>
            <a:ahLst/>
            <a:cxnLst/>
            <a:rect l="l" t="t" r="r" b="b"/>
            <a:pathLst>
              <a:path w="10692765" h="326390">
                <a:moveTo>
                  <a:pt x="10692257" y="0"/>
                </a:moveTo>
                <a:lnTo>
                  <a:pt x="0" y="0"/>
                </a:lnTo>
                <a:lnTo>
                  <a:pt x="0" y="325881"/>
                </a:lnTo>
                <a:lnTo>
                  <a:pt x="10692257" y="325881"/>
                </a:lnTo>
                <a:lnTo>
                  <a:pt x="10692257" y="0"/>
                </a:lnTo>
                <a:close/>
              </a:path>
            </a:pathLst>
          </a:custGeom>
          <a:solidFill>
            <a:srgbClr val="EDEC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1982545"/>
            <a:ext cx="10692765" cy="5577840"/>
          </a:xfrm>
          <a:custGeom>
            <a:avLst/>
            <a:gdLst/>
            <a:ahLst/>
            <a:cxnLst/>
            <a:rect l="l" t="t" r="r" b="b"/>
            <a:pathLst>
              <a:path w="10692765" h="5577840">
                <a:moveTo>
                  <a:pt x="10692257" y="0"/>
                </a:moveTo>
                <a:lnTo>
                  <a:pt x="0" y="0"/>
                </a:lnTo>
                <a:lnTo>
                  <a:pt x="0" y="5577459"/>
                </a:lnTo>
                <a:lnTo>
                  <a:pt x="10692257" y="5577459"/>
                </a:lnTo>
                <a:lnTo>
                  <a:pt x="10692257" y="0"/>
                </a:lnTo>
                <a:close/>
              </a:path>
            </a:pathLst>
          </a:custGeom>
          <a:solidFill>
            <a:srgbClr val="EDECF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0" y="1874519"/>
            <a:ext cx="10692765" cy="108585"/>
            <a:chOff x="0" y="1874519"/>
            <a:chExt cx="10692765" cy="108585"/>
          </a:xfrm>
        </p:grpSpPr>
        <p:sp>
          <p:nvSpPr>
            <p:cNvPr id="6" name="object 6" descr=""/>
            <p:cNvSpPr/>
            <p:nvPr/>
          </p:nvSpPr>
          <p:spPr>
            <a:xfrm>
              <a:off x="0" y="1874519"/>
              <a:ext cx="10692765" cy="3810"/>
            </a:xfrm>
            <a:custGeom>
              <a:avLst/>
              <a:gdLst/>
              <a:ahLst/>
              <a:cxnLst/>
              <a:rect l="l" t="t" r="r" b="b"/>
              <a:pathLst>
                <a:path w="10692765" h="3810">
                  <a:moveTo>
                    <a:pt x="10692257" y="0"/>
                  </a:moveTo>
                  <a:lnTo>
                    <a:pt x="0" y="0"/>
                  </a:lnTo>
                  <a:lnTo>
                    <a:pt x="0" y="3683"/>
                  </a:lnTo>
                  <a:lnTo>
                    <a:pt x="10692257" y="3683"/>
                  </a:lnTo>
                  <a:lnTo>
                    <a:pt x="10692257" y="0"/>
                  </a:lnTo>
                  <a:close/>
                </a:path>
              </a:pathLst>
            </a:custGeom>
            <a:solidFill>
              <a:srgbClr val="EDEC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1878351"/>
              <a:ext cx="10692765" cy="104775"/>
            </a:xfrm>
            <a:custGeom>
              <a:avLst/>
              <a:gdLst/>
              <a:ahLst/>
              <a:cxnLst/>
              <a:rect l="l" t="t" r="r" b="b"/>
              <a:pathLst>
                <a:path w="10692765" h="104775">
                  <a:moveTo>
                    <a:pt x="10692257" y="0"/>
                  </a:moveTo>
                  <a:lnTo>
                    <a:pt x="0" y="0"/>
                  </a:lnTo>
                  <a:lnTo>
                    <a:pt x="0" y="104372"/>
                  </a:lnTo>
                  <a:lnTo>
                    <a:pt x="10692257" y="104372"/>
                  </a:lnTo>
                  <a:lnTo>
                    <a:pt x="10692257" y="0"/>
                  </a:lnTo>
                  <a:close/>
                </a:path>
              </a:pathLst>
            </a:custGeom>
            <a:solidFill>
              <a:srgbClr val="D2AB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0" y="326156"/>
            <a:ext cx="10692765" cy="104775"/>
          </a:xfrm>
          <a:custGeom>
            <a:avLst/>
            <a:gdLst/>
            <a:ahLst/>
            <a:cxnLst/>
            <a:rect l="l" t="t" r="r" b="b"/>
            <a:pathLst>
              <a:path w="10692765" h="104775">
                <a:moveTo>
                  <a:pt x="10692257" y="0"/>
                </a:moveTo>
                <a:lnTo>
                  <a:pt x="0" y="0"/>
                </a:lnTo>
                <a:lnTo>
                  <a:pt x="0" y="104373"/>
                </a:lnTo>
                <a:lnTo>
                  <a:pt x="10692257" y="104373"/>
                </a:lnTo>
                <a:lnTo>
                  <a:pt x="10692257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0" y="429767"/>
            <a:ext cx="10692765" cy="1444625"/>
          </a:xfrm>
          <a:prstGeom prst="rect"/>
          <a:solidFill>
            <a:srgbClr val="282781"/>
          </a:solidFill>
        </p:spPr>
        <p:txBody>
          <a:bodyPr wrap="square" lIns="0" tIns="304800" rIns="0" bIns="0" rtlCol="0" vert="horz">
            <a:spAutoFit/>
          </a:bodyPr>
          <a:lstStyle/>
          <a:p>
            <a:pPr marL="368300">
              <a:lnSpc>
                <a:spcPct val="100000"/>
              </a:lnSpc>
              <a:spcBef>
                <a:spcPts val="2400"/>
              </a:spcBef>
            </a:pPr>
            <a:r>
              <a:rPr dirty="0" spc="-185"/>
              <a:t>RESOURCE</a:t>
            </a:r>
            <a:r>
              <a:rPr dirty="0" spc="-220"/>
              <a:t> </a:t>
            </a:r>
            <a:r>
              <a:rPr dirty="0" spc="-110"/>
              <a:t>REQUIREMENTS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-6299" y="1992325"/>
            <a:ext cx="6581775" cy="5349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469265" algn="l"/>
                <a:tab pos="5445125" algn="l"/>
              </a:tabLst>
            </a:pPr>
            <a:r>
              <a:rPr dirty="0" sz="2200" b="1">
                <a:latin typeface="Times New Roman"/>
                <a:cs typeface="Times New Roman"/>
              </a:rPr>
              <a:t>DS18B20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temperature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sensor</a:t>
            </a:r>
            <a:r>
              <a:rPr dirty="0" sz="2200" b="1">
                <a:latin typeface="Times New Roman"/>
                <a:cs typeface="Times New Roman"/>
              </a:rPr>
              <a:t>	</a:t>
            </a:r>
            <a:r>
              <a:rPr dirty="0" baseline="2525" sz="3300" spc="-37">
                <a:latin typeface="Wingdings"/>
                <a:cs typeface="Wingdings"/>
              </a:rPr>
              <a:t></a:t>
            </a:r>
            <a:r>
              <a:rPr dirty="0" baseline="2525" sz="3300" spc="-375">
                <a:latin typeface="Times New Roman"/>
                <a:cs typeface="Times New Roman"/>
              </a:rPr>
              <a:t> </a:t>
            </a:r>
            <a:r>
              <a:rPr dirty="0" baseline="2525" sz="3300" spc="-15" b="1">
                <a:latin typeface="Times New Roman"/>
                <a:cs typeface="Times New Roman"/>
              </a:rPr>
              <a:t>Flutter</a:t>
            </a:r>
            <a:endParaRPr baseline="2525"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MAX30100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sensor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Withings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BPM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Connect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GlucoWise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ESP32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microcontroller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spc="-35" b="1">
                <a:latin typeface="Times New Roman"/>
                <a:cs typeface="Times New Roman"/>
              </a:rPr>
              <a:t>AWS(Amazon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Web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Services)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IoT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Core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Python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TensorFlow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158685" y="4782583"/>
            <a:ext cx="304800" cy="304800"/>
            <a:chOff x="1158685" y="4782583"/>
            <a:chExt cx="304800" cy="304800"/>
          </a:xfrm>
        </p:grpSpPr>
        <p:sp>
          <p:nvSpPr>
            <p:cNvPr id="12" name="object 12" descr=""/>
            <p:cNvSpPr/>
            <p:nvPr/>
          </p:nvSpPr>
          <p:spPr>
            <a:xfrm>
              <a:off x="1171385" y="4795278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279398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398" y="279400"/>
                  </a:lnTo>
                  <a:lnTo>
                    <a:pt x="279398" y="0"/>
                  </a:lnTo>
                  <a:close/>
                </a:path>
              </a:pathLst>
            </a:custGeom>
            <a:solidFill>
              <a:srgbClr val="FFE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71385" y="4795283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2699" y="-5"/>
                  </a:moveTo>
                  <a:lnTo>
                    <a:pt x="5685" y="-5"/>
                  </a:lnTo>
                  <a:lnTo>
                    <a:pt x="0" y="5680"/>
                  </a:lnTo>
                  <a:lnTo>
                    <a:pt x="0" y="12694"/>
                  </a:lnTo>
                  <a:lnTo>
                    <a:pt x="0" y="266694"/>
                  </a:lnTo>
                  <a:lnTo>
                    <a:pt x="0" y="273709"/>
                  </a:lnTo>
                  <a:lnTo>
                    <a:pt x="5685" y="279394"/>
                  </a:lnTo>
                  <a:lnTo>
                    <a:pt x="12699" y="279394"/>
                  </a:lnTo>
                  <a:lnTo>
                    <a:pt x="266698" y="279394"/>
                  </a:lnTo>
                  <a:lnTo>
                    <a:pt x="273712" y="279394"/>
                  </a:lnTo>
                  <a:lnTo>
                    <a:pt x="279398" y="273709"/>
                  </a:lnTo>
                  <a:lnTo>
                    <a:pt x="279398" y="266694"/>
                  </a:lnTo>
                  <a:lnTo>
                    <a:pt x="279398" y="12694"/>
                  </a:lnTo>
                  <a:lnTo>
                    <a:pt x="279398" y="5680"/>
                  </a:lnTo>
                  <a:lnTo>
                    <a:pt x="273712" y="-5"/>
                  </a:lnTo>
                  <a:lnTo>
                    <a:pt x="266698" y="-5"/>
                  </a:lnTo>
                  <a:lnTo>
                    <a:pt x="12699" y="-5"/>
                  </a:lnTo>
                  <a:close/>
                </a:path>
              </a:pathLst>
            </a:custGeom>
            <a:ln w="25399">
              <a:solidFill>
                <a:srgbClr val="E5C9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1966347" y="3069214"/>
            <a:ext cx="304800" cy="304800"/>
            <a:chOff x="1966347" y="3069214"/>
            <a:chExt cx="304800" cy="304800"/>
          </a:xfrm>
        </p:grpSpPr>
        <p:sp>
          <p:nvSpPr>
            <p:cNvPr id="15" name="object 15" descr=""/>
            <p:cNvSpPr/>
            <p:nvPr/>
          </p:nvSpPr>
          <p:spPr>
            <a:xfrm>
              <a:off x="1979053" y="3081908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279400" y="0"/>
                  </a:moveTo>
                  <a:lnTo>
                    <a:pt x="0" y="0"/>
                  </a:lnTo>
                  <a:lnTo>
                    <a:pt x="0" y="279400"/>
                  </a:lnTo>
                  <a:lnTo>
                    <a:pt x="279400" y="279400"/>
                  </a:lnTo>
                  <a:lnTo>
                    <a:pt x="279400" y="0"/>
                  </a:lnTo>
                  <a:close/>
                </a:path>
              </a:pathLst>
            </a:custGeom>
            <a:solidFill>
              <a:srgbClr val="FFEB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979047" y="3081914"/>
              <a:ext cx="279400" cy="279400"/>
            </a:xfrm>
            <a:custGeom>
              <a:avLst/>
              <a:gdLst/>
              <a:ahLst/>
              <a:cxnLst/>
              <a:rect l="l" t="t" r="r" b="b"/>
              <a:pathLst>
                <a:path w="279400" h="279400">
                  <a:moveTo>
                    <a:pt x="12706" y="-5"/>
                  </a:moveTo>
                  <a:lnTo>
                    <a:pt x="5692" y="-5"/>
                  </a:lnTo>
                  <a:lnTo>
                    <a:pt x="6" y="5680"/>
                  </a:lnTo>
                  <a:lnTo>
                    <a:pt x="6" y="12694"/>
                  </a:lnTo>
                  <a:lnTo>
                    <a:pt x="6" y="266694"/>
                  </a:lnTo>
                  <a:lnTo>
                    <a:pt x="6" y="273708"/>
                  </a:lnTo>
                  <a:lnTo>
                    <a:pt x="5692" y="279394"/>
                  </a:lnTo>
                  <a:lnTo>
                    <a:pt x="12706" y="279394"/>
                  </a:lnTo>
                  <a:lnTo>
                    <a:pt x="266706" y="279394"/>
                  </a:lnTo>
                  <a:lnTo>
                    <a:pt x="273720" y="279394"/>
                  </a:lnTo>
                  <a:lnTo>
                    <a:pt x="279406" y="273708"/>
                  </a:lnTo>
                  <a:lnTo>
                    <a:pt x="279406" y="266694"/>
                  </a:lnTo>
                  <a:lnTo>
                    <a:pt x="279406" y="12694"/>
                  </a:lnTo>
                  <a:lnTo>
                    <a:pt x="279406" y="5680"/>
                  </a:lnTo>
                  <a:lnTo>
                    <a:pt x="273720" y="-5"/>
                  </a:lnTo>
                  <a:lnTo>
                    <a:pt x="266706" y="-5"/>
                  </a:lnTo>
                  <a:lnTo>
                    <a:pt x="12706" y="-5"/>
                  </a:lnTo>
                  <a:close/>
                </a:path>
              </a:pathLst>
            </a:custGeom>
            <a:ln w="25400">
              <a:solidFill>
                <a:srgbClr val="E5C9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8763507" y="4782578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Nathaniel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Adibuer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2024-12-</a:t>
            </a:r>
            <a:r>
              <a:rPr dirty="0" sz="800" i="1">
                <a:latin typeface="Arial"/>
                <a:cs typeface="Arial"/>
              </a:rPr>
              <a:t>14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09:12:06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You</a:t>
            </a:r>
            <a:r>
              <a:rPr dirty="0" sz="1000" spc="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can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explore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Xiao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developer </a:t>
            </a:r>
            <a:r>
              <a:rPr dirty="0" sz="1000">
                <a:latin typeface="Arial MT"/>
                <a:cs typeface="Arial MT"/>
              </a:rPr>
              <a:t>boards since they are </a:t>
            </a:r>
            <a:r>
              <a:rPr dirty="0" sz="1000" spc="-10">
                <a:latin typeface="Arial MT"/>
                <a:cs typeface="Arial MT"/>
              </a:rPr>
              <a:t>light-</a:t>
            </a:r>
            <a:r>
              <a:rPr dirty="0" sz="1000">
                <a:latin typeface="Arial MT"/>
                <a:cs typeface="Arial MT"/>
              </a:rPr>
              <a:t>weight,</a:t>
            </a:r>
            <a:r>
              <a:rPr dirty="0" sz="1000" spc="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low-powered,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have </a:t>
            </a:r>
            <a:r>
              <a:rPr dirty="0" sz="1000">
                <a:latin typeface="Arial MT"/>
                <a:cs typeface="Arial MT"/>
              </a:rPr>
              <a:t>resources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TinyML </a:t>
            </a:r>
            <a:r>
              <a:rPr dirty="0" sz="1000">
                <a:latin typeface="Arial MT"/>
                <a:cs typeface="Arial MT"/>
              </a:rPr>
              <a:t>applications.</a:t>
            </a:r>
            <a:r>
              <a:rPr dirty="0" sz="1000" spc="5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etc</a:t>
            </a:r>
            <a:r>
              <a:rPr dirty="0" sz="1000">
                <a:latin typeface="Arial MT"/>
                <a:cs typeface="Arial MT"/>
              </a:rPr>
              <a:t>
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763507" y="3069208"/>
            <a:ext cx="1930400" cy="12700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dirty="0" sz="800" b="1" i="1">
                <a:latin typeface="Arial"/>
                <a:cs typeface="Arial"/>
              </a:rPr>
              <a:t>Nathaniel</a:t>
            </a:r>
            <a:r>
              <a:rPr dirty="0" sz="800" spc="-4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Adibuer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800" spc="-10" i="1">
                <a:latin typeface="Arial"/>
                <a:cs typeface="Arial"/>
              </a:rPr>
              <a:t>2024-12-</a:t>
            </a:r>
            <a:r>
              <a:rPr dirty="0" sz="800" i="1">
                <a:latin typeface="Arial"/>
                <a:cs typeface="Arial"/>
              </a:rPr>
              <a:t>14</a:t>
            </a:r>
            <a:r>
              <a:rPr dirty="0" sz="800" spc="35" i="1">
                <a:latin typeface="Arial"/>
                <a:cs typeface="Arial"/>
              </a:rPr>
              <a:t> </a:t>
            </a:r>
            <a:r>
              <a:rPr dirty="0" sz="800" spc="-10" i="1">
                <a:latin typeface="Arial"/>
                <a:cs typeface="Arial"/>
              </a:rPr>
              <a:t>09:14:03</a:t>
            </a:r>
            <a:endParaRPr sz="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latin typeface="Arial MT"/>
                <a:cs typeface="Arial MT"/>
              </a:rPr>
              <a:t>-------------------------------------------</a:t>
            </a:r>
            <a:r>
              <a:rPr dirty="0" sz="1000" spc="-50">
                <a:latin typeface="Arial MT"/>
                <a:cs typeface="Arial MT"/>
              </a:rPr>
              <a:t>-</a:t>
            </a:r>
            <a:endParaRPr sz="1000">
              <a:latin typeface="Arial MT"/>
              <a:cs typeface="Arial MT"/>
            </a:endParaRPr>
          </a:p>
          <a:p>
            <a:pPr marL="25400" marR="17780">
              <a:lnSpc>
                <a:spcPct val="100000"/>
              </a:lnSpc>
            </a:pPr>
            <a:r>
              <a:rPr dirty="0" sz="1000">
                <a:latin typeface="Arial MT"/>
                <a:cs typeface="Arial MT"/>
              </a:rPr>
              <a:t>Explore more of the </a:t>
            </a:r>
            <a:r>
              <a:rPr dirty="0" sz="1000" spc="-10">
                <a:latin typeface="Arial MT"/>
                <a:cs typeface="Arial MT"/>
              </a:rPr>
              <a:t>biometric sensors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26156"/>
            <a:ext cx="10692765" cy="104775"/>
          </a:xfrm>
          <a:custGeom>
            <a:avLst/>
            <a:gdLst/>
            <a:ahLst/>
            <a:cxnLst/>
            <a:rect l="l" t="t" r="r" b="b"/>
            <a:pathLst>
              <a:path w="10692765" h="104775">
                <a:moveTo>
                  <a:pt x="10692257" y="0"/>
                </a:moveTo>
                <a:lnTo>
                  <a:pt x="0" y="0"/>
                </a:lnTo>
                <a:lnTo>
                  <a:pt x="0" y="104373"/>
                </a:lnTo>
                <a:lnTo>
                  <a:pt x="10692257" y="104373"/>
                </a:lnTo>
                <a:lnTo>
                  <a:pt x="10692257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4800" rIns="0" bIns="0" rtlCol="0" vert="horz">
            <a:spAutoFit/>
          </a:bodyPr>
          <a:lstStyle/>
          <a:p>
            <a:pPr marL="1563370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PROJECT</a:t>
            </a:r>
            <a:r>
              <a:rPr dirty="0" spc="-245"/>
              <a:t> </a:t>
            </a:r>
            <a:r>
              <a:rPr dirty="0" spc="-75"/>
              <a:t>TIMELINES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84019"/>
            <a:ext cx="10693908" cy="58795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6072" y="905967"/>
            <a:ext cx="4656455" cy="8801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600" spc="-155"/>
              <a:t>CONCLUSION</a:t>
            </a:r>
            <a:endParaRPr sz="5600"/>
          </a:p>
        </p:txBody>
      </p:sp>
      <p:sp>
        <p:nvSpPr>
          <p:cNvPr id="3" name="object 3" descr=""/>
          <p:cNvSpPr txBox="1"/>
          <p:nvPr/>
        </p:nvSpPr>
        <p:spPr>
          <a:xfrm>
            <a:off x="-6299" y="1824380"/>
            <a:ext cx="10625455" cy="4455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69215" indent="-457200">
              <a:lnSpc>
                <a:spcPct val="150000"/>
              </a:lnSpc>
              <a:spcBef>
                <a:spcPts val="100"/>
              </a:spcBef>
              <a:buFont typeface="Wingdings"/>
              <a:buChar char=""/>
              <a:tabLst>
                <a:tab pos="469900" algn="l"/>
              </a:tabLst>
            </a:pP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wearable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device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provides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practical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solution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10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monitoring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pregnant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women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in </a:t>
            </a:r>
            <a:r>
              <a:rPr dirty="0" sz="2200" b="1">
                <a:latin typeface="Times New Roman"/>
                <a:cs typeface="Times New Roman"/>
              </a:rPr>
              <a:t>Ghana,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using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advanced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sensors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and</a:t>
            </a:r>
            <a:r>
              <a:rPr dirty="0" sz="2200" spc="-1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AI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track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vital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signs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detect</a:t>
            </a:r>
            <a:r>
              <a:rPr dirty="0" sz="2200" spc="-10" b="1">
                <a:latin typeface="Times New Roman"/>
                <a:cs typeface="Times New Roman"/>
              </a:rPr>
              <a:t> complications </a:t>
            </a:r>
            <a:r>
              <a:rPr dirty="0" sz="2200" b="1">
                <a:latin typeface="Times New Roman"/>
                <a:cs typeface="Times New Roman"/>
              </a:rPr>
              <a:t>like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preeclampsia,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anemia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gestational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diabetes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early</a:t>
            </a:r>
            <a:endParaRPr sz="22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50000"/>
              </a:lnSpc>
              <a:spcBef>
                <a:spcPts val="1595"/>
              </a:spcBef>
              <a:buFont typeface="Wingdings"/>
              <a:buChar char=""/>
              <a:tabLst>
                <a:tab pos="469900" algn="l"/>
              </a:tabLst>
            </a:pP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mobile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app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enhances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care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pregnant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women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by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offering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real-</a:t>
            </a:r>
            <a:r>
              <a:rPr dirty="0" sz="2200" b="1">
                <a:latin typeface="Times New Roman"/>
                <a:cs typeface="Times New Roman"/>
              </a:rPr>
              <a:t>time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data,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alerts </a:t>
            </a:r>
            <a:r>
              <a:rPr dirty="0" sz="2200" b="1">
                <a:latin typeface="Times New Roman"/>
                <a:cs typeface="Times New Roman"/>
              </a:rPr>
              <a:t>about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health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risks,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appointment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scheduling,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ensuring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better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communication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with </a:t>
            </a:r>
            <a:r>
              <a:rPr dirty="0" sz="2200" b="1">
                <a:latin typeface="Times New Roman"/>
                <a:cs typeface="Times New Roman"/>
              </a:rPr>
              <a:t>healthcare</a:t>
            </a:r>
            <a:r>
              <a:rPr dirty="0" sz="2200" spc="-13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providers.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Wingdings"/>
              <a:buChar char=""/>
            </a:pPr>
            <a:endParaRPr sz="2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dirty="0" sz="2200" b="1">
                <a:latin typeface="Times New Roman"/>
                <a:cs typeface="Times New Roman"/>
              </a:rPr>
              <a:t>This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project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addresses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critical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gaps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maternal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healthcare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contributes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global</a:t>
            </a:r>
            <a:endParaRPr sz="2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20"/>
              </a:spcBef>
            </a:pPr>
            <a:r>
              <a:rPr dirty="0" sz="2200" b="1">
                <a:latin typeface="Times New Roman"/>
                <a:cs typeface="Times New Roman"/>
              </a:rPr>
              <a:t>efforts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reduce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maternal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child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mortality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rates.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1647" y="721867"/>
            <a:ext cx="503555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REFERENCES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-507" y="1961647"/>
            <a:ext cx="10598785" cy="4378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24460" indent="390525">
              <a:lnSpc>
                <a:spcPct val="150100"/>
              </a:lnSpc>
              <a:spcBef>
                <a:spcPts val="95"/>
              </a:spcBef>
              <a:buAutoNum type="arabicPlain"/>
              <a:tabLst>
                <a:tab pos="403225" algn="l"/>
              </a:tabLst>
            </a:pPr>
            <a:r>
              <a:rPr dirty="0" sz="2200" spc="-80" b="1">
                <a:latin typeface="Times New Roman"/>
                <a:cs typeface="Times New Roman"/>
              </a:rPr>
              <a:t>T.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Tabassum,</a:t>
            </a:r>
            <a:r>
              <a:rPr dirty="0" sz="2200" spc="-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S.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30" b="1">
                <a:latin typeface="Times New Roman"/>
                <a:cs typeface="Times New Roman"/>
              </a:rPr>
              <a:t>Podder,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S.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50" b="1">
                <a:latin typeface="Times New Roman"/>
                <a:cs typeface="Times New Roman"/>
              </a:rPr>
              <a:t>T. </a:t>
            </a:r>
            <a:r>
              <a:rPr dirty="0" sz="2200" b="1">
                <a:latin typeface="Times New Roman"/>
                <a:cs typeface="Times New Roman"/>
              </a:rPr>
              <a:t>S.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Rafid,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"A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Comprehensive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Framework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for </a:t>
            </a:r>
            <a:r>
              <a:rPr dirty="0" sz="2200" spc="-20" b="1">
                <a:latin typeface="Times New Roman"/>
                <a:cs typeface="Times New Roman"/>
              </a:rPr>
              <a:t>Wearable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Module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for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Prenatal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Health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Monitoring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Risk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Detection,"</a:t>
            </a:r>
            <a:r>
              <a:rPr dirty="0" sz="2200" spc="5" b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IEEE</a:t>
            </a:r>
            <a:r>
              <a:rPr dirty="0" sz="2200" spc="-70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Int.</a:t>
            </a:r>
            <a:r>
              <a:rPr dirty="0" sz="2200" spc="-65" b="1" i="1">
                <a:latin typeface="Times New Roman"/>
                <a:cs typeface="Times New Roman"/>
              </a:rPr>
              <a:t> </a:t>
            </a:r>
            <a:r>
              <a:rPr dirty="0" sz="2200" spc="-10" b="1" i="1">
                <a:latin typeface="Times New Roman"/>
                <a:cs typeface="Times New Roman"/>
              </a:rPr>
              <a:t>Conf. </a:t>
            </a:r>
            <a:r>
              <a:rPr dirty="0" sz="2200" spc="-25" b="1" i="1">
                <a:latin typeface="Times New Roman"/>
                <a:cs typeface="Times New Roman"/>
              </a:rPr>
              <a:t>Women</a:t>
            </a:r>
            <a:r>
              <a:rPr dirty="0" sz="2200" spc="-60" b="1" i="1">
                <a:latin typeface="Times New Roman"/>
                <a:cs typeface="Times New Roman"/>
              </a:rPr>
              <a:t> </a:t>
            </a:r>
            <a:r>
              <a:rPr dirty="0" sz="2200" spc="-10" b="1" i="1">
                <a:latin typeface="Times New Roman"/>
                <a:cs typeface="Times New Roman"/>
              </a:rPr>
              <a:t>Innov.,</a:t>
            </a:r>
            <a:r>
              <a:rPr dirty="0" sz="2200" spc="-50" b="1" i="1">
                <a:latin typeface="Times New Roman"/>
                <a:cs typeface="Times New Roman"/>
              </a:rPr>
              <a:t> </a:t>
            </a:r>
            <a:r>
              <a:rPr dirty="0" sz="2200" spc="-25" b="1" i="1">
                <a:latin typeface="Times New Roman"/>
                <a:cs typeface="Times New Roman"/>
              </a:rPr>
              <a:t>Technol.</a:t>
            </a:r>
            <a:r>
              <a:rPr dirty="0" sz="2200" spc="-45" b="1" i="1">
                <a:latin typeface="Times New Roman"/>
                <a:cs typeface="Times New Roman"/>
              </a:rPr>
              <a:t> </a:t>
            </a:r>
            <a:r>
              <a:rPr dirty="0" sz="2200" spc="-10" b="1" i="1">
                <a:latin typeface="Times New Roman"/>
                <a:cs typeface="Times New Roman"/>
              </a:rPr>
              <a:t>Entrepreneurship</a:t>
            </a:r>
            <a:r>
              <a:rPr dirty="0" sz="2200" spc="-60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(ICWITE)</a:t>
            </a:r>
            <a:r>
              <a:rPr dirty="0" sz="2200" b="1">
                <a:latin typeface="Times New Roman"/>
                <a:cs typeface="Times New Roman"/>
              </a:rPr>
              <a:t>,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pp.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283-</a:t>
            </a:r>
            <a:r>
              <a:rPr dirty="0" sz="2200" b="1">
                <a:latin typeface="Times New Roman"/>
                <a:cs typeface="Times New Roman"/>
              </a:rPr>
              <a:t>288,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2024.</a:t>
            </a:r>
            <a:endParaRPr sz="2200">
              <a:latin typeface="Times New Roman"/>
              <a:cs typeface="Times New Roman"/>
            </a:endParaRPr>
          </a:p>
          <a:p>
            <a:pPr marL="12700" marR="5080" indent="386080">
              <a:lnSpc>
                <a:spcPct val="150000"/>
              </a:lnSpc>
              <a:spcBef>
                <a:spcPts val="1295"/>
              </a:spcBef>
              <a:buAutoNum type="arabicPlain"/>
              <a:tabLst>
                <a:tab pos="398780" algn="l"/>
              </a:tabLst>
            </a:pPr>
            <a:r>
              <a:rPr dirty="0" sz="2200" spc="-100" b="1">
                <a:latin typeface="Times New Roman"/>
                <a:cs typeface="Times New Roman"/>
              </a:rPr>
              <a:t>Y.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K.</a:t>
            </a:r>
            <a:r>
              <a:rPr dirty="0" sz="2200" spc="-13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Wiafe,</a:t>
            </a:r>
            <a:r>
              <a:rPr dirty="0" sz="2200" spc="-12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A.</a:t>
            </a:r>
            <a:r>
              <a:rPr dirty="0" sz="2200" spc="-1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Asamoah,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120" b="1">
                <a:latin typeface="Times New Roman"/>
                <a:cs typeface="Times New Roman"/>
              </a:rPr>
              <a:t>P. </a:t>
            </a:r>
            <a:r>
              <a:rPr dirty="0" sz="2200" b="1">
                <a:latin typeface="Times New Roman"/>
                <a:cs typeface="Times New Roman"/>
              </a:rPr>
              <a:t>Akweongo,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and</a:t>
            </a:r>
            <a:r>
              <a:rPr dirty="0" sz="2200" spc="-1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A.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Kumah,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"Factors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Affecting</a:t>
            </a:r>
            <a:r>
              <a:rPr dirty="0" sz="2200" spc="-10" b="1">
                <a:latin typeface="Times New Roman"/>
                <a:cs typeface="Times New Roman"/>
              </a:rPr>
              <a:t> Pregnancy </a:t>
            </a:r>
            <a:r>
              <a:rPr dirty="0" sz="2200" b="1">
                <a:latin typeface="Times New Roman"/>
                <a:cs typeface="Times New Roman"/>
              </a:rPr>
              <a:t>Complications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Ghana,"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Global</a:t>
            </a:r>
            <a:r>
              <a:rPr dirty="0" sz="2200" spc="-50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J.</a:t>
            </a:r>
            <a:r>
              <a:rPr dirty="0" sz="2200" spc="-35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Quality</a:t>
            </a:r>
            <a:r>
              <a:rPr dirty="0" sz="2200" spc="-40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Safety</a:t>
            </a:r>
            <a:r>
              <a:rPr dirty="0" sz="2200" spc="-40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Healthcare</a:t>
            </a:r>
            <a:r>
              <a:rPr dirty="0" sz="2200" b="1">
                <a:latin typeface="Times New Roman"/>
                <a:cs typeface="Times New Roman"/>
              </a:rPr>
              <a:t>,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vol.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7,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no.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4,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pp.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156-</a:t>
            </a:r>
            <a:r>
              <a:rPr dirty="0" sz="2200" spc="-20" b="1">
                <a:latin typeface="Times New Roman"/>
                <a:cs typeface="Times New Roman"/>
              </a:rPr>
              <a:t>161, </a:t>
            </a:r>
            <a:r>
              <a:rPr dirty="0" sz="2200" spc="-10" b="1">
                <a:latin typeface="Times New Roman"/>
                <a:cs typeface="Times New Roman"/>
              </a:rPr>
              <a:t>2024.</a:t>
            </a:r>
            <a:endParaRPr sz="2200">
              <a:latin typeface="Times New Roman"/>
              <a:cs typeface="Times New Roman"/>
            </a:endParaRPr>
          </a:p>
          <a:p>
            <a:pPr marL="12700" marR="194945" indent="395605">
              <a:lnSpc>
                <a:spcPct val="150100"/>
              </a:lnSpc>
              <a:spcBef>
                <a:spcPts val="1290"/>
              </a:spcBef>
              <a:buAutoNum type="arabicPlain"/>
              <a:tabLst>
                <a:tab pos="408305" algn="l"/>
              </a:tabLst>
            </a:pPr>
            <a:r>
              <a:rPr dirty="0" sz="2200" b="1">
                <a:latin typeface="Times New Roman"/>
                <a:cs typeface="Times New Roman"/>
              </a:rPr>
              <a:t>B.</a:t>
            </a:r>
            <a:r>
              <a:rPr dirty="0" sz="2200" spc="-1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D.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B.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Lopez,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J.</a:t>
            </a:r>
            <a:r>
              <a:rPr dirty="0" sz="2200" spc="-1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A.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A.</a:t>
            </a:r>
            <a:r>
              <a:rPr dirty="0" sz="2200" spc="-1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Aguirre,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D.</a:t>
            </a:r>
            <a:r>
              <a:rPr dirty="0" sz="2200" spc="-1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A.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R.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Coronado,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10" b="1">
                <a:latin typeface="Times New Roman"/>
                <a:cs typeface="Times New Roman"/>
              </a:rPr>
              <a:t>P.</a:t>
            </a:r>
            <a:r>
              <a:rPr dirty="0" sz="2200" spc="-1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A.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Gonzalez,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"Wearable </a:t>
            </a:r>
            <a:r>
              <a:rPr dirty="0" sz="2200" b="1">
                <a:latin typeface="Times New Roman"/>
                <a:cs typeface="Times New Roman"/>
              </a:rPr>
              <a:t>technology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model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to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control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monitor</a:t>
            </a:r>
            <a:r>
              <a:rPr dirty="0" sz="2200" spc="-10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hypertension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during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pregnancy,"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Proc.</a:t>
            </a:r>
            <a:r>
              <a:rPr dirty="0" sz="2200" spc="-75" b="1" i="1">
                <a:latin typeface="Times New Roman"/>
                <a:cs typeface="Times New Roman"/>
              </a:rPr>
              <a:t> </a:t>
            </a:r>
            <a:r>
              <a:rPr dirty="0" sz="2200" spc="-10" b="1" i="1">
                <a:latin typeface="Times New Roman"/>
                <a:cs typeface="Times New Roman"/>
              </a:rPr>
              <a:t>IEEE</a:t>
            </a:r>
            <a:r>
              <a:rPr dirty="0" sz="2200" spc="-10" b="1">
                <a:latin typeface="Times New Roman"/>
                <a:cs typeface="Times New Roman"/>
              </a:rPr>
              <a:t>,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-507" y="6482892"/>
            <a:ext cx="214693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imes New Roman"/>
                <a:cs typeface="Times New Roman"/>
              </a:rPr>
              <a:t>Lima,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Peru,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2017.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270747" y="6711695"/>
            <a:ext cx="2421255" cy="521334"/>
            <a:chOff x="8270747" y="6711695"/>
            <a:chExt cx="2421255" cy="521334"/>
          </a:xfrm>
        </p:grpSpPr>
        <p:sp>
          <p:nvSpPr>
            <p:cNvPr id="6" name="object 6" descr=""/>
            <p:cNvSpPr/>
            <p:nvPr/>
          </p:nvSpPr>
          <p:spPr>
            <a:xfrm>
              <a:off x="8270747" y="6711695"/>
              <a:ext cx="2421255" cy="521334"/>
            </a:xfrm>
            <a:custGeom>
              <a:avLst/>
              <a:gdLst/>
              <a:ahLst/>
              <a:cxnLst/>
              <a:rect l="l" t="t" r="r" b="b"/>
              <a:pathLst>
                <a:path w="2421254" h="521334">
                  <a:moveTo>
                    <a:pt x="2421254" y="0"/>
                  </a:moveTo>
                  <a:lnTo>
                    <a:pt x="0" y="0"/>
                  </a:lnTo>
                  <a:lnTo>
                    <a:pt x="0" y="520725"/>
                  </a:lnTo>
                  <a:lnTo>
                    <a:pt x="2421254" y="520725"/>
                  </a:lnTo>
                  <a:lnTo>
                    <a:pt x="24212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68283" y="6809231"/>
              <a:ext cx="271272" cy="324612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8270747" y="6711695"/>
            <a:ext cx="2421255" cy="5213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105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1647" y="721867"/>
            <a:ext cx="503555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REFERENCES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-507" y="1624355"/>
            <a:ext cx="10700385" cy="488188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200" b="1">
                <a:latin typeface="Times New Roman"/>
                <a:cs typeface="Times New Roman"/>
              </a:rPr>
              <a:t>[4]</a:t>
            </a:r>
            <a:r>
              <a:rPr dirty="0" sz="2200" spc="-114" b="1">
                <a:latin typeface="Times New Roman"/>
                <a:cs typeface="Times New Roman"/>
              </a:rPr>
              <a:t> </a:t>
            </a:r>
            <a:r>
              <a:rPr dirty="0" sz="2200" spc="-85" b="1">
                <a:latin typeface="Times New Roman"/>
                <a:cs typeface="Times New Roman"/>
              </a:rPr>
              <a:t>F.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Sarhaddi,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I.</a:t>
            </a:r>
            <a:r>
              <a:rPr dirty="0" sz="2200" spc="-1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Azimi,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S.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Labbaf,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H.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Niela-</a:t>
            </a:r>
            <a:r>
              <a:rPr dirty="0" sz="2200" b="1">
                <a:latin typeface="Times New Roman"/>
                <a:cs typeface="Times New Roman"/>
              </a:rPr>
              <a:t>Vilén,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N.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Dutt,</a:t>
            </a:r>
            <a:r>
              <a:rPr dirty="0" sz="2200" spc="-1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A.</a:t>
            </a:r>
            <a:r>
              <a:rPr dirty="0" sz="2200" spc="-1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Axelin,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80" b="1">
                <a:latin typeface="Times New Roman"/>
                <a:cs typeface="Times New Roman"/>
              </a:rPr>
              <a:t>P.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Liljeberg,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and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spc="-50" b="1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200" b="1">
                <a:latin typeface="Times New Roman"/>
                <a:cs typeface="Times New Roman"/>
              </a:rPr>
              <a:t>M.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Rahmani,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"Long-</a:t>
            </a:r>
            <a:r>
              <a:rPr dirty="0" sz="2200" spc="-40" b="1">
                <a:latin typeface="Times New Roman"/>
                <a:cs typeface="Times New Roman"/>
              </a:rPr>
              <a:t>Term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60" b="1">
                <a:latin typeface="Times New Roman"/>
                <a:cs typeface="Times New Roman"/>
              </a:rPr>
              <a:t>IoT-</a:t>
            </a:r>
            <a:r>
              <a:rPr dirty="0" sz="2200" b="1">
                <a:latin typeface="Times New Roman"/>
                <a:cs typeface="Times New Roman"/>
              </a:rPr>
              <a:t>Based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Maternal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Monitoring: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System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Design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200" b="1">
                <a:latin typeface="Times New Roman"/>
                <a:cs typeface="Times New Roman"/>
              </a:rPr>
              <a:t>Evaluation,"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Sensors</a:t>
            </a:r>
            <a:r>
              <a:rPr dirty="0" sz="2200" b="1">
                <a:latin typeface="Times New Roman"/>
                <a:cs typeface="Times New Roman"/>
              </a:rPr>
              <a:t>,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vol.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21,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no.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7,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p.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2281,2021.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1300"/>
              </a:spcBef>
            </a:pPr>
            <a:r>
              <a:rPr dirty="0" sz="2200" b="1">
                <a:latin typeface="Times New Roman"/>
                <a:cs typeface="Times New Roman"/>
              </a:rPr>
              <a:t>[5]A.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spc="-95" b="1">
                <a:latin typeface="Times New Roman"/>
                <a:cs typeface="Times New Roman"/>
              </a:rPr>
              <a:t>F.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Hernández-</a:t>
            </a:r>
            <a:r>
              <a:rPr dirty="0" sz="2200" b="1">
                <a:latin typeface="Times New Roman"/>
                <a:cs typeface="Times New Roman"/>
              </a:rPr>
              <a:t>Castañeda,</a:t>
            </a:r>
            <a:r>
              <a:rPr dirty="0" sz="2200" spc="1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R.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Pardo-</a:t>
            </a:r>
            <a:r>
              <a:rPr dirty="0" sz="2200" b="1">
                <a:latin typeface="Times New Roman"/>
                <a:cs typeface="Times New Roman"/>
              </a:rPr>
              <a:t>Gómez,</a:t>
            </a:r>
            <a:r>
              <a:rPr dirty="0" sz="2200" spc="1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M.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Sierra-</a:t>
            </a:r>
            <a:r>
              <a:rPr dirty="0" sz="2200" b="1">
                <a:latin typeface="Times New Roman"/>
                <a:cs typeface="Times New Roman"/>
              </a:rPr>
              <a:t>Sosa,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and</a:t>
            </a:r>
            <a:r>
              <a:rPr dirty="0" sz="2200" spc="-1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A.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García-</a:t>
            </a:r>
            <a:r>
              <a:rPr dirty="0" sz="2200" spc="-10" b="1">
                <a:latin typeface="Times New Roman"/>
                <a:cs typeface="Times New Roman"/>
              </a:rPr>
              <a:t>Ramos, </a:t>
            </a:r>
            <a:r>
              <a:rPr dirty="0" sz="2200" b="1">
                <a:latin typeface="Times New Roman"/>
                <a:cs typeface="Times New Roman"/>
              </a:rPr>
              <a:t>"Explainable</a:t>
            </a:r>
            <a:r>
              <a:rPr dirty="0" sz="2200" spc="-9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Early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Prediction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Gestational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Diabetes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Biomarkers</a:t>
            </a:r>
            <a:r>
              <a:rPr dirty="0" sz="2200" spc="-7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by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Combining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Medica </a:t>
            </a:r>
            <a:r>
              <a:rPr dirty="0" sz="2200" b="1">
                <a:latin typeface="Times New Roman"/>
                <a:cs typeface="Times New Roman"/>
              </a:rPr>
              <a:t>Background</a:t>
            </a:r>
            <a:r>
              <a:rPr dirty="0" sz="2200" spc="-9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Wearable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Devices:</a:t>
            </a:r>
            <a:r>
              <a:rPr dirty="0" sz="2200" spc="-1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1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Pilot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Study</a:t>
            </a:r>
            <a:r>
              <a:rPr dirty="0" sz="2200" spc="-7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With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Cohort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Group,"</a:t>
            </a:r>
            <a:r>
              <a:rPr dirty="0" sz="2200" spc="-10" b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Sensors</a:t>
            </a:r>
            <a:r>
              <a:rPr dirty="0" sz="2200" b="1">
                <a:latin typeface="Times New Roman"/>
                <a:cs typeface="Times New Roman"/>
              </a:rPr>
              <a:t>,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vol.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22 </a:t>
            </a:r>
            <a:r>
              <a:rPr dirty="0" sz="2200" b="1">
                <a:latin typeface="Times New Roman"/>
                <a:cs typeface="Times New Roman"/>
              </a:rPr>
              <a:t>no.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15,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p.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5793,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Times New Roman"/>
                <a:cs typeface="Times New Roman"/>
              </a:rPr>
              <a:t>2022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200" spc="-10" b="1">
                <a:latin typeface="Times New Roman"/>
                <a:cs typeface="Times New Roman"/>
              </a:rPr>
              <a:t>[6]</a:t>
            </a:r>
            <a:r>
              <a:rPr dirty="0" sz="2200" spc="-1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A.</a:t>
            </a:r>
            <a:r>
              <a:rPr dirty="0" sz="2200" spc="-135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Kumar,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D.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Sharma,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and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spc="-160" b="1">
                <a:latin typeface="Times New Roman"/>
                <a:cs typeface="Times New Roman"/>
              </a:rPr>
              <a:t>V.</a:t>
            </a:r>
            <a:r>
              <a:rPr dirty="0" sz="2200" spc="-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Gupta,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"Health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Monitoring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Expecting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Mothers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using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200" b="1">
                <a:latin typeface="Times New Roman"/>
                <a:cs typeface="Times New Roman"/>
              </a:rPr>
              <a:t>Multiple</a:t>
            </a:r>
            <a:r>
              <a:rPr dirty="0" sz="2200" spc="-8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Sensor</a:t>
            </a:r>
            <a:r>
              <a:rPr dirty="0" sz="2200" spc="-1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Approach: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'Preg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Care',"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in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Proceedings</a:t>
            </a:r>
            <a:r>
              <a:rPr dirty="0" sz="2200" spc="-55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of</a:t>
            </a:r>
            <a:r>
              <a:rPr dirty="0" sz="2200" spc="-55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the</a:t>
            </a:r>
            <a:r>
              <a:rPr dirty="0" sz="2200" spc="-60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2nd</a:t>
            </a:r>
            <a:r>
              <a:rPr dirty="0" sz="2200" spc="-55" b="1" i="1">
                <a:latin typeface="Times New Roman"/>
                <a:cs typeface="Times New Roman"/>
              </a:rPr>
              <a:t> </a:t>
            </a:r>
            <a:r>
              <a:rPr dirty="0" sz="2200" spc="-10" b="1" i="1">
                <a:latin typeface="Times New Roman"/>
                <a:cs typeface="Times New Roman"/>
              </a:rPr>
              <a:t>International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83558" y="6692076"/>
            <a:ext cx="2354580" cy="3092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95"/>
              </a:lnSpc>
            </a:pPr>
            <a:r>
              <a:rPr dirty="0" sz="2200" b="1" i="1">
                <a:latin typeface="Times New Roman"/>
                <a:cs typeface="Times New Roman"/>
              </a:rPr>
              <a:t>(ICAICT)</a:t>
            </a:r>
            <a:r>
              <a:rPr dirty="0" sz="2200" b="1">
                <a:latin typeface="Times New Roman"/>
                <a:cs typeface="Times New Roman"/>
              </a:rPr>
              <a:t>,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2020,</a:t>
            </a:r>
            <a:r>
              <a:rPr dirty="0" sz="2200" spc="-60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pp.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-507" y="6480759"/>
            <a:ext cx="8226425" cy="103124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200" b="1" i="1">
                <a:latin typeface="Times New Roman"/>
                <a:cs typeface="Times New Roman"/>
              </a:rPr>
              <a:t>Conference</a:t>
            </a:r>
            <a:r>
              <a:rPr dirty="0" sz="2200" spc="-95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on</a:t>
            </a:r>
            <a:r>
              <a:rPr dirty="0" sz="2200" spc="-135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Advanced</a:t>
            </a:r>
            <a:r>
              <a:rPr dirty="0" sz="2200" spc="-85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Information</a:t>
            </a:r>
            <a:r>
              <a:rPr dirty="0" sz="2200" spc="-90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and</a:t>
            </a:r>
            <a:r>
              <a:rPr dirty="0" sz="2200" spc="-85" b="1" i="1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Times New Roman"/>
                <a:cs typeface="Times New Roman"/>
              </a:rPr>
              <a:t>Communication</a:t>
            </a:r>
            <a:r>
              <a:rPr dirty="0" sz="2200" spc="-75" b="1" i="1">
                <a:latin typeface="Times New Roman"/>
                <a:cs typeface="Times New Roman"/>
              </a:rPr>
              <a:t> </a:t>
            </a:r>
            <a:r>
              <a:rPr dirty="0" sz="2200" spc="-10" b="1" i="1">
                <a:latin typeface="Times New Roman"/>
                <a:cs typeface="Times New Roman"/>
              </a:rPr>
              <a:t>Technology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200" spc="-10" b="1">
                <a:latin typeface="Times New Roman"/>
                <a:cs typeface="Times New Roman"/>
              </a:rPr>
              <a:t>77-</a:t>
            </a:r>
            <a:r>
              <a:rPr dirty="0" sz="2200" spc="-25" b="1">
                <a:latin typeface="Times New Roman"/>
                <a:cs typeface="Times New Roman"/>
              </a:rPr>
              <a:t>82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270747" y="6711695"/>
            <a:ext cx="2421255" cy="521334"/>
            <a:chOff x="8270747" y="6711695"/>
            <a:chExt cx="2421255" cy="521334"/>
          </a:xfrm>
        </p:grpSpPr>
        <p:sp>
          <p:nvSpPr>
            <p:cNvPr id="7" name="object 7" descr=""/>
            <p:cNvSpPr/>
            <p:nvPr/>
          </p:nvSpPr>
          <p:spPr>
            <a:xfrm>
              <a:off x="8270747" y="6711695"/>
              <a:ext cx="2421255" cy="521334"/>
            </a:xfrm>
            <a:custGeom>
              <a:avLst/>
              <a:gdLst/>
              <a:ahLst/>
              <a:cxnLst/>
              <a:rect l="l" t="t" r="r" b="b"/>
              <a:pathLst>
                <a:path w="2421254" h="521334">
                  <a:moveTo>
                    <a:pt x="2421254" y="0"/>
                  </a:moveTo>
                  <a:lnTo>
                    <a:pt x="0" y="0"/>
                  </a:lnTo>
                  <a:lnTo>
                    <a:pt x="0" y="520725"/>
                  </a:lnTo>
                  <a:lnTo>
                    <a:pt x="2421254" y="520725"/>
                  </a:lnTo>
                  <a:lnTo>
                    <a:pt x="24212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68283" y="6809231"/>
              <a:ext cx="271272" cy="324612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8270747" y="6711695"/>
            <a:ext cx="2421255" cy="5213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105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5"/>
              </a:spcBef>
            </a:pPr>
            <a:r>
              <a:rPr dirty="0" sz="1050" spc="-10" b="1">
                <a:solidFill>
                  <a:srgbClr val="282781"/>
                </a:solidFill>
                <a:latin typeface="Arial"/>
                <a:cs typeface="Arial"/>
              </a:rPr>
              <a:t>UNIVERSITY</a:t>
            </a:r>
            <a:r>
              <a:rPr dirty="0" sz="1050" spc="5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82781"/>
                </a:solidFill>
                <a:latin typeface="Arial"/>
                <a:cs typeface="Arial"/>
              </a:rPr>
              <a:t>OF</a:t>
            </a:r>
            <a:r>
              <a:rPr dirty="0" sz="1050" spc="70" b="1">
                <a:solidFill>
                  <a:srgbClr val="282781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282781"/>
                </a:solidFill>
                <a:latin typeface="Arial"/>
                <a:cs typeface="Arial"/>
              </a:rPr>
              <a:t>GHANA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MISCELLANEOUS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0" spc="-10"/>
              <a:t>QUESTIONS/FEEDBACK</a:t>
            </a:r>
            <a:endParaRPr sz="5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2025-10-06T12:27:59Z</dcterms:created>
  <dcterms:modified xsi:type="dcterms:W3CDTF">2025-10-06T12:27:59Z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2025-10-06T00:00:00Z</vt:filetime>
  </property>
  <property fmtid="{D5CDD505-2E9C-101B-9397-08002B2CF9AE}" pid="5" name="Producer">
    <vt:lpwstr>macOS Version 14.6 (Build 23G80) Quartz PDFContext, AppendMode 1.1</vt:lpwstr>
  </property>
</Properties>
</file>
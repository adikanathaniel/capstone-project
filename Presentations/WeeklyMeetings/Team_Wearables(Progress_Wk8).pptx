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3"/>
    <p:sldId id="359" r:id="rId4"/>
    <p:sldId id="491" r:id="rId5"/>
    <p:sldId id="443" r:id="rId6"/>
    <p:sldId id="440" r:id="rId7"/>
    <p:sldId id="550" r:id="rId8"/>
    <p:sldId id="616" r:id="rId9"/>
    <p:sldId id="575" r:id="rId10"/>
    <p:sldId id="576" r:id="rId11"/>
    <p:sldId id="614" r:id="rId12"/>
    <p:sldId id="618" r:id="rId13"/>
    <p:sldId id="619" r:id="rId14"/>
    <p:sldId id="620" r:id="rId15"/>
    <p:sldId id="621" r:id="rId16"/>
    <p:sldId id="568" r:id="rId17"/>
    <p:sldId id="625" r:id="rId18"/>
    <p:sldId id="624" r:id="rId19"/>
    <p:sldId id="551" r:id="rId20"/>
    <p:sldId id="623" r:id="rId21"/>
    <p:sldId id="622" r:id="rId22"/>
    <p:sldId id="600" r:id="rId23"/>
    <p:sldId id="301" r:id="rId24"/>
  </p:sldIdLst>
  <p:sldSz cx="10693400" cy="7562850"/>
  <p:notesSz cx="10693400" cy="75628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43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ard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8" d="100"/>
          <a:sy n="58" d="100"/>
        </p:scale>
        <p:origin x="1464" y="42"/>
      </p:cViewPr>
      <p:guideLst>
        <p:guide orient="horz" pos="2843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commentAuthors" Target="commentAuthors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5-16T05:52:25.212" idx="1">
    <p:pos x="6746" y="1223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2880FF-4FCB-42DC-B8CA-5F43E197EBE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43300" y="946150"/>
            <a:ext cx="3606800" cy="25511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640138"/>
            <a:ext cx="8553450" cy="29781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C1F1E3-D0FF-4924-8EFC-E0C5A02E169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0692130" cy="326390"/>
          </a:xfrm>
          <a:custGeom>
            <a:avLst/>
            <a:gdLst/>
            <a:ahLst/>
            <a:cxnLst/>
            <a:rect l="l" t="t" r="r" b="b"/>
            <a:pathLst>
              <a:path w="10692130" h="326390">
                <a:moveTo>
                  <a:pt x="0" y="326134"/>
                </a:moveTo>
                <a:lnTo>
                  <a:pt x="10692000" y="326134"/>
                </a:lnTo>
                <a:lnTo>
                  <a:pt x="10692000" y="0"/>
                </a:lnTo>
                <a:lnTo>
                  <a:pt x="0" y="0"/>
                </a:lnTo>
                <a:lnTo>
                  <a:pt x="0" y="326134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874768"/>
            <a:ext cx="10692130" cy="5685790"/>
          </a:xfrm>
          <a:custGeom>
            <a:avLst/>
            <a:gdLst/>
            <a:ahLst/>
            <a:cxnLst/>
            <a:rect l="l" t="t" r="r" b="b"/>
            <a:pathLst>
              <a:path w="10692130" h="5685790">
                <a:moveTo>
                  <a:pt x="10691990" y="108064"/>
                </a:moveTo>
                <a:lnTo>
                  <a:pt x="0" y="108064"/>
                </a:lnTo>
                <a:lnTo>
                  <a:pt x="0" y="5685231"/>
                </a:lnTo>
                <a:lnTo>
                  <a:pt x="10691990" y="5685231"/>
                </a:lnTo>
                <a:lnTo>
                  <a:pt x="10691990" y="108064"/>
                </a:lnTo>
                <a:close/>
              </a:path>
              <a:path w="10692130" h="5685790">
                <a:moveTo>
                  <a:pt x="10691990" y="0"/>
                </a:moveTo>
                <a:lnTo>
                  <a:pt x="0" y="0"/>
                </a:lnTo>
                <a:lnTo>
                  <a:pt x="0" y="3683"/>
                </a:lnTo>
                <a:lnTo>
                  <a:pt x="10691990" y="3683"/>
                </a:lnTo>
                <a:lnTo>
                  <a:pt x="10691990" y="0"/>
                </a:lnTo>
                <a:close/>
              </a:path>
            </a:pathLst>
          </a:custGeom>
          <a:solidFill>
            <a:srgbClr val="EEEDF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430513"/>
            <a:ext cx="10692130" cy="1444625"/>
          </a:xfrm>
          <a:custGeom>
            <a:avLst/>
            <a:gdLst/>
            <a:ahLst/>
            <a:cxnLst/>
            <a:rect l="l" t="t" r="r" b="b"/>
            <a:pathLst>
              <a:path w="10692130" h="1444625">
                <a:moveTo>
                  <a:pt x="10692000" y="0"/>
                </a:moveTo>
                <a:lnTo>
                  <a:pt x="0" y="0"/>
                </a:lnTo>
                <a:lnTo>
                  <a:pt x="0" y="1444251"/>
                </a:lnTo>
                <a:lnTo>
                  <a:pt x="10692000" y="1444251"/>
                </a:lnTo>
                <a:lnTo>
                  <a:pt x="10692000" y="0"/>
                </a:lnTo>
                <a:close/>
              </a:path>
            </a:pathLst>
          </a:custGeom>
          <a:solidFill>
            <a:srgbClr val="28278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0" y="326142"/>
            <a:ext cx="10692130" cy="1656714"/>
          </a:xfrm>
          <a:custGeom>
            <a:avLst/>
            <a:gdLst/>
            <a:ahLst/>
            <a:cxnLst/>
            <a:rect l="l" t="t" r="r" b="b"/>
            <a:pathLst>
              <a:path w="10692130" h="1656714">
                <a:moveTo>
                  <a:pt x="10691990" y="1552308"/>
                </a:moveTo>
                <a:lnTo>
                  <a:pt x="0" y="1552308"/>
                </a:lnTo>
                <a:lnTo>
                  <a:pt x="0" y="1656689"/>
                </a:lnTo>
                <a:lnTo>
                  <a:pt x="10691990" y="1656689"/>
                </a:lnTo>
                <a:lnTo>
                  <a:pt x="10691990" y="1552308"/>
                </a:lnTo>
                <a:close/>
              </a:path>
              <a:path w="10692130" h="1656714">
                <a:moveTo>
                  <a:pt x="10691990" y="0"/>
                </a:moveTo>
                <a:lnTo>
                  <a:pt x="0" y="0"/>
                </a:lnTo>
                <a:lnTo>
                  <a:pt x="0" y="104381"/>
                </a:lnTo>
                <a:lnTo>
                  <a:pt x="10691990" y="104381"/>
                </a:lnTo>
                <a:lnTo>
                  <a:pt x="10691990" y="0"/>
                </a:lnTo>
                <a:close/>
              </a:path>
            </a:pathLst>
          </a:custGeom>
          <a:solidFill>
            <a:srgbClr val="D2AB6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76001" y="922297"/>
            <a:ext cx="1141397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/>
                <a:cs typeface="Arial" panose="020B060402020202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9455"/>
            <a:ext cx="9624060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0">
                <a:solidFill>
                  <a:srgbClr val="282781"/>
                </a:solidFill>
                <a:latin typeface="Arial" panose="020B0604020202020204"/>
                <a:cs typeface="Arial" panose="020B0604020202020204"/>
              </a:defRPr>
            </a:lvl1pPr>
          </a:lstStyle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GHANA</a:t>
            </a:r>
            <a:endParaRPr spc="65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0692130" cy="5039995"/>
            <a:chOff x="0" y="0"/>
            <a:chExt cx="10692130" cy="503999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10692130" cy="4720590"/>
            </a:xfrm>
            <a:custGeom>
              <a:avLst/>
              <a:gdLst/>
              <a:ahLst/>
              <a:cxnLst/>
              <a:rect l="l" t="t" r="r" b="b"/>
              <a:pathLst>
                <a:path w="10692130" h="4720590">
                  <a:moveTo>
                    <a:pt x="10692000" y="0"/>
                  </a:moveTo>
                  <a:lnTo>
                    <a:pt x="0" y="0"/>
                  </a:lnTo>
                  <a:lnTo>
                    <a:pt x="0" y="4720226"/>
                  </a:lnTo>
                  <a:lnTo>
                    <a:pt x="10692000" y="4720226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28278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0" y="4720226"/>
              <a:ext cx="10692130" cy="319405"/>
            </a:xfrm>
            <a:custGeom>
              <a:avLst/>
              <a:gdLst/>
              <a:ahLst/>
              <a:cxnLst/>
              <a:rect l="l" t="t" r="r" b="b"/>
              <a:pathLst>
                <a:path w="10692130" h="319404">
                  <a:moveTo>
                    <a:pt x="10692000" y="0"/>
                  </a:moveTo>
                  <a:lnTo>
                    <a:pt x="0" y="0"/>
                  </a:lnTo>
                  <a:lnTo>
                    <a:pt x="0" y="319218"/>
                  </a:lnTo>
                  <a:lnTo>
                    <a:pt x="10692000" y="319218"/>
                  </a:lnTo>
                  <a:lnTo>
                    <a:pt x="10692000" y="0"/>
                  </a:lnTo>
                  <a:close/>
                </a:path>
              </a:pathLst>
            </a:custGeom>
            <a:solidFill>
              <a:srgbClr val="D2AB6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65101" y="257761"/>
            <a:ext cx="10230724" cy="259814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27940" algn="ctr">
              <a:spcBef>
                <a:spcPts val="100"/>
              </a:spcBef>
            </a:pPr>
            <a:r>
              <a:rPr lang="en-US" sz="4200">
                <a:solidFill>
                  <a:srgbClr val="FFFFFF"/>
                </a:solidFill>
                <a:latin typeface="Times New Roman" panose="02020603050405020304"/>
                <a:cs typeface="Times New Roman" panose="02020603050405020304"/>
                <a:sym typeface="Lora"/>
              </a:rPr>
              <a:t>DEVELOPMENT OF INTEGRATED WEARABLE DEVICE FOR REMOTE MONITORING OF PREGNANT WOMEN IN GHANA</a:t>
            </a:r>
            <a:endParaRPr lang="en-US" sz="4200" spc="-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22036" y="5645484"/>
            <a:ext cx="1097474" cy="13169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146300" y="5915025"/>
            <a:ext cx="6562725" cy="67646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300" b="1" spc="-8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</a:t>
            </a:r>
            <a:r>
              <a:rPr sz="4300" b="1" spc="35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300" b="1" spc="285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300" b="1" spc="160">
                <a:solidFill>
                  <a:srgbClr val="282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GHANA</a:t>
            </a:r>
            <a:endParaRPr sz="43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5101" y="2709567"/>
            <a:ext cx="10363198" cy="19380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Group Members</a:t>
            </a:r>
            <a:endParaRPr lang="en-US" sz="2400" b="1" u="sng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Owoh </a:t>
            </a:r>
            <a:r>
              <a:rPr lang="en-US" sz="2400" err="1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Einsteina</a:t>
            </a:r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 </a:t>
            </a:r>
            <a:r>
              <a:rPr lang="en-US" sz="2400" err="1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Ofunne</a:t>
            </a:r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 - 10943874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Anane George Nyarko – 10947340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Adika Nathaniel - 10957036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  <a:p>
            <a:r>
              <a:rPr lang="en-US" sz="2400">
                <a:solidFill>
                  <a:schemeClr val="bg1"/>
                </a:solidFill>
                <a:latin typeface="Inter"/>
                <a:ea typeface="Inter" panose="020B0604020202020204" charset="0"/>
              </a:rPr>
              <a:t>                                </a:t>
            </a:r>
            <a:r>
              <a:rPr lang="en-US" sz="24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DATE: 17th July 2025</a:t>
            </a:r>
            <a:r>
              <a:rPr lang="en-US" sz="2400" baseline="30000">
                <a:solidFill>
                  <a:schemeClr val="bg1"/>
                </a:solidFill>
                <a:latin typeface="Times New Roman" panose="02020603050405020304"/>
                <a:ea typeface="Inter" panose="020B0604020202020204" charset="0"/>
                <a:cs typeface="Times New Roman" panose="02020603050405020304"/>
              </a:rPr>
              <a:t> </a:t>
            </a:r>
            <a:endParaRPr lang="en-US" sz="2400">
              <a:solidFill>
                <a:schemeClr val="bg1"/>
              </a:solidFill>
              <a:latin typeface="Times New Roman" panose="02020603050405020304"/>
              <a:ea typeface="Inter" panose="020B0604020202020204" charset="0"/>
              <a:cs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23100" y="2643850"/>
            <a:ext cx="5078896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Project Supervisor</a:t>
            </a:r>
            <a:endParaRPr lang="en-US" sz="2400" b="1" u="sng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Dr. Godfrey Mills</a:t>
            </a:r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en-US" sz="2400" b="1" u="sng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Co-Supervisor</a:t>
            </a:r>
            <a:endParaRPr lang="en-US" sz="2400" b="1" u="sng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ea typeface="Inter" panose="020B0604020202020204" charset="0"/>
                <a:cs typeface="Times New Roman" panose="02020603050405020304" pitchFamily="18" charset="0"/>
              </a:rPr>
              <a:t>Prof.</a:t>
            </a:r>
            <a:r>
              <a:rPr 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Elsie Effah Kaufmann</a:t>
            </a:r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  <a:p>
            <a:endParaRPr lang="en-US" sz="2400">
              <a:solidFill>
                <a:schemeClr val="bg1"/>
              </a:solidFill>
              <a:latin typeface="Times New Roman" panose="02020603050405020304" pitchFamily="18" charset="0"/>
              <a:ea typeface="Inter" panose="020B0604020202020204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7494" y="5558914"/>
            <a:ext cx="1303216" cy="13078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2128" y="1298571"/>
            <a:ext cx="8524572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GB" sz="3500" spc="-165">
                <a:latin typeface="Times New Roman" panose="02020603050405020304"/>
                <a:cs typeface="Times New Roman" panose="02020603050405020304"/>
              </a:rPr>
              <a:t>COLLABORATORS</a:t>
            </a:r>
            <a:endParaRPr lang="en-GB" sz="3500" spc="-16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-2495" y="1895835"/>
            <a:ext cx="10701809" cy="2804742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r>
              <a:rPr lang="en-US" sz="2200" b="1" spc="-5"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US" sz="2200" spc="-5">
                <a:latin typeface="Times New Roman" panose="02020603050405020304"/>
                <a:cs typeface="Times New Roman" panose="02020603050405020304"/>
              </a:rPr>
              <a:t>Nathaniel   Sakyi </a:t>
            </a:r>
            <a:r>
              <a:rPr lang="en-US" sz="2200" spc="-5" err="1">
                <a:latin typeface="Times New Roman" panose="02020603050405020304"/>
                <a:cs typeface="Times New Roman" panose="02020603050405020304"/>
              </a:rPr>
              <a:t>Adibuer</a:t>
            </a:r>
            <a:r>
              <a:rPr lang="en-US" sz="2200" spc="-5">
                <a:latin typeface="Times New Roman" panose="02020603050405020304"/>
                <a:cs typeface="Times New Roman" panose="02020603050405020304"/>
              </a:rPr>
              <a:t>, IT Consortium</a:t>
            </a:r>
            <a:endParaRPr lang="en-US" sz="2200" spc="-5" baseline="30000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r>
              <a:rPr lang="en-US" sz="2200" spc="-5">
                <a:latin typeface="Times New Roman" panose="02020603050405020304"/>
                <a:cs typeface="Times New Roman" panose="02020603050405020304"/>
              </a:rPr>
              <a:t>Dr. Frank </a:t>
            </a:r>
            <a:r>
              <a:rPr lang="en-US" sz="2200" spc="-5" err="1">
                <a:latin typeface="Times New Roman" panose="02020603050405020304"/>
                <a:cs typeface="Times New Roman" panose="02020603050405020304"/>
              </a:rPr>
              <a:t>Amegah</a:t>
            </a:r>
            <a:r>
              <a:rPr lang="en-US" sz="2200" spc="-5">
                <a:latin typeface="Times New Roman" panose="02020603050405020304"/>
                <a:cs typeface="Times New Roman" panose="02020603050405020304"/>
              </a:rPr>
              <a:t>, Korle-Bu Teaching Hospital</a:t>
            </a:r>
            <a:endParaRPr lang="en-US" sz="2200" spc="-5">
              <a:latin typeface="Times New Roman" panose="02020603050405020304"/>
              <a:cs typeface="Times New Roman" panose="02020603050405020304"/>
            </a:endParaRPr>
          </a:p>
          <a:p>
            <a:pPr marL="469265" indent="-457200">
              <a:lnSpc>
                <a:spcPct val="150000"/>
              </a:lnSpc>
              <a:spcBef>
                <a:spcPts val="1605"/>
              </a:spcBef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r>
              <a:rPr lang="en-US" sz="2200" spc="-5">
                <a:ea typeface="+mn-lt"/>
                <a:cs typeface="+mn-lt"/>
              </a:rPr>
              <a:t>Dr. Kobby Sakyi Appiah , Britannia Medical Centre</a:t>
            </a:r>
            <a:endParaRPr lang="en-US" sz="2200" spc="-5">
              <a:ea typeface="+mn-lt"/>
              <a:cs typeface="+mn-lt"/>
            </a:endParaRPr>
          </a:p>
          <a:p>
            <a:pPr marL="12065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200" b="1" spc="-5"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8369006" y="6809792"/>
            <a:ext cx="270236" cy="324349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xfrm>
            <a:off x="8715147" y="6899328"/>
            <a:ext cx="1635125" cy="16382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135"/>
              </a:lnSpc>
            </a:pPr>
            <a:r>
              <a:t>UNIVERSITY </a:t>
            </a:r>
            <a:r>
              <a:rPr spc="30"/>
              <a:t>OF</a:t>
            </a:r>
            <a:r>
              <a:t> </a:t>
            </a:r>
            <a:r>
              <a:rPr spc="65"/>
              <a:t>GH</a:t>
            </a:r>
            <a:r>
              <a:rPr lang="en-GB" spc="65"/>
              <a:t>AN</a:t>
            </a:r>
            <a:r>
              <a:rPr spc="65"/>
              <a:t>A</a:t>
            </a:r>
            <a:endParaRPr spc="65"/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717550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buFont typeface="Wingdings,Sans-Serif" panose="05000000000000000000" pitchFamily="2" charset="2"/>
              <a:buNone/>
              <a:tabLst>
                <a:tab pos="469265" algn="l"/>
                <a:tab pos="469900" algn="l"/>
              </a:tabLst>
            </a:pPr>
            <a:r>
              <a:rPr lang="en-US" sz="5000" b="1" spc="-9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MACHINE LEARNING  MODEL PROGRESS</a:t>
            </a:r>
            <a:endParaRPr lang="en-US" sz="50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374135"/>
            <a:ext cx="11030284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5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WORKFLOW</a:t>
            </a:r>
            <a:endParaRPr sz="3500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8" name="Picture 7" descr="A diagram of a software model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816" y="1738718"/>
            <a:ext cx="8695097" cy="60197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>
                <a:latin typeface="Times New Roman" panose="02020603050405020304"/>
                <a:cs typeface="Times New Roman" panose="02020603050405020304"/>
              </a:rPr>
              <a:t>    PREECLAMPSIA </a:t>
            </a:r>
            <a:r>
              <a:rPr lang="en-US" sz="3500" spc="-95">
                <a:latin typeface="Times New Roman" panose="02020603050405020304"/>
                <a:cs typeface="Times New Roman" panose="02020603050405020304"/>
                <a:sym typeface="+mn-ea"/>
              </a:rPr>
              <a:t> DATASET OVERVIEW</a:t>
            </a:r>
            <a:endParaRPr sz="3500" spc="-9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894245"/>
            <a:ext cx="10687154" cy="5666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Dataset Name: preeclampsia_dataset.csv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Source: Synthetic Data Generation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Number of Samples: 10,000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Input Features:</a:t>
            </a:r>
            <a:r>
              <a:rPr lang="en-US" sz="2500">
                <a:latin typeface="Times New Roman" panose="02020603050405020304"/>
                <a:cs typeface="Times New Roman" panose="02020603050405020304"/>
                <a:sym typeface="+mn-ea"/>
              </a:rPr>
              <a:t> Systolic blood pressure, Diastolic blood pressure , MAP, Protein in urine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Output States: </a:t>
            </a:r>
            <a:r>
              <a:rPr lang="en-US" sz="2500" err="1">
                <a:latin typeface="Times New Roman" panose="02020603050405020304"/>
                <a:cs typeface="Times New Roman" panose="02020603050405020304"/>
              </a:rPr>
              <a:t>No_Preeclampsia</a:t>
            </a:r>
            <a:r>
              <a:rPr lang="en-US" sz="2500">
                <a:latin typeface="Times New Roman" panose="02020603050405020304"/>
                <a:cs typeface="Times New Roman" panose="02020603050405020304"/>
              </a:rPr>
              <a:t>, Mild, Moderate and Severe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>
                <a:latin typeface="Times New Roman" panose="02020603050405020304"/>
                <a:cs typeface="Times New Roman" panose="02020603050405020304"/>
              </a:rPr>
              <a:t>Description: Dataset of 10,000 records generated to predict preeclampsia risk based on MAP and urine protein levels, with added noise to simulate real-world variability.</a:t>
            </a:r>
            <a:endParaRPr lang="en-US" sz="2500">
              <a:latin typeface="Times New Roman" panose="02020603050405020304"/>
              <a:cs typeface="Times New Roman" panose="02020603050405020304"/>
            </a:endParaRPr>
          </a:p>
          <a:p>
            <a:endParaRPr lang="en-US" b="1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" y="1262375"/>
            <a:ext cx="11030284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5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PREECLAMPSIA FEATURES</a:t>
            </a:r>
            <a:endParaRPr sz="3500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-1270" y="1925320"/>
          <a:ext cx="10696575" cy="571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5525"/>
                <a:gridCol w="3565525"/>
                <a:gridCol w="3565525"/>
              </a:tblGrid>
              <a:tr h="11385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PROTEIN IN URIA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BLOOD PRESSURE</a:t>
                      </a:r>
                      <a:endParaRPr lang="en-US" sz="2800"/>
                    </a:p>
                  </a:txBody>
                  <a:tcPr/>
                </a:tc>
              </a:tr>
              <a:tr h="1159284">
                <a:tc>
                  <a:txBody>
                    <a:bodyPr/>
                    <a:lstStyle/>
                    <a:p>
                      <a:r>
                        <a:rPr lang="en-US" sz="2800"/>
                        <a:t>LOW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NIL</a:t>
                      </a:r>
                      <a:endParaRPr lang="en-US" sz="2800"/>
                    </a:p>
                    <a:p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70-106</a:t>
                      </a:r>
                      <a:endParaRPr lang="en-US" sz="280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MILD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1+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107-113</a:t>
                      </a:r>
                      <a:endParaRPr lang="en-US" sz="280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MODERATE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114-129</a:t>
                      </a:r>
                      <a:endParaRPr lang="en-US" sz="280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HIGH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130 OR &gt;</a:t>
                      </a:r>
                      <a:endParaRPr lang="en-US" sz="2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270" y="1262375"/>
            <a:ext cx="11030284" cy="551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3500" spc="-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PREECLAMPSIA STATUS</a:t>
            </a:r>
            <a:endParaRPr sz="3500" spc="-9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-1270" y="1925320"/>
          <a:ext cx="10696575" cy="5713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5525"/>
                <a:gridCol w="3565525"/>
                <a:gridCol w="3565525"/>
              </a:tblGrid>
              <a:tr h="11385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PROTEIN IN URIA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BLOOD PRESSURE</a:t>
                      </a:r>
                      <a:endParaRPr lang="en-US" sz="2800"/>
                    </a:p>
                  </a:txBody>
                  <a:tcPr/>
                </a:tc>
              </a:tr>
              <a:tr h="1159284">
                <a:tc>
                  <a:txBody>
                    <a:bodyPr/>
                    <a:lstStyle/>
                    <a:p>
                      <a:r>
                        <a:rPr lang="en-US" sz="2800" dirty="0"/>
                        <a:t>NO PREECLAMPSIA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&lt;2+</a:t>
                      </a:r>
                      <a:endParaRPr lang="en-US" sz="2800" dirty="0"/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800" dirty="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MILD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2+ OR &gt;</a:t>
                      </a:r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114-124</a:t>
                      </a:r>
                      <a:endParaRPr lang="en-US" sz="2800" dirty="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MODERATE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125-129</a:t>
                      </a:r>
                      <a:endParaRPr lang="en-US" sz="2800" dirty="0"/>
                    </a:p>
                  </a:txBody>
                  <a:tcPr/>
                </a:tc>
              </a:tr>
              <a:tr h="1138582">
                <a:tc>
                  <a:txBody>
                    <a:bodyPr/>
                    <a:lstStyle/>
                    <a:p>
                      <a:r>
                        <a:rPr lang="en-US" sz="2800"/>
                        <a:t>HIGH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2+ OR &gt;</a:t>
                      </a:r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130 OR &gt;</a:t>
                      </a:r>
                      <a:endParaRPr lang="en-US" sz="28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4000" spc="-95">
                <a:latin typeface="Times New Roman" panose="02020603050405020304"/>
                <a:cs typeface="Times New Roman" panose="02020603050405020304"/>
              </a:rPr>
              <a:t>PREECLAMPSIA MODEL SELECTION</a:t>
            </a:r>
            <a:endParaRPr lang="en-US" sz="4000" spc="-95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664778"/>
          <a:ext cx="10648276" cy="5941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830"/>
                <a:gridCol w="1558504"/>
                <a:gridCol w="1105772"/>
                <a:gridCol w="1331034"/>
                <a:gridCol w="1331034"/>
                <a:gridCol w="1331034"/>
                <a:gridCol w="1331034"/>
                <a:gridCol w="1331034"/>
              </a:tblGrid>
              <a:tr h="1456262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 Metrics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K-Nearest Neighbour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Support Vector Machine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Decision Tree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Random Forest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Gradient Boosting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MLP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Precision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0.9746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0.9569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0.9634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0.9584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0.9545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F1 Score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0.9745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0.9567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0.9633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0.9582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0.9548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Recall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0.9745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0.9568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0.9634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0.9535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0.9549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0.9666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Training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0.9700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0.9700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0.9690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0.9600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0.9703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Test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0.9710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0.9650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0.9745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0.9645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0.9675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Validation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0.9724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0.9590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0.9635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0.9301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0.9585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0.9550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0.9665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TIME TAKEN (S)</a:t>
            </a:r>
            <a:endParaRPr sz="4800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886748"/>
          <a:ext cx="10640608" cy="5637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</a:tblGrid>
              <a:tr h="2505501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K-Nearest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Neighbour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Classifier</a:t>
                      </a:r>
                      <a:endParaRPr lang="en-US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Time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5.1027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0.3880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0.0598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1.4372</a:t>
                      </a:r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7.0223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12.8828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Time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0.0005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0.0004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0.4300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0.0249</a:t>
                      </a:r>
                      <a:endParaRPr lang="en-US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0.0300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0.0050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 dirty="0">
                <a:latin typeface="Times New Roman" panose="02020603050405020304"/>
                <a:cs typeface="Times New Roman" panose="02020603050405020304"/>
              </a:rPr>
              <a:t>    ANEMIA</a:t>
            </a:r>
            <a:r>
              <a:rPr lang="en-US" sz="3500" spc="-95" dirty="0">
                <a:latin typeface="Times New Roman" panose="02020603050405020304"/>
                <a:cs typeface="Times New Roman" panose="02020603050405020304"/>
                <a:sym typeface="+mn-ea"/>
              </a:rPr>
              <a:t> DATASET OVERVIEW</a:t>
            </a:r>
            <a:endParaRPr sz="35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894245"/>
            <a:ext cx="10687154" cy="5666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Dataset Name: anemia_dataset.csv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Source: Synthetic Data Generation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Number of Samples: 10,000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Input Features:</a:t>
            </a:r>
            <a:r>
              <a:rPr lang="en-US" sz="2500" dirty="0">
                <a:latin typeface="Times New Roman" panose="02020603050405020304"/>
                <a:cs typeface="Times New Roman" panose="02020603050405020304"/>
                <a:sym typeface="+mn-ea"/>
              </a:rPr>
              <a:t> Features will be listed in the next slide</a:t>
            </a:r>
            <a:endParaRPr lang="en-US" sz="2500" dirty="0"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Output States: High risk or Low Risk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500" dirty="0">
                <a:latin typeface="Times New Roman" panose="02020603050405020304"/>
                <a:cs typeface="Times New Roman" panose="02020603050405020304"/>
              </a:rPr>
              <a:t>Description: Dataset of 10,000 records generated to predict preeclampsia risk based on MAP and urine protein levels, with added noise to simulate real-world variability.</a:t>
            </a:r>
            <a:endParaRPr lang="en-US" sz="2500" dirty="0">
              <a:latin typeface="Times New Roman" panose="02020603050405020304"/>
              <a:cs typeface="Times New Roman" panose="02020603050405020304"/>
            </a:endParaRPr>
          </a:p>
          <a:p>
            <a:endParaRPr lang="en-US" b="1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 dirty="0">
                <a:latin typeface="Times New Roman" panose="02020603050405020304"/>
                <a:cs typeface="Times New Roman" panose="02020603050405020304"/>
              </a:rPr>
              <a:t>    ANEMIA</a:t>
            </a:r>
            <a:r>
              <a:rPr lang="en-US" sz="3500" spc="-95" dirty="0">
                <a:latin typeface="Times New Roman" panose="02020603050405020304"/>
                <a:cs typeface="Times New Roman" panose="02020603050405020304"/>
                <a:sym typeface="+mn-ea"/>
              </a:rPr>
              <a:t> FEATURES</a:t>
            </a:r>
            <a:endParaRPr sz="35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894245"/>
            <a:ext cx="10687154" cy="5666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Excessive vomiting</a:t>
            </a:r>
            <a:r>
              <a:rPr lang="en-US" sz="2400" dirty="0"/>
              <a:t> </a:t>
            </a:r>
            <a:r>
              <a:rPr lang="en-US" sz="2400" i="1" dirty="0"/>
              <a:t>(e.g., frequent vomiting during pregnancy or illness leading to nutrient loss)</a:t>
            </a:r>
            <a:endParaRPr lang="en-US" sz="2400" i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Diarrhea</a:t>
            </a:r>
            <a:r>
              <a:rPr lang="en-US" sz="2400" dirty="0"/>
              <a:t> </a:t>
            </a:r>
            <a:r>
              <a:rPr lang="en-US" sz="2400" i="1" dirty="0"/>
              <a:t>(e.g., persistent or repeated diarrhea that can cause dehydration and poor nutrient absorption</a:t>
            </a:r>
            <a:endParaRPr lang="en-US" sz="2400" i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Heavy menstrual flow</a:t>
            </a:r>
            <a:r>
              <a:rPr lang="en-US" sz="2400" dirty="0"/>
              <a:t> </a:t>
            </a:r>
            <a:r>
              <a:rPr lang="en-US" sz="2400" i="1" dirty="0"/>
              <a:t>(e.g., menstruation lasting more than 7 days or requiring frequent pad/tampon changes)</a:t>
            </a:r>
            <a:endParaRPr lang="en-US" sz="2400" i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Chronic disease</a:t>
            </a:r>
            <a:r>
              <a:rPr lang="en-US" sz="2400" dirty="0"/>
              <a:t> </a:t>
            </a:r>
            <a:r>
              <a:rPr lang="en-US" sz="2400" i="1" dirty="0"/>
              <a:t>(e.g., sickle cell disease, kidney disease, HIV, tuberculosis, or malaria)</a:t>
            </a:r>
            <a:endParaRPr lang="en-US" sz="2400" i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Family history</a:t>
            </a:r>
            <a:r>
              <a:rPr lang="en-US" sz="2400" dirty="0"/>
              <a:t> </a:t>
            </a:r>
            <a:r>
              <a:rPr lang="en-US" sz="2400" i="1" dirty="0"/>
              <a:t>(e.g., close relatives with anemia or iron deficiency)</a:t>
            </a:r>
            <a:endParaRPr lang="en-US" sz="2400" i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BMI</a:t>
            </a:r>
            <a:r>
              <a:rPr lang="en-US" sz="2400" dirty="0"/>
              <a:t> </a:t>
            </a:r>
            <a:r>
              <a:rPr lang="en-US" sz="2400" i="1" dirty="0"/>
              <a:t>(Body Mass Index &lt;18.5 is considered underweight and a risk factor)</a:t>
            </a:r>
            <a:endParaRPr lang="en-US" sz="2400" i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Age</a:t>
            </a:r>
            <a:r>
              <a:rPr lang="en-US" sz="2400" dirty="0"/>
              <a:t> </a:t>
            </a:r>
            <a:r>
              <a:rPr lang="en-US" sz="2400" i="1" dirty="0"/>
              <a:t>(e.g., &lt;20 years or &gt;35 years — age groups with higher anemia risk in pregnancy)</a:t>
            </a:r>
            <a:endParaRPr lang="en-US" sz="2400" i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Education level</a:t>
            </a:r>
            <a:r>
              <a:rPr lang="en-US" sz="2400" dirty="0"/>
              <a:t> </a:t>
            </a:r>
            <a:r>
              <a:rPr lang="en-US" sz="2400" i="1" dirty="0"/>
              <a:t>(Low education — no formal schooling or only primary school)</a:t>
            </a:r>
            <a:endParaRPr lang="en-US" sz="2400" i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Short interpregnancy interval</a:t>
            </a:r>
            <a:r>
              <a:rPr lang="en-US" sz="2400" dirty="0"/>
              <a:t> </a:t>
            </a:r>
            <a:r>
              <a:rPr lang="en-US" sz="2400" i="1" dirty="0"/>
              <a:t>(e.g., &lt;18 months between pregnancies)</a:t>
            </a:r>
            <a:endParaRPr lang="en-US" sz="24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-160655" y="1229995"/>
            <a:ext cx="11191240" cy="5511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3500" spc="-95" dirty="0">
                <a:latin typeface="Times New Roman" panose="02020603050405020304"/>
                <a:cs typeface="Times New Roman" panose="02020603050405020304"/>
              </a:rPr>
              <a:t>    ANEMIA</a:t>
            </a:r>
            <a:r>
              <a:rPr lang="en-US" sz="3500" spc="-95" dirty="0">
                <a:latin typeface="Times New Roman" panose="02020603050405020304"/>
                <a:cs typeface="Times New Roman" panose="02020603050405020304"/>
                <a:sym typeface="+mn-ea"/>
              </a:rPr>
              <a:t> FEATURES</a:t>
            </a:r>
            <a:endParaRPr sz="35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51815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894245"/>
            <a:ext cx="10687154" cy="56664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Multiple pregnancy</a:t>
            </a:r>
            <a:r>
              <a:rPr lang="en-US" sz="2400" dirty="0"/>
              <a:t> </a:t>
            </a:r>
            <a:r>
              <a:rPr lang="en-US" sz="2400" i="1" dirty="0"/>
              <a:t>(e.g., twins or triplets — higher iron demand)</a:t>
            </a:r>
            <a:endParaRPr lang="en-US" sz="2400" i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Poverty</a:t>
            </a:r>
            <a:r>
              <a:rPr lang="en-US" sz="2400" dirty="0"/>
              <a:t> </a:t>
            </a:r>
            <a:r>
              <a:rPr lang="en-US" sz="2400" i="1" dirty="0"/>
              <a:t>(e.g., limited access to iron-rich foods or supplements due to low income)</a:t>
            </a:r>
            <a:endParaRPr lang="en-US" sz="2400" i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Lack of access to healthcare</a:t>
            </a:r>
            <a:r>
              <a:rPr lang="en-US" sz="2400" dirty="0"/>
              <a:t> </a:t>
            </a:r>
            <a:r>
              <a:rPr lang="en-US" sz="2400" i="1" dirty="0"/>
              <a:t>(e.g., distance from hospital, inability to attend antenatal care)</a:t>
            </a:r>
            <a:endParaRPr lang="en-US" sz="2400" i="1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/>
              <a:t>Infections</a:t>
            </a:r>
            <a:r>
              <a:rPr lang="en-US" sz="2400" dirty="0"/>
              <a:t> </a:t>
            </a:r>
            <a:r>
              <a:rPr lang="en-US" sz="2400" i="1" dirty="0"/>
              <a:t>(e.g., recent parasitic infections like hookworm, or malaria)</a:t>
            </a:r>
            <a:endParaRPr lang="en-US" sz="24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62837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4000" spc="-95" dirty="0">
                <a:latin typeface="Times New Roman" panose="02020603050405020304"/>
                <a:cs typeface="Times New Roman" panose="02020603050405020304"/>
              </a:rPr>
              <a:t>ANEMIA MODEL SELECTION</a:t>
            </a:r>
            <a:endParaRPr lang="en-US" sz="4000" spc="-95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664778"/>
          <a:ext cx="10648276" cy="59415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8830"/>
                <a:gridCol w="1558504"/>
                <a:gridCol w="1105772"/>
                <a:gridCol w="1331034"/>
                <a:gridCol w="1331034"/>
                <a:gridCol w="1331034"/>
                <a:gridCol w="1331034"/>
                <a:gridCol w="1331034"/>
              </a:tblGrid>
              <a:tr h="1456262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 Metrics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K-Nearest Neighbour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Support Vector Machine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Decision Tree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Random Forest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Gradient Boosting Classifier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MLP Classifier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Precision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0.9572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0.6667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0.6934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0.3333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0.6923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F1 Score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0.9474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0.2000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0.3333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0.4078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0.7000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601920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Recall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0.9000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0.3075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0.3334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0.3158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0.5714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0.8235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0.7826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Training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0.9458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0.8333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0.9690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1.0000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0.8958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Test 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0.9833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0.8333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0.9225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0.9167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0.9500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0.9167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893174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Validation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  <a:p>
                      <a:r>
                        <a:rPr lang="en-US">
                          <a:latin typeface="Times New Roman" panose="02020603050405020304"/>
                          <a:cs typeface="Times New Roman" panose="02020603050405020304"/>
                        </a:rPr>
                        <a:t>Accuracy</a:t>
                      </a:r>
                      <a:endParaRPr lang="en-US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/>
                          <a:cs typeface="Times New Roman" panose="02020603050405020304"/>
                        </a:rPr>
                        <a:t>0.9367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0.8500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0.8335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0.9133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0.8667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/>
                          <a:cs typeface="Times New Roman" panose="02020603050405020304"/>
                        </a:rPr>
                        <a:t>0.8833</a:t>
                      </a:r>
                      <a:endParaRPr lang="en-US"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0.9133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1052190"/>
            <a:ext cx="11030284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en-US" sz="4800" spc="-95">
                <a:latin typeface="Times New Roman" panose="02020603050405020304" pitchFamily="18" charset="0"/>
                <a:cs typeface="Times New Roman" panose="02020603050405020304" pitchFamily="18" charset="0"/>
              </a:rPr>
              <a:t>TIME TAKEN (S)</a:t>
            </a:r>
            <a:endParaRPr sz="4800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5820119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0" y="1886748"/>
          <a:ext cx="10640608" cy="56373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  <a:gridCol w="1330076"/>
              </a:tblGrid>
              <a:tr h="2505501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Metrics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US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K-Nearest </a:t>
                      </a:r>
                      <a:r>
                        <a:rPr lang="en-US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Neighbour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Vector Machine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Tree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Classifier</a:t>
                      </a:r>
                      <a:endParaRPr lang="en-US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 Boosting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MLP Classifier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Training Time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0.9367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0.0040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0.3389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0.0044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0.8667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0.3357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5.2377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1565936">
                <a:tc>
                  <a:txBody>
                    <a:bodyPr/>
                    <a:lstStyle/>
                    <a:p>
                      <a:r>
                        <a:rPr lang="en-US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Prediction Time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0.0789</a:t>
                      </a:r>
                      <a:endParaRPr lang="en-US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0.0109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0.2245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0.0016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0.2494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0.0028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0.2080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0" y="1974850"/>
            <a:ext cx="10693400" cy="5223510"/>
          </a:xfrm>
          <a:prstGeom prst="rect">
            <a:avLst/>
          </a:prstGeom>
        </p:spPr>
        <p:txBody>
          <a:bodyPr vert="horz" wrap="square" lIns="0" tIns="216535" rIns="0" bIns="0" rtlCol="0" anchor="t">
            <a:no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5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buFont typeface="Wingdings,Sans-Serif" panose="05000000000000000000" pitchFamily="2" charset="2"/>
              <a:buNone/>
              <a:tabLst>
                <a:tab pos="469265" algn="l"/>
                <a:tab pos="469900" algn="l"/>
              </a:tabLst>
            </a:pPr>
            <a:r>
              <a:rPr lang="en-US" sz="5000" b="1" spc="-95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WEB APP PROGRESS</a:t>
            </a:r>
            <a:endParaRPr lang="en-US" sz="5000" b="1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0" y="1974850"/>
            <a:ext cx="10693400" cy="5223510"/>
          </a:xfrm>
          <a:prstGeom prst="rect">
            <a:avLst/>
          </a:prstGeom>
        </p:spPr>
        <p:txBody>
          <a:bodyPr vert="horz" wrap="square" lIns="0" tIns="216535" rIns="0" bIns="0" rtlCol="0" anchor="t">
            <a:noAutofit/>
          </a:bodyPr>
          <a:lstStyle/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pic>
        <p:nvPicPr>
          <p:cNvPr id="2" name="Picture 1" descr="LoginPa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0693400" cy="756221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0" y="1974850"/>
            <a:ext cx="10693400" cy="5223510"/>
          </a:xfrm>
          <a:prstGeom prst="rect">
            <a:avLst/>
          </a:prstGeom>
        </p:spPr>
        <p:txBody>
          <a:bodyPr vert="horz" wrap="square" lIns="0" tIns="216535" rIns="0" bIns="0" rtlCol="0" anchor="t">
            <a:noAutofit/>
          </a:bodyPr>
          <a:lstStyle/>
          <a:p>
            <a:pPr>
              <a:tabLst>
                <a:tab pos="469265" algn="l"/>
                <a:tab pos="469900" algn="l"/>
              </a:tabLst>
            </a:pPr>
            <a:r>
              <a:rPr lang="en-US" sz="40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1.New User Role Added To Mobile App</a:t>
            </a:r>
            <a:endParaRPr lang="en-US" sz="40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charset="0"/>
              <a:buChar char="o"/>
              <a:tabLst>
                <a:tab pos="469265" algn="l"/>
                <a:tab pos="469900" algn="l"/>
              </a:tabLst>
            </a:pPr>
            <a:endParaRPr lang="en-US" sz="40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Font typeface="Wingdings" panose="05000000000000000000" charset="0"/>
              <a:buNone/>
              <a:tabLst>
                <a:tab pos="469265" algn="l"/>
                <a:tab pos="469900" algn="l"/>
              </a:tabLst>
            </a:pPr>
            <a:r>
              <a:rPr lang="en-US" sz="40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2.Payment Portal Integrated Using Paystack Payment Gatewa</a:t>
            </a:r>
            <a:r>
              <a:rPr lang="en-US" sz="28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28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8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endParaRPr lang="en-US" sz="5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59155" y="1098550"/>
            <a:ext cx="8974455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500" b="1">
                <a:latin typeface="Times New Roman" panose="02020603050405020304" pitchFamily="18" charset="0"/>
                <a:cs typeface="Times New Roman" panose="02020603050405020304" pitchFamily="18" charset="0"/>
              </a:rPr>
              <a:t>NEW FEATURES ON THE MOBILE APP</a:t>
            </a:r>
            <a:endParaRPr lang="en-US" sz="35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/>
          <p:cNvSpPr txBox="1"/>
          <p:nvPr/>
        </p:nvSpPr>
        <p:spPr>
          <a:xfrm>
            <a:off x="0" y="1925053"/>
            <a:ext cx="10693400" cy="634334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/>
                <a:cs typeface="Times New Roman" panose="02020603050405020304"/>
              </a:rPr>
              <a:t>                                             </a:t>
            </a:r>
            <a:endParaRPr lang="en-US" sz="2200" b="1" baseline="300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5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ctr">
              <a:buFont typeface="Wingdings,Sans-Serif" panose="05000000000000000000" pitchFamily="2" charset="2"/>
              <a:buNone/>
              <a:tabLst>
                <a:tab pos="469265" algn="l"/>
                <a:tab pos="469900" algn="l"/>
              </a:tabLst>
            </a:pPr>
            <a:r>
              <a:rPr lang="en-US" sz="5000" b="1" spc="-95">
                <a:latin typeface="Times New Roman" panose="02020603050405020304"/>
                <a:cs typeface="Times New Roman" panose="02020603050405020304"/>
                <a:sym typeface="+mn-ea"/>
              </a:rPr>
              <a:t>HARDWARE PROGRESS</a:t>
            </a:r>
            <a:endParaRPr lang="en-US" sz="5000" b="1" spc="-95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,Sans-Serif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 pitchFamily="18" charset="0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CU-SetU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" y="635"/>
            <a:ext cx="10692765" cy="756221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Vitals-Data-From-Hardwa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7665"/>
            <a:ext cx="10693400" cy="72961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567685"/>
            <a:ext cx="11030284" cy="75120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 algn="ctr">
              <a:spcBef>
                <a:spcPts val="100"/>
              </a:spcBef>
            </a:pPr>
            <a:r>
              <a:rPr lang="en-US" sz="4800" spc="-95">
                <a:latin typeface="Times New Roman" panose="02020603050405020304"/>
                <a:cs typeface="Times New Roman" panose="02020603050405020304"/>
              </a:rPr>
              <a:t>NEXT STEPS</a:t>
            </a:r>
            <a:endParaRPr lang="en-US" sz="4800" spc="-95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3"/>
          <p:cNvSpPr txBox="1"/>
          <p:nvPr/>
        </p:nvSpPr>
        <p:spPr>
          <a:xfrm>
            <a:off x="0" y="1925053"/>
            <a:ext cx="10693400" cy="7487920"/>
          </a:xfrm>
          <a:prstGeom prst="rect">
            <a:avLst/>
          </a:prstGeom>
        </p:spPr>
        <p:txBody>
          <a:bodyPr vert="horz" wrap="square" lIns="0" tIns="216535" rIns="0" bIns="0" rtlCol="0" anchor="t">
            <a:spAutoFit/>
          </a:bodyPr>
          <a:lstStyle/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r>
              <a:rPr lang="en-US" sz="2500">
                <a:latin typeface="Times New Roman" panose="02020603050405020304" pitchFamily="18" charset="0"/>
                <a:cs typeface="Times New Roman" panose="02020603050405020304" pitchFamily="18" charset="0"/>
              </a:rPr>
              <a:t>Acquistion Of Sensors from Actual Sensor Data Transmission</a:t>
            </a: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r>
              <a:rPr lang="en-US" sz="2500">
                <a:latin typeface="Times New Roman" panose="02020603050405020304"/>
                <a:cs typeface="Times New Roman" panose="02020603050405020304" pitchFamily="18" charset="0"/>
              </a:rPr>
              <a:t>Connection Of Backend To Web App Designed In React</a:t>
            </a:r>
            <a:endParaRPr lang="en-US" sz="2500">
              <a:latin typeface="Times New Roman" panose="02020603050405020304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/>
              <a:buChar char="v"/>
              <a:tabLst>
                <a:tab pos="469265" algn="l"/>
                <a:tab pos="469900" algn="l"/>
              </a:tabLst>
            </a:pPr>
            <a:endParaRPr lang="en-US" sz="25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 baseline="30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r>
              <a:rPr lang="en-US" sz="2200" b="1" baseline="30000">
                <a:latin typeface="Times New Roman" panose="02020603050405020304"/>
                <a:cs typeface="Times New Roman" panose="02020603050405020304"/>
              </a:rPr>
              <a:t>                                             </a:t>
            </a:r>
            <a:endParaRPr lang="en-US" sz="2200" b="1" baseline="30000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v"/>
              <a:tabLst>
                <a:tab pos="469265" algn="l"/>
                <a:tab pos="469900" algn="l"/>
              </a:tabLst>
            </a:pPr>
            <a:endParaRPr lang="en-US" sz="2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tabLst>
                <a:tab pos="469265" algn="l"/>
                <a:tab pos="469900" algn="l"/>
              </a:tabLst>
            </a:pP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50000"/>
              </a:lnSpc>
              <a:spcBef>
                <a:spcPts val="1605"/>
              </a:spcBef>
              <a:tabLst>
                <a:tab pos="469265" algn="l"/>
                <a:tab pos="469900" algn="l"/>
              </a:tabLst>
            </a:pPr>
            <a:endParaRPr lang="en-US" sz="2600" b="1">
              <a:latin typeface="Times New Roman" panose="02020603050405020304"/>
              <a:cs typeface="Calibri" panose="020F05020202040302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-635" y="3009900"/>
            <a:ext cx="10757535" cy="2861945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GB" sz="2600"/>
              <a:t>                            </a:t>
            </a:r>
            <a:r>
              <a:rPr lang="en-US" altLang="en-GB" sz="8000" b="1"/>
              <a:t>        	</a:t>
            </a:r>
            <a:r>
              <a:rPr lang="en-GB" sz="5500" b="1">
                <a:latin typeface="Times New Roman" panose="02020603050405020304"/>
                <a:cs typeface="Times New Roman" panose="02020603050405020304"/>
              </a:rPr>
              <a:t>QUESTIONS/FEEDBACK</a:t>
            </a:r>
            <a:endParaRPr lang="en-GB" sz="5500" b="1">
              <a:latin typeface="Times New Roman" panose="02020603050405020304"/>
              <a:cs typeface="Times New Roman" panose="02020603050405020304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6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42*355"/>
  <p:tag name="TABLE_ENDDRAG_RECT" val="0*151*842*355"/>
</p:tagLst>
</file>

<file path=ppt/tags/tag2.xml><?xml version="1.0" encoding="utf-8"?>
<p:tagLst xmlns:p="http://schemas.openxmlformats.org/presentationml/2006/main">
  <p:tag name="TABLE_ENDDRAG_ORIGIN_RECT" val="842*355"/>
  <p:tag name="TABLE_ENDDRAG_RECT" val="0*151*842*35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5427</Words>
  <Application>WPS Presentation</Application>
  <PresentationFormat>Custom</PresentationFormat>
  <Paragraphs>726</Paragraphs>
  <Slides>22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44" baseType="lpstr">
      <vt:lpstr>Arial</vt:lpstr>
      <vt:lpstr>SimSun</vt:lpstr>
      <vt:lpstr>Wingdings</vt:lpstr>
      <vt:lpstr>Arial</vt:lpstr>
      <vt:lpstr>Times New Roman</vt:lpstr>
      <vt:lpstr>Lora</vt:lpstr>
      <vt:lpstr>Segoe Print</vt:lpstr>
      <vt:lpstr>Times New Roman</vt:lpstr>
      <vt:lpstr>Inter</vt:lpstr>
      <vt:lpstr>Inter</vt:lpstr>
      <vt:lpstr>Wingdings,Sans-Serif</vt:lpstr>
      <vt:lpstr>Wingdings 3</vt:lpstr>
      <vt:lpstr>Calibri</vt:lpstr>
      <vt:lpstr>Microsoft YaHei</vt:lpstr>
      <vt:lpstr>Arial Unicode MS</vt:lpstr>
      <vt:lpstr>Aptos</vt:lpstr>
      <vt:lpstr>Segoe UI</vt:lpstr>
      <vt:lpstr>Wingdings</vt:lpstr>
      <vt:lpstr>TimesNewRomanPS-BoldMT</vt:lpstr>
      <vt:lpstr>Wingdings</vt:lpstr>
      <vt:lpstr>Calibri</vt:lpstr>
      <vt:lpstr>Office Theme</vt:lpstr>
      <vt:lpstr>DEVELOPMENT OF INTEGRATED WEARABLE DEVICE FOR REMOTE MONITORING OF PREGNANT WOMEN IN GHANA</vt:lpstr>
      <vt:lpstr>COLLABORATORS</vt:lpstr>
      <vt:lpstr>PowerPoint 演示文稿</vt:lpstr>
      <vt:lpstr>MACHINE LEARNING WORKFLOW</vt:lpstr>
      <vt:lpstr>    PREECLAMPSIA  DATASET OVERVIEW</vt:lpstr>
      <vt:lpstr>PREECLAMPSIA FEATURES</vt:lpstr>
      <vt:lpstr>PREECLAMPSIA STATUS</vt:lpstr>
      <vt:lpstr>PREECLAMPSIA MODEL SELECTION</vt:lpstr>
      <vt:lpstr>TIME TAKEN (S)</vt:lpstr>
      <vt:lpstr>    ANEMIA DATASET OVERVIEW</vt:lpstr>
      <vt:lpstr>    ANEMIA FEATURES</vt:lpstr>
      <vt:lpstr>    ANEMIA FEATURES</vt:lpstr>
      <vt:lpstr>ANEMIA MODEL SELECTION</vt:lpstr>
      <vt:lpstr>TIME TAKEN (S)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NEXT STEPS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UG Powerpoint template</dc:title>
  <dc:creator>Graham</dc:creator>
  <cp:lastModifiedBy>Richard</cp:lastModifiedBy>
  <cp:revision>14</cp:revision>
  <dcterms:created xsi:type="dcterms:W3CDTF">2021-02-07T15:10:00Z</dcterms:created>
  <dcterms:modified xsi:type="dcterms:W3CDTF">2025-07-17T21:12:55Z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2014-10-29T22:00:00Z</vt:filetime>
  </property>
  <property fmtid="{D5CDD505-2E9C-101B-9397-08002B2CF9AE}" pid="3" name="Creator">
    <vt:lpwstr>CorelDRAW</vt:lpwstr>
  </property>
  <property fmtid="{D5CDD505-2E9C-101B-9397-08002B2CF9AE}" pid="4" name="LastSaved">
    <vt:filetime>2021-02-06T22:00:00Z</vt:filetime>
  </property>
  <property fmtid="{D5CDD505-2E9C-101B-9397-08002B2CF9AE}" pid="5" name="ICV">
    <vt:lpwstr>ADC26E4FC9FF48D79BA8FA7D6511A96B_13</vt:lpwstr>
  </property>
  <property fmtid="{D5CDD505-2E9C-101B-9397-08002B2CF9AE}" pid="6" name="KSOProductBuildVer">
    <vt:lpwstr>1033-12.2.0.21931</vt:lpwstr>
  </property>
</Properties>
</file>
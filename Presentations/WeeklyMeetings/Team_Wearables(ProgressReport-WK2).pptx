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3"/>
    <p:sldId id="359" r:id="rId4"/>
    <p:sldId id="417" r:id="rId5"/>
    <p:sldId id="420" r:id="rId6"/>
    <p:sldId id="425" r:id="rId7"/>
    <p:sldId id="440" r:id="rId8"/>
    <p:sldId id="459" r:id="rId9"/>
    <p:sldId id="444" r:id="rId10"/>
    <p:sldId id="460" r:id="rId11"/>
    <p:sldId id="445" r:id="rId12"/>
    <p:sldId id="461" r:id="rId13"/>
    <p:sldId id="441" r:id="rId14"/>
    <p:sldId id="442" r:id="rId15"/>
    <p:sldId id="463" r:id="rId16"/>
    <p:sldId id="448" r:id="rId17"/>
    <p:sldId id="462" r:id="rId18"/>
    <p:sldId id="449" r:id="rId19"/>
    <p:sldId id="464" r:id="rId20"/>
    <p:sldId id="454" r:id="rId21"/>
    <p:sldId id="443" r:id="rId22"/>
    <p:sldId id="450" r:id="rId23"/>
    <p:sldId id="465" r:id="rId24"/>
    <p:sldId id="466" r:id="rId25"/>
    <p:sldId id="453" r:id="rId26"/>
    <p:sldId id="433" r:id="rId27"/>
    <p:sldId id="468" r:id="rId28"/>
    <p:sldId id="469" r:id="rId29"/>
    <p:sldId id="470" r:id="rId30"/>
    <p:sldId id="471" r:id="rId31"/>
    <p:sldId id="472" r:id="rId32"/>
    <p:sldId id="473" r:id="rId33"/>
    <p:sldId id="474" r:id="rId34"/>
    <p:sldId id="475" r:id="rId35"/>
    <p:sldId id="476" r:id="rId36"/>
    <p:sldId id="477" r:id="rId37"/>
    <p:sldId id="478" r:id="rId38"/>
    <p:sldId id="479" r:id="rId39"/>
    <p:sldId id="480" r:id="rId40"/>
    <p:sldId id="481" r:id="rId41"/>
    <p:sldId id="482" r:id="rId42"/>
    <p:sldId id="483" r:id="rId43"/>
    <p:sldId id="301" r:id="rId44"/>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8" d="100"/>
          <a:sy n="58" d="100"/>
        </p:scale>
        <p:origin x="1464" y="5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702880FF-4FCB-42DC-B8CA-5F43E197EBE2}" type="datetimeFigureOut">
              <a:rPr lang="en-US" smtClean="0"/>
            </a:fld>
            <a:endParaRPr lang="en-US"/>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C5C1F1E3-D0FF-4924-8EFC-E0C5A02E169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692130" cy="326390"/>
          </a:xfrm>
          <a:custGeom>
            <a:avLst/>
            <a:gdLst/>
            <a:ahLst/>
            <a:cxnLst/>
            <a:rect l="l" t="t" r="r" b="b"/>
            <a:pathLst>
              <a:path w="10692130" h="326390">
                <a:moveTo>
                  <a:pt x="0" y="326134"/>
                </a:moveTo>
                <a:lnTo>
                  <a:pt x="10692000" y="326134"/>
                </a:lnTo>
                <a:lnTo>
                  <a:pt x="10692000" y="0"/>
                </a:lnTo>
                <a:lnTo>
                  <a:pt x="0" y="0"/>
                </a:lnTo>
                <a:lnTo>
                  <a:pt x="0" y="326134"/>
                </a:lnTo>
                <a:close/>
              </a:path>
            </a:pathLst>
          </a:custGeom>
          <a:solidFill>
            <a:srgbClr val="EEEDF6"/>
          </a:solidFill>
        </p:spPr>
        <p:txBody>
          <a:bodyPr wrap="square" lIns="0" tIns="0" rIns="0" bIns="0" rtlCol="0"/>
          <a:lstStyle/>
          <a:p/>
        </p:txBody>
      </p:sp>
      <p:sp>
        <p:nvSpPr>
          <p:cNvPr id="17" name="bg object 17"/>
          <p:cNvSpPr/>
          <p:nvPr/>
        </p:nvSpPr>
        <p:spPr>
          <a:xfrm>
            <a:off x="0" y="1874768"/>
            <a:ext cx="10692130" cy="5685790"/>
          </a:xfrm>
          <a:custGeom>
            <a:avLst/>
            <a:gdLst/>
            <a:ahLst/>
            <a:cxnLst/>
            <a:rect l="l" t="t" r="r" b="b"/>
            <a:pathLst>
              <a:path w="10692130" h="5685790">
                <a:moveTo>
                  <a:pt x="10691990" y="108064"/>
                </a:moveTo>
                <a:lnTo>
                  <a:pt x="0" y="108064"/>
                </a:lnTo>
                <a:lnTo>
                  <a:pt x="0" y="5685231"/>
                </a:lnTo>
                <a:lnTo>
                  <a:pt x="10691990" y="5685231"/>
                </a:lnTo>
                <a:lnTo>
                  <a:pt x="10691990" y="108064"/>
                </a:lnTo>
                <a:close/>
              </a:path>
              <a:path w="10692130" h="5685790">
                <a:moveTo>
                  <a:pt x="10691990" y="0"/>
                </a:moveTo>
                <a:lnTo>
                  <a:pt x="0" y="0"/>
                </a:lnTo>
                <a:lnTo>
                  <a:pt x="0" y="3683"/>
                </a:lnTo>
                <a:lnTo>
                  <a:pt x="10691990" y="3683"/>
                </a:lnTo>
                <a:lnTo>
                  <a:pt x="10691990" y="0"/>
                </a:lnTo>
                <a:close/>
              </a:path>
            </a:pathLst>
          </a:custGeom>
          <a:solidFill>
            <a:srgbClr val="EEEDF6"/>
          </a:solidFill>
        </p:spPr>
        <p:txBody>
          <a:bodyPr wrap="square" lIns="0" tIns="0" rIns="0" bIns="0" rtlCol="0"/>
          <a:lstStyle/>
          <a:p/>
        </p:txBody>
      </p:sp>
      <p:sp>
        <p:nvSpPr>
          <p:cNvPr id="18" name="bg object 18"/>
          <p:cNvSpPr/>
          <p:nvPr/>
        </p:nvSpPr>
        <p:spPr>
          <a:xfrm>
            <a:off x="0" y="430513"/>
            <a:ext cx="10692130" cy="1444625"/>
          </a:xfrm>
          <a:custGeom>
            <a:avLst/>
            <a:gdLst/>
            <a:ahLst/>
            <a:cxnLst/>
            <a:rect l="l" t="t" r="r" b="b"/>
            <a:pathLst>
              <a:path w="10692130" h="1444625">
                <a:moveTo>
                  <a:pt x="10692000" y="0"/>
                </a:moveTo>
                <a:lnTo>
                  <a:pt x="0" y="0"/>
                </a:lnTo>
                <a:lnTo>
                  <a:pt x="0" y="1444251"/>
                </a:lnTo>
                <a:lnTo>
                  <a:pt x="10692000" y="1444251"/>
                </a:lnTo>
                <a:lnTo>
                  <a:pt x="10692000" y="0"/>
                </a:lnTo>
                <a:close/>
              </a:path>
            </a:pathLst>
          </a:custGeom>
          <a:solidFill>
            <a:srgbClr val="282781"/>
          </a:solidFill>
        </p:spPr>
        <p:txBody>
          <a:bodyPr wrap="square" lIns="0" tIns="0" rIns="0" bIns="0" rtlCol="0"/>
          <a:lstStyle/>
          <a:p/>
        </p:txBody>
      </p:sp>
      <p:sp>
        <p:nvSpPr>
          <p:cNvPr id="19" name="bg object 19"/>
          <p:cNvSpPr/>
          <p:nvPr/>
        </p:nvSpPr>
        <p:spPr>
          <a:xfrm>
            <a:off x="0" y="326142"/>
            <a:ext cx="10692130" cy="1656714"/>
          </a:xfrm>
          <a:custGeom>
            <a:avLst/>
            <a:gdLst/>
            <a:ahLst/>
            <a:cxnLst/>
            <a:rect l="l" t="t" r="r" b="b"/>
            <a:pathLst>
              <a:path w="10692130" h="1656714">
                <a:moveTo>
                  <a:pt x="10691990" y="1552308"/>
                </a:moveTo>
                <a:lnTo>
                  <a:pt x="0" y="1552308"/>
                </a:lnTo>
                <a:lnTo>
                  <a:pt x="0" y="1656689"/>
                </a:lnTo>
                <a:lnTo>
                  <a:pt x="10691990" y="1656689"/>
                </a:lnTo>
                <a:lnTo>
                  <a:pt x="10691990" y="1552308"/>
                </a:lnTo>
                <a:close/>
              </a:path>
              <a:path w="10692130" h="1656714">
                <a:moveTo>
                  <a:pt x="10691990" y="0"/>
                </a:moveTo>
                <a:lnTo>
                  <a:pt x="0" y="0"/>
                </a:lnTo>
                <a:lnTo>
                  <a:pt x="0" y="104381"/>
                </a:lnTo>
                <a:lnTo>
                  <a:pt x="10691990" y="104381"/>
                </a:lnTo>
                <a:lnTo>
                  <a:pt x="10691990" y="0"/>
                </a:lnTo>
                <a:close/>
              </a:path>
            </a:pathLst>
          </a:custGeom>
          <a:solidFill>
            <a:srgbClr val="D2AB67"/>
          </a:solidFill>
        </p:spPr>
        <p:txBody>
          <a:bodyPr wrap="square" lIns="0" tIns="0" rIns="0" bIns="0" rtlCol="0"/>
          <a:lstStyle/>
          <a:p/>
        </p:txBody>
      </p:sp>
      <p:sp>
        <p:nvSpPr>
          <p:cNvPr id="2" name="Holder 2"/>
          <p:cNvSpPr>
            <a:spLocks noGrp="1"/>
          </p:cNvSpPr>
          <p:nvPr>
            <p:ph type="title"/>
          </p:nvPr>
        </p:nvSpPr>
        <p:spPr>
          <a:xfrm>
            <a:off x="4776001" y="922297"/>
            <a:ext cx="1141397" cy="695960"/>
          </a:xfrm>
          <a:prstGeom prst="rect">
            <a:avLst/>
          </a:prstGeom>
        </p:spPr>
        <p:txBody>
          <a:bodyPr wrap="square" lIns="0" tIns="0" rIns="0" bIns="0">
            <a:spAutoFit/>
          </a:bodyPr>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a:xfrm>
            <a:off x="534670" y="1739455"/>
            <a:ext cx="9624060" cy="4991481"/>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8715147" y="6899328"/>
            <a:ext cx="1635125" cy="163829"/>
          </a:xfrm>
          <a:prstGeom prst="rect">
            <a:avLst/>
          </a:prstGeom>
        </p:spPr>
        <p:txBody>
          <a:bodyPr wrap="square" lIns="0" tIns="0" rIns="0" bIns="0">
            <a:spAutoFit/>
          </a:bodyPr>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0692130" cy="5039995"/>
            <a:chOff x="0" y="0"/>
            <a:chExt cx="10692130" cy="5039995"/>
          </a:xfrm>
        </p:grpSpPr>
        <p:sp>
          <p:nvSpPr>
            <p:cNvPr id="3" name="object 3"/>
            <p:cNvSpPr/>
            <p:nvPr/>
          </p:nvSpPr>
          <p:spPr>
            <a:xfrm>
              <a:off x="0" y="0"/>
              <a:ext cx="10692130" cy="4720590"/>
            </a:xfrm>
            <a:custGeom>
              <a:avLst/>
              <a:gdLst/>
              <a:ahLst/>
              <a:cxnLst/>
              <a:rect l="l" t="t" r="r" b="b"/>
              <a:pathLst>
                <a:path w="10692130" h="4720590">
                  <a:moveTo>
                    <a:pt x="10692000" y="0"/>
                  </a:moveTo>
                  <a:lnTo>
                    <a:pt x="0" y="0"/>
                  </a:lnTo>
                  <a:lnTo>
                    <a:pt x="0" y="4720226"/>
                  </a:lnTo>
                  <a:lnTo>
                    <a:pt x="10692000" y="4720226"/>
                  </a:lnTo>
                  <a:lnTo>
                    <a:pt x="10692000" y="0"/>
                  </a:lnTo>
                  <a:close/>
                </a:path>
              </a:pathLst>
            </a:custGeom>
            <a:solidFill>
              <a:srgbClr val="282781"/>
            </a:solidFill>
          </p:spPr>
          <p:txBody>
            <a:bodyPr wrap="square" lIns="0" tIns="0" rIns="0" bIns="0" rtlCol="0"/>
            <a:lstStyle/>
            <a:p/>
          </p:txBody>
        </p:sp>
        <p:sp>
          <p:nvSpPr>
            <p:cNvPr id="4" name="object 4"/>
            <p:cNvSpPr/>
            <p:nvPr/>
          </p:nvSpPr>
          <p:spPr>
            <a:xfrm>
              <a:off x="0" y="4720226"/>
              <a:ext cx="10692130" cy="319405"/>
            </a:xfrm>
            <a:custGeom>
              <a:avLst/>
              <a:gdLst/>
              <a:ahLst/>
              <a:cxnLst/>
              <a:rect l="l" t="t" r="r" b="b"/>
              <a:pathLst>
                <a:path w="10692130" h="319404">
                  <a:moveTo>
                    <a:pt x="10692000" y="0"/>
                  </a:moveTo>
                  <a:lnTo>
                    <a:pt x="0" y="0"/>
                  </a:lnTo>
                  <a:lnTo>
                    <a:pt x="0" y="319218"/>
                  </a:lnTo>
                  <a:lnTo>
                    <a:pt x="10692000" y="319218"/>
                  </a:lnTo>
                  <a:lnTo>
                    <a:pt x="10692000" y="0"/>
                  </a:lnTo>
                  <a:close/>
                </a:path>
              </a:pathLst>
            </a:custGeom>
            <a:solidFill>
              <a:srgbClr val="D2AB67"/>
            </a:solidFill>
          </p:spPr>
          <p:txBody>
            <a:bodyPr wrap="square" lIns="0" tIns="0" rIns="0" bIns="0" rtlCol="0"/>
            <a:lstStyle/>
            <a:p/>
          </p:txBody>
        </p:sp>
      </p:grpSp>
      <p:sp>
        <p:nvSpPr>
          <p:cNvPr id="5" name="object 5"/>
          <p:cNvSpPr txBox="1">
            <a:spLocks noGrp="1"/>
          </p:cNvSpPr>
          <p:nvPr>
            <p:ph type="title"/>
          </p:nvPr>
        </p:nvSpPr>
        <p:spPr>
          <a:xfrm>
            <a:off x="165101" y="257761"/>
            <a:ext cx="10230724" cy="2598147"/>
          </a:xfrm>
          <a:prstGeom prst="rect">
            <a:avLst/>
          </a:prstGeom>
        </p:spPr>
        <p:txBody>
          <a:bodyPr vert="horz" wrap="square" lIns="0" tIns="12700" rIns="0" bIns="0" rtlCol="0" anchor="t">
            <a:spAutoFit/>
          </a:bodyPr>
          <a:lstStyle/>
          <a:p>
            <a:pPr marL="27940" algn="ctr">
              <a:spcBef>
                <a:spcPts val="100"/>
              </a:spcBef>
            </a:pPr>
            <a:r>
              <a:rPr lang="en-US" sz="4200" dirty="0">
                <a:solidFill>
                  <a:srgbClr val="FFFFFF"/>
                </a:solidFill>
                <a:latin typeface="Times New Roman" panose="02020603050405020304"/>
                <a:cs typeface="Times New Roman" panose="02020603050405020304"/>
                <a:sym typeface="Lora"/>
              </a:rPr>
              <a:t>DEVELOPMENT OF INTEGRATED WEARABLE DEVICE FOR REMOTE MONITORING OF PREGNANT WOMEN IN GHANA</a:t>
            </a:r>
            <a:endParaRPr lang="en-US" sz="4200" spc="-5" dirty="0">
              <a:latin typeface="Times New Roman" panose="02020603050405020304"/>
              <a:cs typeface="Times New Roman" panose="02020603050405020304"/>
            </a:endParaRPr>
          </a:p>
        </p:txBody>
      </p:sp>
      <p:sp>
        <p:nvSpPr>
          <p:cNvPr id="7" name="object 7"/>
          <p:cNvSpPr/>
          <p:nvPr/>
        </p:nvSpPr>
        <p:spPr>
          <a:xfrm>
            <a:off x="722036" y="5645484"/>
            <a:ext cx="1097474" cy="1316949"/>
          </a:xfrm>
          <a:prstGeom prst="rect">
            <a:avLst/>
          </a:prstGeom>
          <a:blipFill>
            <a:blip r:embed="rId1" cstate="print"/>
            <a:stretch>
              <a:fillRect/>
            </a:stretch>
          </a:blipFill>
        </p:spPr>
        <p:txBody>
          <a:bodyPr wrap="square" lIns="0" tIns="0" rIns="0" bIns="0" rtlCol="0"/>
          <a:lstStyle/>
          <a:p/>
        </p:txBody>
      </p:sp>
      <p:sp>
        <p:nvSpPr>
          <p:cNvPr id="8" name="object 8"/>
          <p:cNvSpPr txBox="1"/>
          <p:nvPr/>
        </p:nvSpPr>
        <p:spPr>
          <a:xfrm>
            <a:off x="2146300" y="5915025"/>
            <a:ext cx="6562725" cy="676466"/>
          </a:xfrm>
          <a:prstGeom prst="rect">
            <a:avLst/>
          </a:prstGeom>
        </p:spPr>
        <p:txBody>
          <a:bodyPr vert="horz" wrap="square" lIns="0" tIns="14604" rIns="0" bIns="0" rtlCol="0">
            <a:spAutoFit/>
          </a:bodyPr>
          <a:lstStyle/>
          <a:p>
            <a:pPr marL="12700">
              <a:lnSpc>
                <a:spcPct val="100000"/>
              </a:lnSpc>
              <a:spcBef>
                <a:spcPts val="115"/>
              </a:spcBef>
            </a:pPr>
            <a:r>
              <a:rPr sz="4300" b="1" spc="-80" dirty="0">
                <a:solidFill>
                  <a:srgbClr val="282781"/>
                </a:solidFill>
                <a:latin typeface="Times New Roman" panose="02020603050405020304" pitchFamily="18" charset="0"/>
                <a:cs typeface="Times New Roman" panose="02020603050405020304" pitchFamily="18" charset="0"/>
              </a:rPr>
              <a:t>UNIVERSITY </a:t>
            </a:r>
            <a:r>
              <a:rPr sz="4300" b="1" spc="35" dirty="0">
                <a:solidFill>
                  <a:srgbClr val="282781"/>
                </a:solidFill>
                <a:latin typeface="Times New Roman" panose="02020603050405020304" pitchFamily="18" charset="0"/>
                <a:cs typeface="Times New Roman" panose="02020603050405020304" pitchFamily="18" charset="0"/>
              </a:rPr>
              <a:t>OF</a:t>
            </a:r>
            <a:r>
              <a:rPr sz="4300" b="1" spc="285" dirty="0">
                <a:solidFill>
                  <a:srgbClr val="282781"/>
                </a:solidFill>
                <a:latin typeface="Times New Roman" panose="02020603050405020304" pitchFamily="18" charset="0"/>
                <a:cs typeface="Times New Roman" panose="02020603050405020304" pitchFamily="18" charset="0"/>
              </a:rPr>
              <a:t> </a:t>
            </a:r>
            <a:r>
              <a:rPr sz="4300" b="1" spc="160" dirty="0">
                <a:solidFill>
                  <a:srgbClr val="282781"/>
                </a:solidFill>
                <a:latin typeface="Times New Roman" panose="02020603050405020304" pitchFamily="18" charset="0"/>
                <a:cs typeface="Times New Roman" panose="02020603050405020304" pitchFamily="18" charset="0"/>
              </a:rPr>
              <a:t>GHANA</a:t>
            </a:r>
            <a:endParaRPr sz="43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65101" y="2709567"/>
            <a:ext cx="10363198" cy="1938992"/>
          </a:xfrm>
          <a:prstGeom prst="rect">
            <a:avLst/>
          </a:prstGeom>
          <a:noFill/>
        </p:spPr>
        <p:txBody>
          <a:bodyPr wrap="square" lIns="91440" tIns="45720" rIns="91440" bIns="45720" rtlCol="0" anchor="t">
            <a:spAutoFit/>
          </a:bodyPr>
          <a:lstStyle/>
          <a:p>
            <a:r>
              <a:rPr lang="en-US" sz="2400" b="1" u="sng" dirty="0">
                <a:solidFill>
                  <a:schemeClr val="bg1"/>
                </a:solidFill>
                <a:latin typeface="Times New Roman" panose="02020603050405020304"/>
                <a:ea typeface="Inter" panose="020B0604020202020204" charset="0"/>
                <a:cs typeface="Times New Roman" panose="02020603050405020304"/>
              </a:rPr>
              <a:t>Group Members</a:t>
            </a:r>
            <a:endParaRPr lang="en-US" sz="2400" b="1" u="sng"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Owoh </a:t>
            </a:r>
            <a:r>
              <a:rPr lang="en-US" sz="2400" dirty="0" err="1">
                <a:solidFill>
                  <a:schemeClr val="bg1"/>
                </a:solidFill>
                <a:latin typeface="Times New Roman" panose="02020603050405020304"/>
                <a:ea typeface="Inter" panose="020B0604020202020204" charset="0"/>
                <a:cs typeface="Times New Roman" panose="02020603050405020304"/>
              </a:rPr>
              <a:t>Einsteina</a:t>
            </a:r>
            <a:r>
              <a:rPr lang="en-US" sz="2400" dirty="0">
                <a:solidFill>
                  <a:schemeClr val="bg1"/>
                </a:solidFill>
                <a:latin typeface="Times New Roman" panose="02020603050405020304"/>
                <a:ea typeface="Inter" panose="020B0604020202020204" charset="0"/>
                <a:cs typeface="Times New Roman" panose="02020603050405020304"/>
              </a:rPr>
              <a:t> Ofunne - 10943874</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Anane George Nyarko – 10947340</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Adika Nathaniel - 10957036</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Inter"/>
                <a:ea typeface="Inter" panose="020B0604020202020204" charset="0"/>
              </a:rPr>
              <a:t>                                            </a:t>
            </a:r>
            <a:r>
              <a:rPr lang="en-US" sz="2400" dirty="0">
                <a:solidFill>
                  <a:schemeClr val="bg1"/>
                </a:solidFill>
                <a:latin typeface="Times New Roman" panose="02020603050405020304"/>
                <a:ea typeface="Inter" panose="020B0604020202020204" charset="0"/>
                <a:cs typeface="Times New Roman" panose="02020603050405020304"/>
              </a:rPr>
              <a:t> DATE: 4</a:t>
            </a:r>
            <a:r>
              <a:rPr lang="en-US" sz="2400" baseline="30000" dirty="0">
                <a:solidFill>
                  <a:schemeClr val="bg1"/>
                </a:solidFill>
                <a:latin typeface="Times New Roman" panose="02020603050405020304"/>
                <a:ea typeface="Inter" panose="020B0604020202020204" charset="0"/>
                <a:cs typeface="Times New Roman" panose="02020603050405020304"/>
              </a:rPr>
              <a:t>th </a:t>
            </a:r>
            <a:r>
              <a:rPr lang="en-US" sz="2400" dirty="0">
                <a:solidFill>
                  <a:schemeClr val="bg1"/>
                </a:solidFill>
                <a:latin typeface="Times New Roman" panose="02020603050405020304"/>
                <a:ea typeface="Inter" panose="020B0604020202020204" charset="0"/>
                <a:cs typeface="Times New Roman" panose="02020603050405020304"/>
              </a:rPr>
              <a:t>  April,2025</a:t>
            </a:r>
            <a:endParaRPr lang="en-US" sz="2400" dirty="0">
              <a:solidFill>
                <a:schemeClr val="bg1"/>
              </a:solidFill>
              <a:latin typeface="Times New Roman" panose="02020603050405020304"/>
              <a:ea typeface="Inter" panose="020B0604020202020204" charset="0"/>
              <a:cs typeface="Times New Roman" panose="02020603050405020304"/>
            </a:endParaRPr>
          </a:p>
        </p:txBody>
      </p:sp>
      <p:sp>
        <p:nvSpPr>
          <p:cNvPr id="10" name="TextBox 9"/>
          <p:cNvSpPr txBox="1"/>
          <p:nvPr/>
        </p:nvSpPr>
        <p:spPr>
          <a:xfrm>
            <a:off x="7023100" y="2643850"/>
            <a:ext cx="5078896" cy="2677656"/>
          </a:xfrm>
          <a:prstGeom prst="rect">
            <a:avLst/>
          </a:prstGeom>
          <a:noFill/>
        </p:spPr>
        <p:txBody>
          <a:bodyPr wrap="square" rtlCol="0">
            <a:spAutoFit/>
          </a:bodyPr>
          <a:lstStyle/>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Project Supervisor</a:t>
            </a:r>
            <a:endPar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Dr. Godfrey Mills</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Co-Supervisor</a:t>
            </a:r>
            <a:endPar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Prof.</a:t>
            </a:r>
            <a:r>
              <a:rPr lang="en-US" sz="2400">
                <a:latin typeface="Times New Roman" panose="02020603050405020304" pitchFamily="18" charset="0"/>
                <a:cs typeface="Times New Roman" panose="02020603050405020304" pitchFamily="18" charset="0"/>
              </a:rPr>
              <a:t> </a:t>
            </a:r>
            <a:r>
              <a:rPr lang="en-US" sz="2400">
                <a:solidFill>
                  <a:schemeClr val="bg1"/>
                </a:solidFill>
                <a:latin typeface="Times New Roman" panose="02020603050405020304" pitchFamily="18" charset="0"/>
                <a:cs typeface="Times New Roman" panose="02020603050405020304" pitchFamily="18" charset="0"/>
              </a:rPr>
              <a:t>Elsie Effah Kaufmann</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7494" y="5558914"/>
            <a:ext cx="1303216" cy="13078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2128" y="747391"/>
            <a:ext cx="8524572" cy="936154"/>
          </a:xfrm>
          <a:prstGeom prst="rect">
            <a:avLst/>
          </a:prstGeom>
        </p:spPr>
        <p:txBody>
          <a:bodyPr vert="horz" wrap="square" lIns="0" tIns="12700" rIns="0" bIns="0" rtlCol="0" anchor="t">
            <a:spAutoFit/>
          </a:bodyPr>
          <a:lstStyle/>
          <a:p>
            <a:pPr marL="12700">
              <a:lnSpc>
                <a:spcPct val="100000"/>
              </a:lnSpc>
              <a:spcBef>
                <a:spcPts val="100"/>
              </a:spcBef>
            </a:pPr>
            <a:r>
              <a:rPr lang="en-GB" sz="6000" spc="-165" dirty="0">
                <a:latin typeface="Times New Roman" panose="02020603050405020304"/>
                <a:cs typeface="Times New Roman" panose="02020603050405020304"/>
              </a:rPr>
              <a:t>COLLABORATORS</a:t>
            </a:r>
            <a:endParaRPr lang="en-GB" sz="6000" spc="-16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2495" y="1895835"/>
            <a:ext cx="10701809" cy="2091726"/>
          </a:xfrm>
          <a:prstGeom prst="rect">
            <a:avLst/>
          </a:prstGeom>
        </p:spPr>
        <p:txBody>
          <a:bodyPr vert="horz" wrap="square" lIns="0" tIns="216535" rIns="0" bIns="0" rtlCol="0" anchor="t">
            <a:spAutoFit/>
          </a:bodyPr>
          <a:lstStyle/>
          <a:p>
            <a:pPr marL="469265" indent="-457200">
              <a:lnSpc>
                <a:spcPct val="150000"/>
              </a:lnSpc>
              <a:spcBef>
                <a:spcPts val="1605"/>
              </a:spcBef>
              <a:buFont typeface="Wingdings" panose="05000000000000000000" pitchFamily="2" charset="2"/>
              <a:buChar char="v"/>
              <a:tabLst>
                <a:tab pos="469265" algn="l"/>
                <a:tab pos="469900" algn="l"/>
              </a:tabLst>
            </a:pPr>
            <a:r>
              <a:rPr lang="en-US" sz="2200" b="1" spc="-5" dirty="0">
                <a:latin typeface="Times New Roman" panose="02020603050405020304"/>
                <a:cs typeface="Times New Roman" panose="02020603050405020304"/>
              </a:rPr>
              <a:t> </a:t>
            </a:r>
            <a:r>
              <a:rPr lang="en-US" sz="2200" spc="-5" dirty="0">
                <a:latin typeface="Times New Roman" panose="02020603050405020304"/>
                <a:cs typeface="Times New Roman" panose="02020603050405020304"/>
              </a:rPr>
              <a:t>Nathaniel   Sakyi Adibuer, IT Consortium</a:t>
            </a:r>
            <a:endParaRPr lang="en-US" sz="2200" spc="-5" baseline="30000" dirty="0">
              <a:latin typeface="Times New Roman" panose="02020603050405020304"/>
              <a:cs typeface="Times New Roman" panose="02020603050405020304"/>
            </a:endParaRP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dirty="0">
                <a:latin typeface="Times New Roman" panose="02020603050405020304"/>
                <a:cs typeface="Times New Roman" panose="02020603050405020304"/>
              </a:rPr>
              <a:t>Dr. Frank Amegah, Korle-Bu Teaching Hospital</a:t>
            </a:r>
            <a:endParaRPr lang="en-US" sz="2200" spc="-5" dirty="0">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dirty="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884" y="939896"/>
            <a:ext cx="10693400"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TASK DELEGATION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7400039"/>
          </a:xfrm>
          <a:prstGeom prst="rect">
            <a:avLst/>
          </a:prstGeom>
        </p:spPr>
        <p:txBody>
          <a:bodyPr vert="horz" wrap="square" lIns="0" tIns="216535" rIns="0" bIns="0" rtlCol="0" anchor="t">
            <a:spAutoFit/>
          </a:bodyPr>
          <a:lstStyle/>
          <a:p>
            <a:pPr marL="457200" indent="-457200">
              <a:buFont typeface="Wingdings,Sans-Serif" panose="05000000000000000000" pitchFamily="2" charset="2"/>
              <a:buChar char="v"/>
              <a:tabLst>
                <a:tab pos="469265" algn="l"/>
                <a:tab pos="469900" algn="l"/>
              </a:tabLst>
            </a:pPr>
            <a:r>
              <a:rPr lang="en-US" sz="2200" dirty="0">
                <a:latin typeface="Times New Roman" panose="02020603050405020304" pitchFamily="18" charset="0"/>
                <a:cs typeface="Times New Roman" panose="02020603050405020304" pitchFamily="18" charset="0"/>
              </a:rPr>
              <a:t>Owoh Einsteina Ofunne           -        AI Model Development</a:t>
            </a:r>
            <a:endParaRPr lang="en-US" sz="2200"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r>
              <a:rPr lang="en-US" sz="2200" dirty="0">
                <a:latin typeface="Times New Roman" panose="02020603050405020304" pitchFamily="18" charset="0"/>
                <a:cs typeface="Times New Roman" panose="02020603050405020304" pitchFamily="18" charset="0"/>
              </a:rPr>
              <a:t>George Anane  Nyarko             -         Mobile App Development</a:t>
            </a:r>
            <a:endParaRPr lang="en-US" sz="2200"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r>
              <a:rPr lang="en-US" sz="2200" dirty="0">
                <a:latin typeface="Times New Roman" panose="02020603050405020304" pitchFamily="18" charset="0"/>
                <a:cs typeface="Times New Roman" panose="02020603050405020304" pitchFamily="18" charset="0"/>
              </a:rPr>
              <a:t>Adika Nathaniel                          -      Wearable Device Development</a:t>
            </a: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PROGRESS SUMMARY</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8189999"/>
          </a:xfrm>
          <a:prstGeom prst="rect">
            <a:avLst/>
          </a:prstGeom>
        </p:spPr>
        <p:txBody>
          <a:bodyPr vert="horz" wrap="square" lIns="0" tIns="216535" rIns="0" bIns="0" rtlCol="0" anchor="t">
            <a:spAutoFit/>
          </a:bodyPr>
          <a:lstStyle/>
          <a:p>
            <a:pPr marL="457200" indent="-457200">
              <a:buFont typeface="Wingdings,Sans-Serif" panose="05000000000000000000" pitchFamily="2" charset="2"/>
              <a:buChar char="v"/>
              <a:tabLst>
                <a:tab pos="469265" algn="l"/>
                <a:tab pos="469900" algn="l"/>
              </a:tabLst>
            </a:pPr>
            <a:r>
              <a:rPr lang="en-US" sz="2200" dirty="0">
                <a:latin typeface="Times New Roman" panose="02020603050405020304" pitchFamily="18" charset="0"/>
                <a:cs typeface="Times New Roman" panose="02020603050405020304" pitchFamily="18" charset="0"/>
              </a:rPr>
              <a:t>Completion of mobile application to 90%</a:t>
            </a: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r>
              <a:rPr lang="en-US" sz="2200" dirty="0">
                <a:latin typeface="Times New Roman" panose="02020603050405020304" pitchFamily="18" charset="0"/>
                <a:cs typeface="Times New Roman" panose="02020603050405020304" pitchFamily="18" charset="0"/>
              </a:rPr>
              <a:t>Complete training of models  for gestational diabetes, anemia and preeclampsia</a:t>
            </a: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r>
              <a:rPr lang="en-US" sz="2200" dirty="0">
                <a:latin typeface="Times New Roman" panose="02020603050405020304" pitchFamily="18" charset="0"/>
                <a:cs typeface="Times New Roman" panose="02020603050405020304" pitchFamily="18" charset="0"/>
              </a:rPr>
              <a:t>System Requirements, Specifications, System Diagram  of the Hardware System</a:t>
            </a:r>
            <a:endParaRPr lang="en-US" sz="2200"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AI MODEL PROGRESS </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9" name="TextBox 8"/>
          <p:cNvSpPr txBox="1"/>
          <p:nvPr/>
        </p:nvSpPr>
        <p:spPr>
          <a:xfrm>
            <a:off x="0" y="1956096"/>
            <a:ext cx="8715147" cy="4154984"/>
          </a:xfrm>
          <a:prstGeom prst="rect">
            <a:avLst/>
          </a:prstGeom>
          <a:noFill/>
        </p:spPr>
        <p:txBody>
          <a:bodyPr wrap="square" rtlCol="0">
            <a:spAutoFit/>
          </a:bodyPr>
          <a:lstStyle/>
          <a:p>
            <a:pPr algn="ctr">
              <a:buNone/>
            </a:pPr>
            <a:r>
              <a:rPr lang="en-US" sz="2200" b="1" dirty="0">
                <a:latin typeface="Times New Roman" panose="02020603050405020304" pitchFamily="18" charset="0"/>
                <a:cs typeface="Times New Roman" panose="02020603050405020304" pitchFamily="18" charset="0"/>
              </a:rPr>
              <a:t>KEY  OBJECTIVES</a:t>
            </a:r>
            <a:endParaRPr lang="en-US" sz="2200" b="1" dirty="0">
              <a:latin typeface="Times New Roman" panose="02020603050405020304" pitchFamily="18" charset="0"/>
              <a:cs typeface="Times New Roman" panose="02020603050405020304" pitchFamily="18" charset="0"/>
            </a:endParaRPr>
          </a:p>
          <a:p>
            <a:pPr>
              <a:buNone/>
            </a:pPr>
            <a:endParaRPr lang="en-US" sz="22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Train separate models for detecting preeclampsia, anemia, and gestational diabetes.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Use real-world medical datasets to analyze health indicators.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Implement a structured machine learning pipeline from preprocessing to evaluation.</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Compare different models to find the best-performing approach for each condition.</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4985980"/>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train_dataset.xlsx</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Preeclampsia in Pregnant Women Dataset by Muhammad Asif</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163</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14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Low, mid or High</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 No description of dataset provided</a:t>
            </a:r>
            <a:endParaRPr lang="en-US" sz="2200" dirty="0">
              <a:latin typeface="Times New Roman" panose="02020603050405020304" pitchFamily="18" charset="0"/>
              <a:cs typeface="Times New Roman" panose="02020603050405020304" pitchFamily="18" charset="0"/>
            </a:endParaRPr>
          </a:p>
          <a:p>
            <a:endParaRPr lang="en-US" b="1" dirty="0"/>
          </a:p>
          <a:p>
            <a:endParaRPr lang="en-US" b="1" dirty="0"/>
          </a:p>
          <a:p>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4832092"/>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Gravida</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Parity</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Gestational Age</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Age</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BMI</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Diabetes</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History of Hypertension</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Systolic Bp</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Diastolic Bp</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HB</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Fetal weight</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Protein in urine</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Amniotic fluid level</a:t>
            </a:r>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Risk Level</a:t>
            </a:r>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25966" y="2640603"/>
            <a:ext cx="10693400" cy="4493538"/>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Gestational Diabetes 2.csv &amp; Gestational Diabetes 3.csv</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Gestational diabetes by Rasool Jader  </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2026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0 or 1</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 The dataset was obtained from the Kurdistan region laboratories, which collected information from pregnant women with and without diabetes.</a:t>
            </a:r>
            <a:endParaRPr lang="en-US" sz="2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GESTATIONAL DIABETES</a:t>
            </a:r>
            <a:endParaRPr lang="en-US"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25966" y="2640603"/>
            <a:ext cx="10693400" cy="2462213"/>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Age</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Pregnancy</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Weight </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Height</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BMI</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Heredity</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Prediction</a:t>
            </a:r>
            <a:endParaRPr lang="en-US" sz="2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GESTATIONAL DIABETES</a:t>
            </a:r>
            <a:endParaRPr lang="en-US" sz="2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693400" cy="4770537"/>
          </a:xfrm>
          <a:prstGeom prst="rect">
            <a:avLst/>
          </a:prstGeom>
          <a:noFill/>
        </p:spPr>
        <p:txBody>
          <a:bodyPr wrap="square" rtlCol="0">
            <a:spAutoFit/>
          </a:bodyPr>
          <a:lstStyle/>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Book2.xlsx</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Maternal Health and High-Risk Pregnancy Dataset by Ankur Ray Chayan </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999</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17</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yes or no</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 This dataset includes maternal health indicators. It classifies pregnancies as high-risk or non-high-risk.</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ANEMIA</a:t>
            </a:r>
            <a:endParaRPr lang="en-US" sz="2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4455622" cy="5109091"/>
          </a:xfrm>
          <a:prstGeom prst="rect">
            <a:avLst/>
          </a:prstGeom>
          <a:noFill/>
        </p:spPr>
        <p:txBody>
          <a:bodyPr wrap="square" rtlCol="0">
            <a:spAutoFit/>
          </a:bodyPr>
          <a:lstStyle/>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Name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Age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Gravida</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Pregnancy</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Gestational age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Weight</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Height</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Blood Pressure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Anemia</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Jaundice</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Fetal Position</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Fetal movements</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Fetal heartbeats</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Urine test- Sugar</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ANEMIA</a:t>
            </a:r>
            <a:endParaRPr lang="en-US" sz="2400" b="1" dirty="0"/>
          </a:p>
        </p:txBody>
      </p:sp>
      <p:sp>
        <p:nvSpPr>
          <p:cNvPr id="8" name="TextBox 7"/>
          <p:cNvSpPr txBox="1"/>
          <p:nvPr/>
        </p:nvSpPr>
        <p:spPr>
          <a:xfrm>
            <a:off x="5346700" y="2636081"/>
            <a:ext cx="4455622" cy="1107996"/>
          </a:xfrm>
          <a:prstGeom prst="rect">
            <a:avLst/>
          </a:prstGeom>
          <a:noFill/>
        </p:spPr>
        <p:txBody>
          <a:bodyPr wrap="square" rtlCol="0">
            <a:spAutoFit/>
          </a:bodyPr>
          <a:lstStyle/>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VDRL</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err="1">
                <a:latin typeface="Times New Roman" panose="02020603050405020304" pitchFamily="18" charset="0"/>
                <a:cs typeface="Times New Roman" panose="02020603050405020304" pitchFamily="18" charset="0"/>
              </a:rPr>
              <a:t>HRsAg</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High Risk Pregnancy </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 PREPROCESSING</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25053"/>
            <a:ext cx="10693399" cy="56377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MODEL SELECTION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PREECLAMPSIA</a:t>
            </a:r>
            <a:endParaRPr lang="en-US"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5104" y="2500232"/>
            <a:ext cx="10648296"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We chose the best performing model which was Logistic Regression. Although Decision Tree and Random Forest performed slightly better overall, they tend to overfit, whereas Logistic Regression generalizes well to unseen data.</a:t>
            </a:r>
            <a:endParaRPr lang="en-US" dirty="0">
              <a:latin typeface="Times New Roman" panose="02020603050405020304" pitchFamily="18" charset="0"/>
              <a:cs typeface="Times New Roman" panose="02020603050405020304" pitchFamily="18" charset="0"/>
            </a:endParaRPr>
          </a:p>
          <a:p>
            <a:endParaRPr lang="en-US" dirty="0"/>
          </a:p>
        </p:txBody>
      </p:sp>
      <p:graphicFrame>
        <p:nvGraphicFramePr>
          <p:cNvPr id="9" name="Table 8"/>
          <p:cNvGraphicFramePr>
            <a:graphicFrameLocks noGrp="1"/>
          </p:cNvGraphicFramePr>
          <p:nvPr/>
        </p:nvGraphicFramePr>
        <p:xfrm>
          <a:off x="22552" y="3422156"/>
          <a:ext cx="10648296" cy="4140694"/>
        </p:xfrm>
        <a:graphic>
          <a:graphicData uri="http://schemas.openxmlformats.org/drawingml/2006/table">
            <a:tbl>
              <a:tblPr firstRow="1" bandRow="1">
                <a:tableStyleId>{5C22544A-7EE6-4342-B048-85BDC9FD1C3A}</a:tableStyleId>
              </a:tblPr>
              <a:tblGrid>
                <a:gridCol w="1331037"/>
                <a:gridCol w="1331037"/>
                <a:gridCol w="1331037"/>
                <a:gridCol w="1331037"/>
                <a:gridCol w="1331037"/>
                <a:gridCol w="1331037"/>
                <a:gridCol w="1331037"/>
                <a:gridCol w="1331037"/>
              </a:tblGrid>
              <a:tr h="1090882">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Random Forest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MLP Classifier</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0.925926</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0.814815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0.907407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0.981481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0.962963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0.962963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0.944444</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Precision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0.935494</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0.875281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0.910847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0.982510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0.967593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0.967901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0.950397</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F1 Score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0.925308 </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0.818896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0.905208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0.981259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0.963430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0.963128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0.944377</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Recall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0.925926</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0.814815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0.907407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0.981481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0.962963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0.962963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0.944444</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Training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0.9225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0.7984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0.9302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0.9922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0.9922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0.9922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0.9922</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Test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0.9091</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0.5152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0.8788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0.8788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0.8182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0.7879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0.8485</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TIME TAKEN (S)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PREECLAMPSIA</a:t>
            </a:r>
            <a:endParaRPr lang="en-US" sz="2200" b="1"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097352"/>
          <a:ext cx="10410768" cy="232321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Random Forest Classifier</a:t>
                      </a:r>
                      <a:endParaRPr lang="en-US"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MLP Classifier</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Training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rPr>
                        <a:t>0.0120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0.0005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0.0031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rPr>
                        <a:t>0.2952</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t>0.4847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0.3411</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Prediction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rPr>
                        <a:t>0.0010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t>0.0039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0.0001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0.0050</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MODEL SELECTION</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GESTATIONAL DIABETES</a:t>
            </a:r>
            <a:endParaRPr lang="en-US" sz="22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6176" y="2630611"/>
            <a:ext cx="10677224"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Although K-Nearest Algorithm performed slightly better overall, they tend to overfit. It is also known as “Lazy Algorithm” because it memorizes the training data. We chose Random Forest because it generalizes better to new data, and provides insights into feature importance.</a:t>
            </a:r>
            <a:endParaRPr lang="en-US"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553941"/>
          <a:ext cx="10410768" cy="399209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Logistic Regression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Random Forest Classifier</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0.864198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0.977778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0.883951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0.977777</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Precision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0.856495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0.977652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0.878886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0.867501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0.977595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0.863144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0.863144</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F1 Score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0.856225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0.977635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0.878521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0.854014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0.967984</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0.864471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0.864471</a:t>
                      </a:r>
                      <a:endParaRPr lang="en-US" dirty="0">
                        <a:latin typeface="Times New Roman" panose="02020603050405020304" pitchFamily="18" charset="0"/>
                        <a:cs typeface="Times New Roman" panose="02020603050405020304" pitchFamily="18" charset="0"/>
                      </a:endParaRPr>
                    </a:p>
                  </a:txBody>
                  <a:tcPr/>
                </a:tc>
              </a:tr>
              <a:tr h="417220">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Recall</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0.864198</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0.977778</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0.883951</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solidFill>
                            <a:srgbClr val="C00000"/>
                          </a:solidFill>
                          <a:latin typeface="Times New Roman" panose="02020603050405020304" pitchFamily="18" charset="0"/>
                          <a:cs typeface="Times New Roman" panose="02020603050405020304" pitchFamily="18" charset="0"/>
                        </a:rPr>
                        <a:t>0.959160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0.869136</a:t>
                      </a:r>
                      <a:endParaRPr lang="en-US" dirty="0">
                        <a:latin typeface="Times New Roman" panose="02020603050405020304" pitchFamily="18" charset="0"/>
                        <a:cs typeface="Times New Roman" panose="02020603050405020304" pitchFamily="18" charset="0"/>
                      </a:endParaRPr>
                    </a:p>
                  </a:txBody>
                  <a:tcPr/>
                </a:tc>
              </a:tr>
              <a:tr h="566229">
                <a:tc>
                  <a:txBody>
                    <a:bodyPr/>
                    <a:lstStyle/>
                    <a:p>
                      <a:r>
                        <a:rPr lang="en-US" dirty="0">
                          <a:latin typeface="Times New Roman" panose="02020603050405020304" pitchFamily="18" charset="0"/>
                          <a:cs typeface="Times New Roman" panose="02020603050405020304" pitchFamily="18" charset="0"/>
                        </a:rPr>
                        <a:t>Training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0.9018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0.8808</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0.9963</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0.9963</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0.9240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0.8326</a:t>
                      </a:r>
                      <a:endParaRPr lang="en-US" dirty="0">
                        <a:latin typeface="Times New Roman" panose="02020603050405020304" pitchFamily="18" charset="0"/>
                        <a:cs typeface="Times New Roman" panose="02020603050405020304" pitchFamily="18" charset="0"/>
                      </a:endParaRPr>
                    </a:p>
                  </a:txBody>
                  <a:tcPr/>
                </a:tc>
              </a:tr>
              <a:tr h="566229">
                <a:tc>
                  <a:txBody>
                    <a:bodyPr/>
                    <a:lstStyle/>
                    <a:p>
                      <a:r>
                        <a:rPr lang="en-US" dirty="0">
                          <a:latin typeface="Times New Roman" panose="02020603050405020304" pitchFamily="18" charset="0"/>
                          <a:cs typeface="Times New Roman" panose="02020603050405020304" pitchFamily="18" charset="0"/>
                        </a:rPr>
                        <a:t>Test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0.8765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0.8340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0.8840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0.9802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0.9802</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0.9333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0.8395</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TIME TAKEN (S)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GESTATIONAL DIABETES</a:t>
            </a:r>
            <a:endParaRPr lang="en-US" sz="2200" b="1"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097352"/>
          <a:ext cx="10410768" cy="232321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Logistic Regression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Random Forest Classifier</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Training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0.0758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0.0060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0.4767</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0.2922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3.4149</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Prediction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0.0329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0.0309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0.0001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0.0100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MODEL SELECTION</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ANEMIA</a:t>
            </a:r>
            <a:endParaRPr lang="en-US" sz="22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49628" y="2469454"/>
            <a:ext cx="10693400" cy="769441"/>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Here we chose Logistic Regression because it was the best performing model and it also generalizes well to unseen data. </a:t>
            </a:r>
            <a:endParaRPr lang="en-US" sz="2200"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9628" y="3360270"/>
          <a:ext cx="10394144" cy="4134844"/>
        </p:xfrm>
        <a:graphic>
          <a:graphicData uri="http://schemas.openxmlformats.org/drawingml/2006/table">
            <a:tbl>
              <a:tblPr firstRow="1" bandRow="1">
                <a:tableStyleId>{5C22544A-7EE6-4342-B048-85BDC9FD1C3A}</a:tableStyleId>
              </a:tblPr>
              <a:tblGrid>
                <a:gridCol w="1299268"/>
                <a:gridCol w="1299268"/>
                <a:gridCol w="1299268"/>
                <a:gridCol w="1299268"/>
                <a:gridCol w="1299268"/>
                <a:gridCol w="1299268"/>
                <a:gridCol w="1299268"/>
                <a:gridCol w="1299268"/>
              </a:tblGrid>
              <a:tr h="1088652">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Random Forest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txBody>
                  <a:tcPr/>
                </a:tc>
              </a:tr>
              <a:tr h="441508">
                <a:tc>
                  <a:txBody>
                    <a:bodyPr/>
                    <a:lstStyle/>
                    <a:p>
                      <a:r>
                        <a:rPr lang="en-US" dirty="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0.9733</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0.9350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0.9100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r>
              <a:tr h="441508">
                <a:tc>
                  <a:txBody>
                    <a:bodyPr/>
                    <a:lstStyle/>
                    <a:p>
                      <a:r>
                        <a:rPr lang="en-US" dirty="0">
                          <a:latin typeface="Times New Roman" panose="02020603050405020304" pitchFamily="18" charset="0"/>
                          <a:cs typeface="Times New Roman" panose="02020603050405020304" pitchFamily="18" charset="0"/>
                        </a:rPr>
                        <a:t>Precision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0.9600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0.9494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0.9397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0.9474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0.9400</a:t>
                      </a:r>
                      <a:endParaRPr lang="en-US" dirty="0">
                        <a:latin typeface="Times New Roman" panose="02020603050405020304" pitchFamily="18" charset="0"/>
                        <a:cs typeface="Times New Roman" panose="02020603050405020304" pitchFamily="18" charset="0"/>
                      </a:endParaRPr>
                    </a:p>
                  </a:txBody>
                  <a:tcPr/>
                </a:tc>
              </a:tr>
              <a:tr h="441508">
                <a:tc>
                  <a:txBody>
                    <a:bodyPr/>
                    <a:lstStyle/>
                    <a:p>
                      <a:r>
                        <a:rPr lang="en-US" dirty="0">
                          <a:latin typeface="Times New Roman" panose="02020603050405020304" pitchFamily="18" charset="0"/>
                          <a:cs typeface="Times New Roman" panose="02020603050405020304" pitchFamily="18" charset="0"/>
                        </a:rPr>
                        <a:t>F1 Score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0.9600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0.9235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0.9664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0.9525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0.9691</a:t>
                      </a:r>
                      <a:endParaRPr lang="en-US" dirty="0">
                        <a:latin typeface="Times New Roman" panose="02020603050405020304" pitchFamily="18" charset="0"/>
                        <a:cs typeface="Times New Roman" panose="02020603050405020304" pitchFamily="18" charset="0"/>
                      </a:endParaRPr>
                    </a:p>
                  </a:txBody>
                  <a:tcPr/>
                </a:tc>
              </a:tr>
              <a:tr h="441508">
                <a:tc>
                  <a:txBody>
                    <a:bodyPr/>
                    <a:lstStyle/>
                    <a:p>
                      <a:r>
                        <a:rPr lang="en-US" dirty="0">
                          <a:latin typeface="Times New Roman" panose="02020603050405020304" pitchFamily="18" charset="0"/>
                          <a:cs typeface="Times New Roman" panose="02020603050405020304" pitchFamily="18" charset="0"/>
                        </a:rPr>
                        <a:t>Recall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0.9600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0.8989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0.9947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0.9574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r>
              <a:tr h="533497">
                <a:tc>
                  <a:txBody>
                    <a:bodyPr/>
                    <a:lstStyle/>
                    <a:p>
                      <a:r>
                        <a:rPr lang="en-US" dirty="0">
                          <a:latin typeface="Times New Roman" panose="02020603050405020304" pitchFamily="18" charset="0"/>
                          <a:cs typeface="Times New Roman" panose="02020603050405020304" pitchFamily="18" charset="0"/>
                        </a:rPr>
                        <a:t>Training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0.9687</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0.8645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0.9799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r>
              <a:tr h="533497">
                <a:tc>
                  <a:txBody>
                    <a:bodyPr/>
                    <a:lstStyle/>
                    <a:p>
                      <a:r>
                        <a:rPr lang="en-US" dirty="0">
                          <a:latin typeface="Times New Roman" panose="02020603050405020304" pitchFamily="18" charset="0"/>
                          <a:cs typeface="Times New Roman" panose="02020603050405020304" pitchFamily="18" charset="0"/>
                        </a:rPr>
                        <a:t>Test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0.9352</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0.8950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0.8900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0.9450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0.9050</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TIME TAKEN (S)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ANEMIA</a:t>
            </a:r>
            <a:endParaRPr lang="en-US" sz="2200" b="1"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097352"/>
          <a:ext cx="10410768" cy="232321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Random Forest Classifier</a:t>
                      </a:r>
                      <a:endParaRPr lang="en-US"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Training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0.1795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0.1466</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0.3521</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0.5217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2.6669</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Prediction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0.0070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0.0339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0.0499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0.0060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0.0140</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0.0039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0.0040</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BRIEF DESCRIPTION OF MODELS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1925053"/>
            <a:ext cx="10693400" cy="489364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LOGISTIC REGRESSION </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ea typeface="Tahoma" panose="020B0604030504040204" pitchFamily="34" charset="0"/>
                <a:cs typeface="Times New Roman" panose="02020603050405020304" pitchFamily="18" charset="0"/>
              </a:rPr>
              <a:t>Logistic regression is a statistical model used for binary classification tasks, where the output is a categorical variable with two possible outcomes. The model uses a sigmoid function to map predicted values to probabilities. </a:t>
            </a:r>
            <a:endParaRPr lang="en-US" sz="2400" dirty="0">
              <a:latin typeface="Times New Roman" panose="02020603050405020304" pitchFamily="18" charset="0"/>
              <a:ea typeface="Tahoma" panose="020B0604030504040204" pitchFamily="34" charset="0"/>
              <a:cs typeface="Times New Roman" panose="02020603050405020304" pitchFamily="18" charset="0"/>
            </a:endParaRPr>
          </a:p>
          <a:p>
            <a:pPr>
              <a:buNone/>
            </a:pPr>
            <a:endParaRPr lang="en-US" sz="2400" dirty="0"/>
          </a:p>
          <a:p>
            <a:pPr>
              <a:buNone/>
            </a:pPr>
            <a:endParaRPr lang="en-US" sz="2400" b="1" dirty="0"/>
          </a:p>
          <a:p>
            <a:pPr>
              <a:buNone/>
            </a:pPr>
            <a:endParaRPr lang="en-US" sz="2400" b="1" dirty="0"/>
          </a:p>
          <a:p>
            <a:pPr algn="ctr"/>
            <a:r>
              <a:rPr lang="en-US" sz="2400" b="1" dirty="0">
                <a:latin typeface="Times New Roman" panose="02020603050405020304" pitchFamily="18" charset="0"/>
                <a:cs typeface="Times New Roman" panose="02020603050405020304" pitchFamily="18" charset="0"/>
              </a:rPr>
              <a:t>Random Forest Classifier </a:t>
            </a: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A Random Forest classifier is an ensemble learning method used for classification tasks, which combines the predictions of multiple decision trees to improve accuracy and prevent overfitting. </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MACHINE LEARNING WORKFLOW</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8" name="Picture 7" descr="A diagram of a flowchart&#10;&#10;AI-generated content may be incorrect."/>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742733"/>
            <a:ext cx="10693400" cy="58201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RESULTS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38567"/>
            <a:ext cx="106934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PREECLAMPSIA</a:t>
            </a:r>
            <a:endParaRPr lang="en-US" sz="22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 y="2621607"/>
            <a:ext cx="10693400" cy="2062103"/>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0.92 </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0.90</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Precision: </a:t>
            </a:r>
            <a:r>
              <a:rPr lang="en-US" sz="2200" dirty="0">
                <a:latin typeface="Times New Roman" panose="02020603050405020304" pitchFamily="18" charset="0"/>
                <a:cs typeface="Times New Roman" panose="02020603050405020304" pitchFamily="18" charset="0"/>
              </a:rPr>
              <a:t>0.94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Recall: </a:t>
            </a:r>
            <a:r>
              <a:rPr lang="en-US" sz="2200" dirty="0">
                <a:latin typeface="Times New Roman" panose="02020603050405020304" pitchFamily="18" charset="0"/>
                <a:cs typeface="Times New Roman" panose="02020603050405020304" pitchFamily="18" charset="0"/>
              </a:rPr>
              <a:t>0.93</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F1 Score: </a:t>
            </a:r>
            <a:r>
              <a:rPr lang="en-US" sz="2200" dirty="0">
                <a:latin typeface="Times New Roman" panose="02020603050405020304" pitchFamily="18" charset="0"/>
                <a:cs typeface="Times New Roman" panose="02020603050405020304" pitchFamily="18" charset="0"/>
              </a:rPr>
              <a:t>0.93</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5" name="TextBox 4"/>
          <p:cNvSpPr txBox="1"/>
          <p:nvPr/>
        </p:nvSpPr>
        <p:spPr>
          <a:xfrm>
            <a:off x="0" y="5505640"/>
            <a:ext cx="10693400" cy="2400657"/>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Cross validation Scores across each fold</a:t>
            </a:r>
            <a:r>
              <a:rPr lang="en-US" sz="2200" dirty="0">
                <a:latin typeface="Times New Roman" panose="02020603050405020304" pitchFamily="18" charset="0"/>
                <a:cs typeface="Times New Roman" panose="02020603050405020304" pitchFamily="18" charset="0"/>
              </a:rPr>
              <a:t>: [0.8077   0.6923   0.7308   0.6923   0.8000] </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Mean Cross Validation Score: </a:t>
            </a:r>
            <a:r>
              <a:rPr lang="en-US" sz="2200" dirty="0">
                <a:latin typeface="Times New Roman" panose="02020603050405020304" pitchFamily="18" charset="0"/>
                <a:cs typeface="Times New Roman" panose="02020603050405020304" pitchFamily="18" charset="0"/>
              </a:rPr>
              <a:t>0.7446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Standard Deviation of Cross Validation Scores: </a:t>
            </a:r>
            <a:r>
              <a:rPr lang="en-US" sz="2200" dirty="0">
                <a:latin typeface="Times New Roman" panose="02020603050405020304" pitchFamily="18" charset="0"/>
                <a:cs typeface="Times New Roman" panose="02020603050405020304" pitchFamily="18" charset="0"/>
              </a:rPr>
              <a:t>0.0504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0.9225</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0.9091</a:t>
            </a:r>
            <a:endParaRPr lang="en-US" sz="2200"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endParaRPr lang="en-US" dirty="0"/>
          </a:p>
        </p:txBody>
      </p:sp>
      <p:sp>
        <p:nvSpPr>
          <p:cNvPr id="6" name="TextBox 5"/>
          <p:cNvSpPr txBox="1"/>
          <p:nvPr/>
        </p:nvSpPr>
        <p:spPr>
          <a:xfrm>
            <a:off x="0" y="5022264"/>
            <a:ext cx="10693399" cy="369332"/>
          </a:xfrm>
          <a:prstGeom prst="rect">
            <a:avLst/>
          </a:prstGeom>
          <a:noFill/>
        </p:spPr>
        <p:txBody>
          <a:bodyPr wrap="square" rtlCol="0">
            <a:spAutoFit/>
          </a:bodyPr>
          <a:lstStyle/>
          <a:p>
            <a:pPr algn="ctr"/>
            <a:r>
              <a:rPr lang="en-US" b="1" dirty="0"/>
              <a:t>K FOLD CROSS VALIDATION SCORES</a:t>
            </a:r>
            <a:endParaRPr lang="en-US"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RESULTS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38567"/>
            <a:ext cx="106934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GESTATIONAL DIABETES</a:t>
            </a:r>
            <a:endParaRPr lang="en-US" sz="22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 y="2621607"/>
            <a:ext cx="10693400" cy="2062103"/>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0.99</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0.97</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Precision: </a:t>
            </a:r>
            <a:r>
              <a:rPr lang="en-US" sz="2200" dirty="0">
                <a:latin typeface="Times New Roman" panose="02020603050405020304" pitchFamily="18" charset="0"/>
                <a:cs typeface="Times New Roman" panose="02020603050405020304" pitchFamily="18" charset="0"/>
              </a:rPr>
              <a:t>0.98</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Recall: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F1 Score: </a:t>
            </a:r>
            <a:r>
              <a:rPr lang="en-US" sz="2200" dirty="0">
                <a:latin typeface="Times New Roman" panose="02020603050405020304" pitchFamily="18" charset="0"/>
                <a:cs typeface="Times New Roman" panose="02020603050405020304" pitchFamily="18" charset="0"/>
              </a:rPr>
              <a:t>0.97</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5" name="TextBox 4"/>
          <p:cNvSpPr txBox="1"/>
          <p:nvPr/>
        </p:nvSpPr>
        <p:spPr>
          <a:xfrm>
            <a:off x="0" y="5505640"/>
            <a:ext cx="10693400" cy="2400657"/>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Cross validation Scores across each fold</a:t>
            </a:r>
            <a:r>
              <a:rPr lang="en-US" sz="2200" dirty="0">
                <a:latin typeface="Times New Roman" panose="02020603050405020304" pitchFamily="18" charset="0"/>
                <a:cs typeface="Times New Roman" panose="02020603050405020304" pitchFamily="18" charset="0"/>
              </a:rPr>
              <a:t>: [0.9225  0.9469  0.9187  0.9257  0.9116]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Mean Cross Validation Score: </a:t>
            </a:r>
            <a:r>
              <a:rPr lang="en-US" sz="2200" dirty="0">
                <a:latin typeface="Times New Roman" panose="02020603050405020304" pitchFamily="18" charset="0"/>
                <a:cs typeface="Times New Roman" panose="02020603050405020304" pitchFamily="18" charset="0"/>
              </a:rPr>
              <a:t>0.9251</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Standard Deviation of Cross Validation Scores: </a:t>
            </a:r>
            <a:r>
              <a:rPr lang="en-US" sz="2200" dirty="0">
                <a:latin typeface="Times New Roman" panose="02020603050405020304" pitchFamily="18" charset="0"/>
                <a:cs typeface="Times New Roman" panose="02020603050405020304" pitchFamily="18" charset="0"/>
              </a:rPr>
              <a:t>0.0119</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0.9939</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0.9570</a:t>
            </a:r>
            <a:endParaRPr lang="en-US" sz="2200"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endParaRPr lang="en-US" dirty="0"/>
          </a:p>
        </p:txBody>
      </p:sp>
      <p:sp>
        <p:nvSpPr>
          <p:cNvPr id="6" name="TextBox 5"/>
          <p:cNvSpPr txBox="1"/>
          <p:nvPr/>
        </p:nvSpPr>
        <p:spPr>
          <a:xfrm>
            <a:off x="0" y="5022264"/>
            <a:ext cx="10693399" cy="369332"/>
          </a:xfrm>
          <a:prstGeom prst="rect">
            <a:avLst/>
          </a:prstGeom>
          <a:noFill/>
        </p:spPr>
        <p:txBody>
          <a:bodyPr wrap="square" rtlCol="0">
            <a:spAutoFit/>
          </a:bodyPr>
          <a:lstStyle/>
          <a:p>
            <a:pPr algn="ctr"/>
            <a:r>
              <a:rPr lang="en-US" b="1" dirty="0"/>
              <a:t>K FOLD CROSS VALIDATION SCORES</a:t>
            </a:r>
            <a:endParaRPr lang="en-US"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RESULTS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38567"/>
            <a:ext cx="106934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ANEMIA</a:t>
            </a:r>
            <a:endParaRPr lang="en-US" sz="22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 y="2621607"/>
            <a:ext cx="10693400" cy="2062103"/>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0.97</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Precision: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Recall: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F1 Score: </a:t>
            </a:r>
            <a:r>
              <a:rPr lang="en-US" sz="2200" dirty="0">
                <a:latin typeface="Times New Roman" panose="02020603050405020304" pitchFamily="18" charset="0"/>
                <a:cs typeface="Times New Roman" panose="02020603050405020304" pitchFamily="18" charset="0"/>
              </a:rPr>
              <a:t>0.96</a:t>
            </a:r>
            <a:endParaRPr lang="en-US" sz="2200" dirty="0">
              <a:latin typeface="Times New Roman" panose="02020603050405020304" pitchFamily="18" charset="0"/>
              <a:cs typeface="Times New Roman" panose="02020603050405020304" pitchFamily="18" charset="0"/>
            </a:endParaRPr>
          </a:p>
          <a:p>
            <a:endParaRPr lang="en-US" dirty="0"/>
          </a:p>
        </p:txBody>
      </p:sp>
      <p:sp>
        <p:nvSpPr>
          <p:cNvPr id="5" name="TextBox 4"/>
          <p:cNvSpPr txBox="1"/>
          <p:nvPr/>
        </p:nvSpPr>
        <p:spPr>
          <a:xfrm>
            <a:off x="0" y="5505640"/>
            <a:ext cx="10693400" cy="2431435"/>
          </a:xfrm>
          <a:prstGeom prst="rect">
            <a:avLst/>
          </a:prstGeom>
          <a:noFill/>
        </p:spPr>
        <p:txBody>
          <a:bodyPr wrap="square" rtlCol="0">
            <a:spAutoFit/>
          </a:bodyPr>
          <a:lstStyle/>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Cross validation Scores across each fold</a:t>
            </a:r>
            <a:r>
              <a:rPr lang="en-US" sz="2200" dirty="0">
                <a:latin typeface="Times New Roman" panose="02020603050405020304" pitchFamily="18" charset="0"/>
                <a:cs typeface="Times New Roman" panose="02020603050405020304" pitchFamily="18" charset="0"/>
              </a:rPr>
              <a:t>: [0.9300 0.9450 0.9200 0.8944 0,9447]  </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Mean Cross Validation Score: </a:t>
            </a:r>
            <a:r>
              <a:rPr lang="en-US" sz="2200" dirty="0">
                <a:latin typeface="Times New Roman" panose="02020603050405020304" pitchFamily="18" charset="0"/>
                <a:cs typeface="Times New Roman" panose="02020603050405020304" pitchFamily="18" charset="0"/>
              </a:rPr>
              <a:t>0.9268</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Standard Deviation of Cross Validation Scores: </a:t>
            </a:r>
            <a:r>
              <a:rPr lang="en-US" sz="2200" dirty="0">
                <a:latin typeface="Times New Roman" panose="02020603050405020304" pitchFamily="18" charset="0"/>
                <a:cs typeface="Times New Roman" panose="02020603050405020304" pitchFamily="18" charset="0"/>
              </a:rPr>
              <a:t>0.0187</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Training Accuracy: </a:t>
            </a:r>
            <a:r>
              <a:rPr lang="en-US" sz="2200" dirty="0">
                <a:latin typeface="Times New Roman" panose="02020603050405020304" pitchFamily="18" charset="0"/>
                <a:cs typeface="Times New Roman" panose="02020603050405020304" pitchFamily="18" charset="0"/>
              </a:rPr>
              <a:t>0.9704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Test Accuracy: </a:t>
            </a:r>
            <a:r>
              <a:rPr lang="en-US" sz="2200" dirty="0">
                <a:latin typeface="Times New Roman" panose="02020603050405020304" pitchFamily="18" charset="0"/>
                <a:cs typeface="Times New Roman" panose="02020603050405020304" pitchFamily="18" charset="0"/>
              </a:rPr>
              <a:t>0.9268</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b="1" dirty="0">
              <a:latin typeface="Times New Roman" panose="02020603050405020304" pitchFamily="18" charset="0"/>
              <a:cs typeface="Times New Roman" panose="02020603050405020304" pitchFamily="18" charset="0"/>
            </a:endParaRPr>
          </a:p>
          <a:p>
            <a:endParaRPr lang="en-US" dirty="0"/>
          </a:p>
        </p:txBody>
      </p:sp>
      <p:sp>
        <p:nvSpPr>
          <p:cNvPr id="6" name="TextBox 5"/>
          <p:cNvSpPr txBox="1"/>
          <p:nvPr/>
        </p:nvSpPr>
        <p:spPr>
          <a:xfrm>
            <a:off x="0" y="5022264"/>
            <a:ext cx="10693399" cy="369332"/>
          </a:xfrm>
          <a:prstGeom prst="rect">
            <a:avLst/>
          </a:prstGeom>
          <a:noFill/>
        </p:spPr>
        <p:txBody>
          <a:bodyPr wrap="square" rtlCol="0">
            <a:spAutoFit/>
          </a:bodyPr>
          <a:lstStyle/>
          <a:p>
            <a:pPr algn="ctr"/>
            <a:r>
              <a:rPr lang="en-US" b="1" dirty="0"/>
              <a:t>K FOLD CROSS VALIDATION SCORES</a:t>
            </a:r>
            <a:endParaRPr lang="en-US"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LIMITATIONS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69668"/>
            <a:ext cx="10693400" cy="830997"/>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Public Datasets have limited number of records</a:t>
            </a:r>
            <a:endParaRPr lang="en-US" sz="2200" dirty="0">
              <a:latin typeface="Times New Roman" panose="02020603050405020304" pitchFamily="18" charset="0"/>
              <a:cs typeface="Times New Roman" panose="02020603050405020304" pitchFamily="18" charset="0"/>
            </a:endParaRPr>
          </a:p>
          <a:p>
            <a:endParaRPr lang="en-US" sz="2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551175"/>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CREATE PRESCRIPTION PAGE</a:t>
            </a: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CreateDrugPrescriptionPage"/>
          <p:cNvPicPr>
            <a:picLocks noChangeAspect="1"/>
          </p:cNvPicPr>
          <p:nvPr/>
        </p:nvPicPr>
        <p:blipFill>
          <a:blip r:embed="rId1"/>
          <a:stretch>
            <a:fillRect/>
          </a:stretch>
        </p:blipFill>
        <p:spPr>
          <a:xfrm>
            <a:off x="0" y="1302385"/>
            <a:ext cx="10692765" cy="62604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551175"/>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VIEW PRESCRIPTIONS PAGE</a:t>
            </a: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ViewAllPrescriptionsPage"/>
          <p:cNvPicPr>
            <a:picLocks noChangeAspect="1"/>
          </p:cNvPicPr>
          <p:nvPr/>
        </p:nvPicPr>
        <p:blipFill>
          <a:blip r:embed="rId1"/>
          <a:stretch>
            <a:fillRect/>
          </a:stretch>
        </p:blipFill>
        <p:spPr>
          <a:xfrm>
            <a:off x="-635" y="1303020"/>
            <a:ext cx="10694670" cy="625919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REAL-TIME CHAT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LiveChatWithPregnantWoman-UsingWebSockets"/>
          <p:cNvPicPr>
            <a:picLocks noChangeAspect="1"/>
          </p:cNvPicPr>
          <p:nvPr/>
        </p:nvPicPr>
        <p:blipFill>
          <a:blip r:embed="rId1"/>
          <a:stretch>
            <a:fillRect/>
          </a:stretch>
        </p:blipFill>
        <p:spPr>
          <a:xfrm>
            <a:off x="0" y="1085215"/>
            <a:ext cx="10692765" cy="647763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REAL-TIME CHAT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LiveChatWithDoctorPage-UsingWebSockets"/>
          <p:cNvPicPr>
            <a:picLocks noChangeAspect="1"/>
          </p:cNvPicPr>
          <p:nvPr/>
        </p:nvPicPr>
        <p:blipFill>
          <a:blip r:embed="rId1"/>
          <a:stretch>
            <a:fillRect/>
          </a:stretch>
        </p:blipFill>
        <p:spPr>
          <a:xfrm>
            <a:off x="0" y="1099820"/>
            <a:ext cx="10693400" cy="64636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CHATBOT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PregnantWomanChatbot"/>
          <p:cNvPicPr>
            <a:picLocks noChangeAspect="1"/>
          </p:cNvPicPr>
          <p:nvPr/>
        </p:nvPicPr>
        <p:blipFill>
          <a:blip r:embed="rId1"/>
          <a:stretch>
            <a:fillRect/>
          </a:stretch>
        </p:blipFill>
        <p:spPr>
          <a:xfrm>
            <a:off x="635" y="1122045"/>
            <a:ext cx="10692130" cy="64414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DIAGNOSTIC REPORT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DiagnosticReportPage"/>
          <p:cNvPicPr>
            <a:picLocks noChangeAspect="1"/>
          </p:cNvPicPr>
          <p:nvPr/>
        </p:nvPicPr>
        <p:blipFill>
          <a:blip r:embed="rId1"/>
          <a:stretch>
            <a:fillRect/>
          </a:stretch>
        </p:blipFill>
        <p:spPr>
          <a:xfrm>
            <a:off x="635" y="1144905"/>
            <a:ext cx="10692130" cy="64179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DIAGNOSTIC REPORT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DiagnosticReportPage"/>
          <p:cNvPicPr>
            <a:picLocks noChangeAspect="1"/>
          </p:cNvPicPr>
          <p:nvPr/>
        </p:nvPicPr>
        <p:blipFill>
          <a:blip r:embed="rId1"/>
          <a:stretch>
            <a:fillRect/>
          </a:stretch>
        </p:blipFill>
        <p:spPr>
          <a:xfrm>
            <a:off x="635" y="1144905"/>
            <a:ext cx="10692130" cy="64179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IMAGES OF GENERATED REPORT</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Report1"/>
          <p:cNvPicPr>
            <a:picLocks noChangeAspect="1"/>
          </p:cNvPicPr>
          <p:nvPr/>
        </p:nvPicPr>
        <p:blipFill>
          <a:blip r:embed="rId1"/>
          <a:stretch>
            <a:fillRect/>
          </a:stretch>
        </p:blipFill>
        <p:spPr>
          <a:xfrm>
            <a:off x="635" y="1209040"/>
            <a:ext cx="10692765" cy="635381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IMAGES OF GENERATED REPORT</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Report2"/>
          <p:cNvPicPr>
            <a:picLocks noChangeAspect="1"/>
          </p:cNvPicPr>
          <p:nvPr/>
        </p:nvPicPr>
        <p:blipFill>
          <a:blip r:embed="rId1"/>
          <a:stretch>
            <a:fillRect/>
          </a:stretch>
        </p:blipFill>
        <p:spPr>
          <a:xfrm>
            <a:off x="0" y="1185545"/>
            <a:ext cx="10694035" cy="637730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IMAGES OF GENERATED REPORT</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Report3"/>
          <p:cNvPicPr>
            <a:picLocks noChangeAspect="1"/>
          </p:cNvPicPr>
          <p:nvPr/>
        </p:nvPicPr>
        <p:blipFill>
          <a:blip r:embed="rId1"/>
          <a:stretch>
            <a:fillRect/>
          </a:stretch>
        </p:blipFill>
        <p:spPr>
          <a:xfrm>
            <a:off x="635" y="1187450"/>
            <a:ext cx="10692765" cy="63754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ANOMALY VITALS DASHBOARD</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AnomalyVitalsDashboard"/>
          <p:cNvPicPr>
            <a:picLocks noChangeAspect="1"/>
          </p:cNvPicPr>
          <p:nvPr/>
        </p:nvPicPr>
        <p:blipFill>
          <a:blip r:embed="rId1"/>
          <a:stretch>
            <a:fillRect/>
          </a:stretch>
        </p:blipFill>
        <p:spPr>
          <a:xfrm>
            <a:off x="635" y="1083310"/>
            <a:ext cx="10692765" cy="64795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DATA QUERY PAGE</a:t>
            </a: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PatientQueryPage"/>
          <p:cNvPicPr>
            <a:picLocks noChangeAspect="1"/>
          </p:cNvPicPr>
          <p:nvPr/>
        </p:nvPicPr>
        <p:blipFill>
          <a:blip r:embed="rId1"/>
          <a:stretch>
            <a:fillRect/>
          </a:stretch>
        </p:blipFill>
        <p:spPr>
          <a:xfrm>
            <a:off x="0" y="1106170"/>
            <a:ext cx="10693400" cy="645731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222821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SUMMARY PAGE</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PatientSummaryPage"/>
          <p:cNvPicPr>
            <a:picLocks noChangeAspect="1"/>
          </p:cNvPicPr>
          <p:nvPr/>
        </p:nvPicPr>
        <p:blipFill>
          <a:blip r:embed="rId1"/>
          <a:stretch>
            <a:fillRect/>
          </a:stretch>
        </p:blipFill>
        <p:spPr>
          <a:xfrm>
            <a:off x="0" y="1060450"/>
            <a:ext cx="10693400" cy="650176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222821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ANALYTICS PAGE</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PatientHealthAnalytics"/>
          <p:cNvPicPr>
            <a:picLocks noChangeAspect="1"/>
          </p:cNvPicPr>
          <p:nvPr/>
        </p:nvPicPr>
        <p:blipFill>
          <a:blip r:embed="rId1"/>
          <a:stretch>
            <a:fillRect/>
          </a:stretch>
        </p:blipFill>
        <p:spPr>
          <a:xfrm>
            <a:off x="0" y="1080770"/>
            <a:ext cx="10693400" cy="648144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222821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ANALYTICS PAGE</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3" name="Picture 2" descr="Chart1"/>
          <p:cNvPicPr>
            <a:picLocks noChangeAspect="1"/>
          </p:cNvPicPr>
          <p:nvPr/>
        </p:nvPicPr>
        <p:blipFill>
          <a:blip r:embed="rId1"/>
          <a:stretch>
            <a:fillRect/>
          </a:stretch>
        </p:blipFill>
        <p:spPr>
          <a:xfrm>
            <a:off x="635" y="1143635"/>
            <a:ext cx="10692765" cy="641921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05"/>
            <a:ext cx="11030284" cy="222821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PATIENT ANALYTICS PAGE</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4" name="Picture 3" descr="Charts2"/>
          <p:cNvPicPr>
            <a:picLocks noChangeAspect="1"/>
          </p:cNvPicPr>
          <p:nvPr/>
        </p:nvPicPr>
        <p:blipFill>
          <a:blip r:embed="rId1"/>
          <a:stretch>
            <a:fillRect/>
          </a:stretch>
        </p:blipFill>
        <p:spPr>
          <a:xfrm>
            <a:off x="635" y="1204595"/>
            <a:ext cx="10692765" cy="635889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520" y="435610"/>
            <a:ext cx="11030585" cy="1490345"/>
          </a:xfrm>
          <a:prstGeom prst="rect">
            <a:avLst/>
          </a:prstGeom>
        </p:spPr>
        <p:txBody>
          <a:bodyPr vert="horz" wrap="square" lIns="0" tIns="12700" rIns="0" bIns="0" rtlCol="0">
            <a:no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REPORT ON THE XIAOMI SMART BAND 8</a:t>
            </a:r>
            <a:br>
              <a:rPr lang="en-US" sz="4800" spc="-95" dirty="0">
                <a:latin typeface="Times New Roman" panose="02020603050405020304" pitchFamily="18" charset="0"/>
                <a:cs typeface="Times New Roman" panose="02020603050405020304" pitchFamily="18" charset="0"/>
              </a:rPr>
            </a:br>
            <a:br>
              <a:rPr lang="en-US" sz="4800" spc="-95" dirty="0">
                <a:latin typeface="Times New Roman" panose="02020603050405020304" pitchFamily="18" charset="0"/>
                <a:cs typeface="Times New Roman" panose="02020603050405020304" pitchFamily="18" charset="0"/>
              </a:rPr>
            </a:b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 Box 2"/>
          <p:cNvSpPr txBox="1"/>
          <p:nvPr/>
        </p:nvSpPr>
        <p:spPr>
          <a:xfrm>
            <a:off x="-11430" y="1955165"/>
            <a:ext cx="10713085" cy="4154170"/>
          </a:xfrm>
          <a:prstGeom prst="rect">
            <a:avLst/>
          </a:prstGeom>
          <a:noFill/>
        </p:spPr>
        <p:txBody>
          <a:bodyPr wrap="square" rtlCol="0">
            <a:spAutoFit/>
          </a:bodyPr>
          <a:p>
            <a:pPr marL="285750"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Mode of Communication is Bluetooth</a:t>
            </a: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v"/>
            </a:pP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Sensors include:</a:t>
            </a: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v"/>
            </a:pPr>
            <a:endParaRPr lang="en-US" sz="2400">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3-axis accelerometer and 3-axis gyroscope   -       Motion Tracking and Activity Recognition</a:t>
            </a:r>
            <a:endParaRPr lang="en-US" sz="2400">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v"/>
            </a:pPr>
            <a:endParaRPr lang="en-US" sz="2400">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PPG Sensor                             -          Heart Rate and Blood Oxygen Saturation</a:t>
            </a:r>
            <a:endParaRPr lang="en-US" sz="2400">
              <a:latin typeface="Times New Roman" panose="02020603050405020304" pitchFamily="18" charset="0"/>
              <a:cs typeface="Times New Roman" panose="02020603050405020304" pitchFamily="18" charset="0"/>
            </a:endParaRPr>
          </a:p>
          <a:p>
            <a:pPr lvl="1" indent="0">
              <a:buFont typeface="Wingdings" panose="05000000000000000000" charset="0"/>
              <a:buNone/>
            </a:pPr>
            <a:endParaRPr lang="en-US" sz="2400">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v"/>
            </a:pPr>
            <a:endParaRPr lang="en-US" sz="2400">
              <a:latin typeface="Times New Roman" panose="02020603050405020304" pitchFamily="18" charset="0"/>
              <a:cs typeface="Times New Roman" panose="02020603050405020304" pitchFamily="18" charset="0"/>
            </a:endParaRPr>
          </a:p>
          <a:p>
            <a:pPr marL="285750" lvl="0" indent="-285750">
              <a:buFont typeface="Wingdings" panose="05000000000000000000" charset="0"/>
              <a:buChar char="v"/>
            </a:pPr>
            <a:r>
              <a:rPr lang="en-US" sz="2400">
                <a:latin typeface="Times New Roman" panose="02020603050405020304" pitchFamily="18" charset="0"/>
                <a:cs typeface="Times New Roman" panose="02020603050405020304" pitchFamily="18" charset="0"/>
              </a:rPr>
              <a:t>Circuit Is Not Publicly Accessible</a:t>
            </a: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70" y="733662"/>
            <a:ext cx="7707630" cy="923330"/>
          </a:xfrm>
        </p:spPr>
        <p:txBody>
          <a:bodyPr wrap="square" lIns="0" tIns="0" rIns="0" bIns="0" anchor="t">
            <a:spAutoFit/>
          </a:bodyPr>
          <a:lstStyle/>
          <a:p>
            <a:r>
              <a:rPr lang="en-GB" sz="6000">
                <a:latin typeface="Times New Roman" panose="02020603050405020304"/>
                <a:cs typeface="Times New Roman" panose="02020603050405020304"/>
              </a:rPr>
              <a:t>MISCELLANEOUS</a:t>
            </a:r>
            <a:endParaRPr lang="en-US" sz="6000">
              <a:latin typeface="Times New Roman" panose="02020603050405020304"/>
              <a:cs typeface="Times New Roman" panose="02020603050405020304"/>
            </a:endParaRPr>
          </a:p>
        </p:txBody>
      </p:sp>
      <p:sp>
        <p:nvSpPr>
          <p:cNvPr id="3" name="Text Placeholder 2"/>
          <p:cNvSpPr>
            <a:spLocks noGrp="1"/>
          </p:cNvSpPr>
          <p:nvPr>
            <p:ph type="body" idx="1"/>
          </p:nvPr>
        </p:nvSpPr>
        <p:spPr>
          <a:xfrm>
            <a:off x="393700" y="3009970"/>
            <a:ext cx="10363200" cy="2477601"/>
          </a:xfrm>
        </p:spPr>
        <p:txBody>
          <a:bodyPr/>
          <a:lstStyle/>
          <a:p>
            <a:r>
              <a:rPr lang="en-GB" sz="2600"/>
              <a:t>           </a:t>
            </a:r>
            <a:r>
              <a:rPr lang="en-GB" sz="8000" b="1"/>
              <a:t> </a:t>
            </a:r>
            <a:endParaRPr lang="en-GB" sz="8000" b="1"/>
          </a:p>
          <a:p>
            <a:pPr algn="ctr"/>
            <a:r>
              <a:rPr lang="en-GB" sz="5500" b="1">
                <a:latin typeface="Times New Roman" panose="02020603050405020304" pitchFamily="18" charset="0"/>
                <a:cs typeface="Times New Roman" panose="02020603050405020304" pitchFamily="18" charset="0"/>
              </a:rPr>
              <a:t>QUESTIONS/FEEDBACK</a:t>
            </a:r>
            <a:endParaRPr lang="en-GB" sz="55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10161</Words>
  <Application>WPS Slides</Application>
  <PresentationFormat>Custom</PresentationFormat>
  <Paragraphs>1461</Paragraphs>
  <Slides>42</Slides>
  <Notes>7</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42</vt:i4>
      </vt:variant>
    </vt:vector>
  </HeadingPairs>
  <TitlesOfParts>
    <vt:vector size="63" baseType="lpstr">
      <vt:lpstr>Arial</vt:lpstr>
      <vt:lpstr>SimSun</vt:lpstr>
      <vt:lpstr>Wingdings</vt:lpstr>
      <vt:lpstr>Arial</vt:lpstr>
      <vt:lpstr>Times New Roman</vt:lpstr>
      <vt:lpstr>Lora</vt:lpstr>
      <vt:lpstr>Segoe Print</vt:lpstr>
      <vt:lpstr>Times New Roman</vt:lpstr>
      <vt:lpstr>Inter</vt:lpstr>
      <vt:lpstr>Inter</vt:lpstr>
      <vt:lpstr>Wingdings,Sans-Serif</vt:lpstr>
      <vt:lpstr>Wingdings 3</vt:lpstr>
      <vt:lpstr>Calibri</vt:lpstr>
      <vt:lpstr>Microsoft YaHei</vt:lpstr>
      <vt:lpstr>Arial Unicode MS</vt:lpstr>
      <vt:lpstr>Aptos</vt:lpstr>
      <vt:lpstr>Segoe UI</vt:lpstr>
      <vt:lpstr>Tahoma</vt:lpstr>
      <vt:lpstr>Calibri</vt:lpstr>
      <vt:lpstr>Wingdings</vt:lpstr>
      <vt:lpstr>Office Theme</vt:lpstr>
      <vt:lpstr>DEVELOPMENT OF INTEGRATED WEARABLE DEVICE FOR REMOTE MONITORING OF PREGNANT WOMEN IN GHANA</vt:lpstr>
      <vt:lpstr>COLLABORATORS</vt:lpstr>
      <vt:lpstr>TASK DELEGATION</vt:lpstr>
      <vt:lpstr>PROGRESS SUMMARY</vt:lpstr>
      <vt:lpstr>AI MODEL PROGRESS </vt:lpstr>
      <vt:lpstr>DATASET OVERVIEW</vt:lpstr>
      <vt:lpstr>FEATURES</vt:lpstr>
      <vt:lpstr>DATASET OVERVIEW</vt:lpstr>
      <vt:lpstr>FEATURES</vt:lpstr>
      <vt:lpstr>DATASET OVERVIEW</vt:lpstr>
      <vt:lpstr>FEATURES</vt:lpstr>
      <vt:lpstr>DATA PREPROCESSING</vt:lpstr>
      <vt:lpstr>MODEL SELECTION</vt:lpstr>
      <vt:lpstr>TIME TAKEN (S)</vt:lpstr>
      <vt:lpstr>MODEL SELECTION</vt:lpstr>
      <vt:lpstr>TIME TAKEN (S)</vt:lpstr>
      <vt:lpstr>MODEL SELECTION</vt:lpstr>
      <vt:lpstr>TIME TAKEN (S)</vt:lpstr>
      <vt:lpstr>BRIEF DESCRIPTION OF MODELS</vt:lpstr>
      <vt:lpstr>MACHINE LEARNING WORKFLOW</vt:lpstr>
      <vt:lpstr>RESULTS</vt:lpstr>
      <vt:lpstr>RESULTS</vt:lpstr>
      <vt:lpstr>RESULTS</vt:lpstr>
      <vt:lpstr>LIMITATIONS</vt:lpstr>
      <vt:lpstr>MOBILE APP USE CASE DIAGRAM</vt:lpstr>
      <vt:lpstr>CREATE PRESCRIPTION PAGE</vt:lpstr>
      <vt:lpstr>VIEW PRESCRIPTIONS PAGE</vt:lpstr>
      <vt:lpstr>REAL-TIME CHAT </vt:lpstr>
      <vt:lpstr>REAL-TIME CHAT </vt:lpstr>
      <vt:lpstr>CHATBOT PAGE </vt:lpstr>
      <vt:lpstr>DIAGNOSTIC REPORT PAGE </vt:lpstr>
      <vt:lpstr>DIAGNOSTIC REPORT PAGE </vt:lpstr>
      <vt:lpstr>IMAGES OF GENERATED REPORT </vt:lpstr>
      <vt:lpstr>IMAGES OF GENERATED REPORT </vt:lpstr>
      <vt:lpstr>IMAGES OF GENERATED REPORT </vt:lpstr>
      <vt:lpstr>ANOMALY VITALS DASHBOARD </vt:lpstr>
      <vt:lpstr>ANOMALY VITALS DASHBOARD </vt:lpstr>
      <vt:lpstr>PATIENT SUMMARY PAGE  </vt:lpstr>
      <vt:lpstr>PATIENT ANALYTICS PAGE  </vt:lpstr>
      <vt:lpstr>PATIENT ANALYTICS PAGE  </vt:lpstr>
      <vt:lpstr>PATIENT ANALYTICS PAGE  </vt:lpstr>
      <vt:lpstr>MISCELLANEOUS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 Powerpoint template</dc:title>
  <dc:creator>Graham</dc:creator>
  <cp:lastModifiedBy>Nathaniel Adika</cp:lastModifiedBy>
  <cp:revision>860</cp:revision>
  <dcterms:created xsi:type="dcterms:W3CDTF">2021-02-07T15:10:00Z</dcterms:created>
  <dcterms:modified xsi:type="dcterms:W3CDTF">2025-04-24T23:41:05Z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2014-10-30T00:00:00Z</vt:filetime>
  </property>
  <property fmtid="{D5CDD505-2E9C-101B-9397-08002B2CF9AE}" pid="3" name="Creator">
    <vt:lpwstr>CorelDRAW</vt:lpwstr>
  </property>
  <property fmtid="{D5CDD505-2E9C-101B-9397-08002B2CF9AE}" pid="4" name="LastSaved">
    <vt:filetime>2021-02-07T00:00:00Z</vt:filetime>
  </property>
  <property fmtid="{D5CDD505-2E9C-101B-9397-08002B2CF9AE}" pid="5" name="ICV">
    <vt:lpwstr>DB45B0C368174A36B39B594405FE59E7_12</vt:lpwstr>
  </property>
  <property fmtid="{D5CDD505-2E9C-101B-9397-08002B2CF9AE}" pid="6" name="KSOProductBuildVer">
    <vt:lpwstr>1033-12.2.0.20795</vt:lpwstr>
  </property>
</Properties>
</file>
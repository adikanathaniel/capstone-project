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19.xml" ContentType="application/vnd.openxmlformats-officedocument.presentationml.comments+xml"/>
  <Override PartName="/ppt/comments/comment2.xml" ContentType="application/vnd.openxmlformats-officedocument.presentationml.comments+xml"/>
  <Override PartName="/ppt/comments/comment20.xml" ContentType="application/vnd.openxmlformats-officedocument.presentationml.comments+xml"/>
  <Override PartName="/ppt/comments/comment21.xml" ContentType="application/vnd.openxmlformats-officedocument.presentationml.comments+xml"/>
  <Override PartName="/ppt/comments/comment2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491" r:id="rId3"/>
    <p:sldId id="550" r:id="rId4"/>
    <p:sldId id="440" r:id="rId5"/>
    <p:sldId id="459" r:id="rId6"/>
    <p:sldId id="528" r:id="rId7"/>
    <p:sldId id="492" r:id="rId8"/>
    <p:sldId id="444" r:id="rId9"/>
    <p:sldId id="460" r:id="rId10"/>
    <p:sldId id="443" r:id="rId11"/>
    <p:sldId id="525" r:id="rId12"/>
    <p:sldId id="529" r:id="rId13"/>
    <p:sldId id="530" r:id="rId14"/>
    <p:sldId id="531" r:id="rId15"/>
    <p:sldId id="535" r:id="rId16"/>
    <p:sldId id="532" r:id="rId17"/>
    <p:sldId id="533" r:id="rId18"/>
    <p:sldId id="534" r:id="rId19"/>
    <p:sldId id="547" r:id="rId20"/>
    <p:sldId id="536" r:id="rId21"/>
    <p:sldId id="537" r:id="rId22"/>
    <p:sldId id="538" r:id="rId23"/>
    <p:sldId id="539" r:id="rId24"/>
    <p:sldId id="540" r:id="rId25"/>
    <p:sldId id="541" r:id="rId26"/>
    <p:sldId id="542" r:id="rId27"/>
    <p:sldId id="543" r:id="rId28"/>
    <p:sldId id="544" r:id="rId29"/>
    <p:sldId id="545" r:id="rId30"/>
    <p:sldId id="546" r:id="rId31"/>
    <p:sldId id="548" r:id="rId32"/>
    <p:sldId id="549" r:id="rId33"/>
    <p:sldId id="301" r:id="rId34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ard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8" d="100"/>
          <a:sy n="58" d="100"/>
        </p:scale>
        <p:origin x="1464" y="54"/>
      </p:cViewPr>
      <p:guideLst>
        <p:guide orient="horz" pos="2862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2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2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2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880FF-4FCB-42DC-B8CA-5F43E197EBE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1F1E3-D0FF-4924-8EFC-E0C5A02E169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326390"/>
          </a:xfrm>
          <a:custGeom>
            <a:avLst/>
            <a:gdLst/>
            <a:ahLst/>
            <a:cxnLst/>
            <a:rect l="l" t="t" r="r" b="b"/>
            <a:pathLst>
              <a:path w="10692130" h="326390">
                <a:moveTo>
                  <a:pt x="0" y="326134"/>
                </a:moveTo>
                <a:lnTo>
                  <a:pt x="10692000" y="326134"/>
                </a:lnTo>
                <a:lnTo>
                  <a:pt x="10692000" y="0"/>
                </a:lnTo>
                <a:lnTo>
                  <a:pt x="0" y="0"/>
                </a:lnTo>
                <a:lnTo>
                  <a:pt x="0" y="326134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874768"/>
            <a:ext cx="10692130" cy="5685790"/>
          </a:xfrm>
          <a:custGeom>
            <a:avLst/>
            <a:gdLst/>
            <a:ahLst/>
            <a:cxnLst/>
            <a:rect l="l" t="t" r="r" b="b"/>
            <a:pathLst>
              <a:path w="10692130" h="5685790">
                <a:moveTo>
                  <a:pt x="10691990" y="108064"/>
                </a:moveTo>
                <a:lnTo>
                  <a:pt x="0" y="108064"/>
                </a:lnTo>
                <a:lnTo>
                  <a:pt x="0" y="5685231"/>
                </a:lnTo>
                <a:lnTo>
                  <a:pt x="10691990" y="5685231"/>
                </a:lnTo>
                <a:lnTo>
                  <a:pt x="10691990" y="108064"/>
                </a:lnTo>
                <a:close/>
              </a:path>
              <a:path w="10692130" h="5685790">
                <a:moveTo>
                  <a:pt x="10691990" y="0"/>
                </a:moveTo>
                <a:lnTo>
                  <a:pt x="0" y="0"/>
                </a:lnTo>
                <a:lnTo>
                  <a:pt x="0" y="3683"/>
                </a:lnTo>
                <a:lnTo>
                  <a:pt x="10691990" y="3683"/>
                </a:lnTo>
                <a:lnTo>
                  <a:pt x="10691990" y="0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430513"/>
            <a:ext cx="10692130" cy="1444625"/>
          </a:xfrm>
          <a:custGeom>
            <a:avLst/>
            <a:gdLst/>
            <a:ahLst/>
            <a:cxnLst/>
            <a:rect l="l" t="t" r="r" b="b"/>
            <a:pathLst>
              <a:path w="10692130" h="1444625">
                <a:moveTo>
                  <a:pt x="10692000" y="0"/>
                </a:moveTo>
                <a:lnTo>
                  <a:pt x="0" y="0"/>
                </a:lnTo>
                <a:lnTo>
                  <a:pt x="0" y="1444251"/>
                </a:lnTo>
                <a:lnTo>
                  <a:pt x="10692000" y="1444251"/>
                </a:lnTo>
                <a:lnTo>
                  <a:pt x="10692000" y="0"/>
                </a:lnTo>
                <a:close/>
              </a:path>
            </a:pathLst>
          </a:custGeom>
          <a:solidFill>
            <a:srgbClr val="282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326142"/>
            <a:ext cx="10692130" cy="1656714"/>
          </a:xfrm>
          <a:custGeom>
            <a:avLst/>
            <a:gdLst/>
            <a:ahLst/>
            <a:cxnLst/>
            <a:rect l="l" t="t" r="r" b="b"/>
            <a:pathLst>
              <a:path w="10692130" h="1656714">
                <a:moveTo>
                  <a:pt x="10691990" y="1552308"/>
                </a:moveTo>
                <a:lnTo>
                  <a:pt x="0" y="1552308"/>
                </a:lnTo>
                <a:lnTo>
                  <a:pt x="0" y="1656689"/>
                </a:lnTo>
                <a:lnTo>
                  <a:pt x="10691990" y="1656689"/>
                </a:lnTo>
                <a:lnTo>
                  <a:pt x="10691990" y="1552308"/>
                </a:lnTo>
                <a:close/>
              </a:path>
              <a:path w="10692130" h="1656714">
                <a:moveTo>
                  <a:pt x="10691990" y="0"/>
                </a:moveTo>
                <a:lnTo>
                  <a:pt x="0" y="0"/>
                </a:lnTo>
                <a:lnTo>
                  <a:pt x="0" y="104381"/>
                </a:lnTo>
                <a:lnTo>
                  <a:pt x="10691990" y="104381"/>
                </a:lnTo>
                <a:lnTo>
                  <a:pt x="10691990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6001" y="922297"/>
            <a:ext cx="114139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WITH BMC CEO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845566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Lora"/>
              </a:rPr>
              <a:t>DEVELOPMENT OF INTEGRATED WEARABLE DEVICE FOR REMOTE MONITORING OF PREGNANT WOMEN IN GHANA</a:t>
            </a:r>
            <a:endParaRPr lang="en-US" sz="4000" b="1" spc="-5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</a:t>
            </a:r>
            <a:r>
              <a:rPr lang="en-US" sz="3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1st June 2025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PROGRESS 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1956096"/>
            <a:ext cx="871514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 OBJECTIVES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 separate models for detecting preeclampsia, and gestational diabetes.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real-world medical datasets to analyze health indicators.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structured machine learning pipeline from preprocessing to evaluation.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different models to find the best-performing approach for each condition.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613746"/>
            <a:ext cx="1086184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 preeclampsia_dataset.csv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Manually generated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Samples: 10,000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Input Features: 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States: Low, mild or High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Dataset of 10,000 records generated to predict preeclampsia risk (Low, Mild, High) based on diastolic pressure, systolic pressure, MAP and urine protein levels, with added noise to simulate real-world variability.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80902" y="2038567"/>
            <a:ext cx="699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PREECLAMPSIA</a:t>
            </a:r>
            <a:endParaRPr lang="en-US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613746"/>
            <a:ext cx="108618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Systolic blood pressure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Diastolic blood pressure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in urine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0902" y="2038567"/>
            <a:ext cx="699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PREECLAMPSIA</a:t>
            </a:r>
            <a:endParaRPr lang="en-US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0902" y="2038567"/>
            <a:ext cx="699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PREECLAMPSIA</a:t>
            </a:r>
            <a:endParaRPr lang="en-US" sz="24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92" y="2613747"/>
            <a:ext cx="9609512" cy="41642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DESCRIPTION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613746"/>
            <a:ext cx="1086184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ACOG Practice Bulletin No. 222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Gestational Hypertension and Preeclampsia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NICE_guidance_on-Pre-eclampsia_VB2020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UpToDate: Clinical features and diagnosis of preeclampsia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 Guidelines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WHO Recommendations for Prevention and Treatment of Preeclampsia and Eclampsia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0902" y="2038567"/>
            <a:ext cx="699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PREECLAMPSIA</a:t>
            </a:r>
            <a:endParaRPr lang="en-US" sz="2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5966" y="2640603"/>
            <a:ext cx="106934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 Gestational Diabetes 3.csv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Manually generated 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Samples: 10,000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Input Features: 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States: Low, mild or high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0902" y="2038567"/>
            <a:ext cx="699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GESTATIONAL DIABETES</a:t>
            </a:r>
            <a:endParaRPr lang="en-US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5966" y="2640603"/>
            <a:ext cx="10693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Glucose level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history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Temperature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0902" y="2038567"/>
            <a:ext cx="699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GESTATIONAL DIABETES</a:t>
            </a:r>
            <a:endParaRPr lang="en-US" sz="2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WORKFLOW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8" name="Picture 7" descr="A diagram of a flowchart&#10;&#10;AI-generated content may be incorrect.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2733"/>
            <a:ext cx="10693400" cy="58201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PROGRESS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788797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backend functionality for SMS Notifications for: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 Reminders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Antenatal Visit Reminder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Pregnancy Tips Based on Subsription or Not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>
              <a:buFont typeface="Arial" panose="020B0604020202020204" pitchFamily="34" charset="0"/>
              <a:buNone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>
              <a:buFont typeface="Arial" panose="020B0604020202020204" pitchFamily="34" charset="0"/>
              <a:buNone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  Implemention other layers of authentication and security measures using facial   	recognition and PINs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FacialLog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334135"/>
            <a:ext cx="10692765" cy="6229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RegisterFacialLog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4770"/>
            <a:ext cx="10693400" cy="6228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PinLog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5405"/>
            <a:ext cx="10693400" cy="62274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UserSetting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335405"/>
            <a:ext cx="10692765" cy="62268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EmergencyAle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4770"/>
            <a:ext cx="10694035" cy="62274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AllNotification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271270"/>
            <a:ext cx="10692765" cy="62915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MedicsDirecto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335405"/>
            <a:ext cx="10692130" cy="62274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222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EmergencyContactManagem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" y="1273810"/>
            <a:ext cx="10691495" cy="6289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SMS_Notifcation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3100" y="1189990"/>
            <a:ext cx="4635500" cy="63728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SMS_Notification_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315" y="1222375"/>
            <a:ext cx="4466590" cy="62210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SMS_Notification_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0430" y="1237615"/>
            <a:ext cx="3811905" cy="63258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SMS_Notification_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3090" y="1212215"/>
            <a:ext cx="442722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5" name="Picture 4" descr="SMS_Notification_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8030" y="1205230"/>
            <a:ext cx="3825875" cy="63576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SMS_Notification_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700" y="1204595"/>
            <a:ext cx="5334000" cy="63576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SMS_Notification_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675" y="1335405"/>
            <a:ext cx="4394835" cy="62274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MEDICS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CreatingMedicProfi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99210"/>
            <a:ext cx="10692765" cy="62636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MEDICS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SMS_Notification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3940" y="1293495"/>
            <a:ext cx="3524885" cy="62687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MEDICS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SMS_Notification_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1705" y="1211580"/>
            <a:ext cx="3729990" cy="63506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222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AdminNotificationManagem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18260"/>
            <a:ext cx="10596880" cy="62452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222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5" name="Picture 4" descr="AdminSupportSetting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320800"/>
            <a:ext cx="10692765" cy="62420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222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SMS_Notification_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0390" y="1277620"/>
            <a:ext cx="4452620" cy="628586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0" y="733662"/>
            <a:ext cx="7707630" cy="92333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6000">
                <a:latin typeface="Times New Roman" panose="02020603050405020304"/>
                <a:cs typeface="Times New Roman" panose="02020603050405020304"/>
              </a:rPr>
              <a:t>MISCELLANEOUS</a:t>
            </a:r>
            <a:endParaRPr lang="en-US"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700" y="3009970"/>
            <a:ext cx="10363200" cy="2477601"/>
          </a:xfrm>
        </p:spPr>
        <p:txBody>
          <a:bodyPr/>
          <a:lstStyle/>
          <a:p>
            <a:r>
              <a:rPr lang="en-GB" sz="2600"/>
              <a:t>           </a:t>
            </a:r>
            <a:r>
              <a:rPr lang="en-GB" sz="8000" b="1"/>
              <a:t> </a:t>
            </a:r>
            <a:endParaRPr lang="en-GB" sz="8000" b="1"/>
          </a:p>
          <a:p>
            <a:pPr algn="ctr"/>
            <a:r>
              <a:rPr lang="en-GB" sz="5500" b="1">
                <a:latin typeface="Times New Roman" panose="02020603050405020304" pitchFamily="18" charset="0"/>
                <a:cs typeface="Times New Roman" panose="02020603050405020304" pitchFamily="18" charset="0"/>
              </a:rPr>
              <a:t>QUESTIONS/FEEDBACK</a:t>
            </a:r>
            <a:endParaRPr lang="en-GB" sz="5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3873</Words>
  <Application>WPS Presentation</Application>
  <PresentationFormat>Custom</PresentationFormat>
  <Paragraphs>643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8" baseType="lpstr">
      <vt:lpstr>Arial</vt:lpstr>
      <vt:lpstr>SimSun</vt:lpstr>
      <vt:lpstr>Wingdings</vt:lpstr>
      <vt:lpstr>Arial</vt:lpstr>
      <vt:lpstr>Times New Roman</vt:lpstr>
      <vt:lpstr>Wingdings,Sans-Serif</vt:lpstr>
      <vt:lpstr>Wingdings 3</vt:lpstr>
      <vt:lpstr>Times New Roman</vt:lpstr>
      <vt:lpstr>Lora</vt:lpstr>
      <vt:lpstr>Calibri</vt:lpstr>
      <vt:lpstr>Microsoft YaHei</vt:lpstr>
      <vt:lpstr>Arial Unicode MS</vt:lpstr>
      <vt:lpstr>Aptos</vt:lpstr>
      <vt:lpstr>Segoe UI</vt:lpstr>
      <vt:lpstr>Segoe Print</vt:lpstr>
      <vt:lpstr>Office Theme</vt:lpstr>
      <vt:lpstr>INTERACTION WITH BMC CEO</vt:lpstr>
      <vt:lpstr>AI MODEL PROGRESS </vt:lpstr>
      <vt:lpstr>DATASET OVERVIEW</vt:lpstr>
      <vt:lpstr>FEATURES</vt:lpstr>
      <vt:lpstr>FEATURES</vt:lpstr>
      <vt:lpstr>THRESHOLD DESCRIPTION</vt:lpstr>
      <vt:lpstr>DATASET OVERVIEW</vt:lpstr>
      <vt:lpstr>FEATURES</vt:lpstr>
      <vt:lpstr>MACHINE LEARNING WORKFLOW</vt:lpstr>
      <vt:lpstr>MOBILE APP PROGRESS</vt:lpstr>
      <vt:lpstr>PREGNANT WOMAN</vt:lpstr>
      <vt:lpstr>PREGNANT WOMAN</vt:lpstr>
      <vt:lpstr>PREGNANT WOMAN</vt:lpstr>
      <vt:lpstr>PREGNANT WOMAN</vt:lpstr>
      <vt:lpstr>PREGNANT WOMAN</vt:lpstr>
      <vt:lpstr>PREGNANT WOMAN</vt:lpstr>
      <vt:lpstr>PREGNANT WOMAN</vt:lpstr>
      <vt:lpstr>PREGNANT WOMAN  </vt:lpstr>
      <vt:lpstr>PREGNANT WOMAN</vt:lpstr>
      <vt:lpstr>PREGNANT WOMAN</vt:lpstr>
      <vt:lpstr>PREGNANT WOMAN</vt:lpstr>
      <vt:lpstr>PREGNANT WOMAN</vt:lpstr>
      <vt:lpstr>PREGNANT WOMAN</vt:lpstr>
      <vt:lpstr>PREGNANT WOMAN</vt:lpstr>
      <vt:lpstr>PREGNANT WOMAN</vt:lpstr>
      <vt:lpstr>MEDICS </vt:lpstr>
      <vt:lpstr>MEDICS </vt:lpstr>
      <vt:lpstr>MEDICS </vt:lpstr>
      <vt:lpstr>ADMIN  </vt:lpstr>
      <vt:lpstr>ADMIN  </vt:lpstr>
      <vt:lpstr>ADMIN  </vt:lpstr>
      <vt:lpstr>MISCELLANEOUS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 Powerpoint template</dc:title>
  <dc:creator>Graham</dc:creator>
  <cp:lastModifiedBy>Richard</cp:lastModifiedBy>
  <cp:revision>877</cp:revision>
  <dcterms:created xsi:type="dcterms:W3CDTF">2021-02-07T15:10:00Z</dcterms:created>
  <dcterms:modified xsi:type="dcterms:W3CDTF">2025-06-25T13:26:47Z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2014-10-29T22:00:00Z</vt:filetime>
  </property>
  <property fmtid="{D5CDD505-2E9C-101B-9397-08002B2CF9AE}" pid="3" name="Creator">
    <vt:lpwstr>CorelDRAW</vt:lpwstr>
  </property>
  <property fmtid="{D5CDD505-2E9C-101B-9397-08002B2CF9AE}" pid="4" name="LastSaved">
    <vt:filetime>2021-02-06T22:00:00Z</vt:filetime>
  </property>
  <property fmtid="{D5CDD505-2E9C-101B-9397-08002B2CF9AE}" pid="5" name="ICV">
    <vt:lpwstr>9B9D5F307F8C472689703D394E53C0BB_13</vt:lpwstr>
  </property>
  <property fmtid="{D5CDD505-2E9C-101B-9397-08002B2CF9AE}" pid="6" name="KSOProductBuildVer">
    <vt:lpwstr>1033-12.2.0.21546</vt:lpwstr>
  </property>
</Properties>
</file>
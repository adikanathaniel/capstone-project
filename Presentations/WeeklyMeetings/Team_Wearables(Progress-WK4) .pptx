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3"/>
    <p:sldId id="359" r:id="rId4"/>
    <p:sldId id="417" r:id="rId5"/>
    <p:sldId id="491" r:id="rId6"/>
    <p:sldId id="440" r:id="rId7"/>
    <p:sldId id="459" r:id="rId8"/>
    <p:sldId id="492" r:id="rId9"/>
    <p:sldId id="444" r:id="rId10"/>
    <p:sldId id="460" r:id="rId11"/>
    <p:sldId id="445" r:id="rId12"/>
    <p:sldId id="442" r:id="rId13"/>
    <p:sldId id="463" r:id="rId14"/>
    <p:sldId id="450" r:id="rId15"/>
    <p:sldId id="454" r:id="rId16"/>
    <p:sldId id="443" r:id="rId17"/>
    <p:sldId id="525" r:id="rId18"/>
    <p:sldId id="488" r:id="rId19"/>
    <p:sldId id="493" r:id="rId20"/>
    <p:sldId id="494" r:id="rId21"/>
    <p:sldId id="495" r:id="rId22"/>
    <p:sldId id="496" r:id="rId23"/>
    <p:sldId id="497" r:id="rId24"/>
    <p:sldId id="498" r:id="rId25"/>
    <p:sldId id="499" r:id="rId26"/>
    <p:sldId id="500" r:id="rId27"/>
    <p:sldId id="501" r:id="rId28"/>
    <p:sldId id="502" r:id="rId29"/>
    <p:sldId id="503" r:id="rId30"/>
    <p:sldId id="504" r:id="rId31"/>
    <p:sldId id="505" r:id="rId32"/>
    <p:sldId id="506" r:id="rId33"/>
    <p:sldId id="507" r:id="rId34"/>
    <p:sldId id="508" r:id="rId35"/>
    <p:sldId id="509" r:id="rId36"/>
    <p:sldId id="510" r:id="rId37"/>
    <p:sldId id="511" r:id="rId38"/>
    <p:sldId id="512" r:id="rId39"/>
    <p:sldId id="513" r:id="rId40"/>
    <p:sldId id="514" r:id="rId41"/>
    <p:sldId id="515" r:id="rId42"/>
    <p:sldId id="516" r:id="rId43"/>
    <p:sldId id="517" r:id="rId44"/>
    <p:sldId id="518" r:id="rId45"/>
    <p:sldId id="519" r:id="rId46"/>
    <p:sldId id="522" r:id="rId47"/>
    <p:sldId id="521" r:id="rId48"/>
    <p:sldId id="523" r:id="rId49"/>
    <p:sldId id="524" r:id="rId50"/>
    <p:sldId id="526" r:id="rId51"/>
    <p:sldId id="527" r:id="rId52"/>
    <p:sldId id="489" r:id="rId53"/>
    <p:sldId id="301" r:id="rId54"/>
  </p:sldIdLst>
  <p:sldSz cx="10693400" cy="7562850"/>
  <p:notesSz cx="10693400" cy="75628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62" userDrawn="1">
          <p15:clr>
            <a:srgbClr val="A4A3A4"/>
          </p15:clr>
        </p15:guide>
        <p15:guide id="2" pos="21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chard" initials="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8" d="100"/>
          <a:sy n="58" d="100"/>
        </p:scale>
        <p:origin x="1464" y="84"/>
      </p:cViewPr>
      <p:guideLst>
        <p:guide orient="horz" pos="2862"/>
        <p:guide pos="216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notesMaster" Target="notesMasters/notesMaster1.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16T05:52:25.212" idx="1">
    <p:pos x="6746" y="1223"/>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702880FF-4FCB-42DC-B8CA-5F43E197EBE2}" type="datetimeFigureOut">
              <a:rPr lang="en-US" smtClean="0"/>
            </a:fld>
            <a:endParaRPr lang="en-US"/>
          </a:p>
        </p:txBody>
      </p:sp>
      <p:sp>
        <p:nvSpPr>
          <p:cNvPr id="4" name="Slide Image Placeholder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C5C1F1E3-D0FF-4924-8EFC-E0C5A02E169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0692130" cy="326390"/>
          </a:xfrm>
          <a:custGeom>
            <a:avLst/>
            <a:gdLst/>
            <a:ahLst/>
            <a:cxnLst/>
            <a:rect l="l" t="t" r="r" b="b"/>
            <a:pathLst>
              <a:path w="10692130" h="326390">
                <a:moveTo>
                  <a:pt x="0" y="326134"/>
                </a:moveTo>
                <a:lnTo>
                  <a:pt x="10692000" y="326134"/>
                </a:lnTo>
                <a:lnTo>
                  <a:pt x="10692000" y="0"/>
                </a:lnTo>
                <a:lnTo>
                  <a:pt x="0" y="0"/>
                </a:lnTo>
                <a:lnTo>
                  <a:pt x="0" y="326134"/>
                </a:lnTo>
                <a:close/>
              </a:path>
            </a:pathLst>
          </a:custGeom>
          <a:solidFill>
            <a:srgbClr val="EEEDF6"/>
          </a:solidFill>
        </p:spPr>
        <p:txBody>
          <a:bodyPr wrap="square" lIns="0" tIns="0" rIns="0" bIns="0" rtlCol="0"/>
          <a:lstStyle/>
          <a:p/>
        </p:txBody>
      </p:sp>
      <p:sp>
        <p:nvSpPr>
          <p:cNvPr id="17" name="bg object 17"/>
          <p:cNvSpPr/>
          <p:nvPr/>
        </p:nvSpPr>
        <p:spPr>
          <a:xfrm>
            <a:off x="0" y="1874768"/>
            <a:ext cx="10692130" cy="5685790"/>
          </a:xfrm>
          <a:custGeom>
            <a:avLst/>
            <a:gdLst/>
            <a:ahLst/>
            <a:cxnLst/>
            <a:rect l="l" t="t" r="r" b="b"/>
            <a:pathLst>
              <a:path w="10692130" h="5685790">
                <a:moveTo>
                  <a:pt x="10691990" y="108064"/>
                </a:moveTo>
                <a:lnTo>
                  <a:pt x="0" y="108064"/>
                </a:lnTo>
                <a:lnTo>
                  <a:pt x="0" y="5685231"/>
                </a:lnTo>
                <a:lnTo>
                  <a:pt x="10691990" y="5685231"/>
                </a:lnTo>
                <a:lnTo>
                  <a:pt x="10691990" y="108064"/>
                </a:lnTo>
                <a:close/>
              </a:path>
              <a:path w="10692130" h="5685790">
                <a:moveTo>
                  <a:pt x="10691990" y="0"/>
                </a:moveTo>
                <a:lnTo>
                  <a:pt x="0" y="0"/>
                </a:lnTo>
                <a:lnTo>
                  <a:pt x="0" y="3683"/>
                </a:lnTo>
                <a:lnTo>
                  <a:pt x="10691990" y="3683"/>
                </a:lnTo>
                <a:lnTo>
                  <a:pt x="10691990" y="0"/>
                </a:lnTo>
                <a:close/>
              </a:path>
            </a:pathLst>
          </a:custGeom>
          <a:solidFill>
            <a:srgbClr val="EEEDF6"/>
          </a:solidFill>
        </p:spPr>
        <p:txBody>
          <a:bodyPr wrap="square" lIns="0" tIns="0" rIns="0" bIns="0" rtlCol="0"/>
          <a:lstStyle/>
          <a:p/>
        </p:txBody>
      </p:sp>
      <p:sp>
        <p:nvSpPr>
          <p:cNvPr id="18" name="bg object 18"/>
          <p:cNvSpPr/>
          <p:nvPr/>
        </p:nvSpPr>
        <p:spPr>
          <a:xfrm>
            <a:off x="0" y="430513"/>
            <a:ext cx="10692130" cy="1444625"/>
          </a:xfrm>
          <a:custGeom>
            <a:avLst/>
            <a:gdLst/>
            <a:ahLst/>
            <a:cxnLst/>
            <a:rect l="l" t="t" r="r" b="b"/>
            <a:pathLst>
              <a:path w="10692130" h="1444625">
                <a:moveTo>
                  <a:pt x="10692000" y="0"/>
                </a:moveTo>
                <a:lnTo>
                  <a:pt x="0" y="0"/>
                </a:lnTo>
                <a:lnTo>
                  <a:pt x="0" y="1444251"/>
                </a:lnTo>
                <a:lnTo>
                  <a:pt x="10692000" y="1444251"/>
                </a:lnTo>
                <a:lnTo>
                  <a:pt x="10692000" y="0"/>
                </a:lnTo>
                <a:close/>
              </a:path>
            </a:pathLst>
          </a:custGeom>
          <a:solidFill>
            <a:srgbClr val="282781"/>
          </a:solidFill>
        </p:spPr>
        <p:txBody>
          <a:bodyPr wrap="square" lIns="0" tIns="0" rIns="0" bIns="0" rtlCol="0"/>
          <a:lstStyle/>
          <a:p/>
        </p:txBody>
      </p:sp>
      <p:sp>
        <p:nvSpPr>
          <p:cNvPr id="19" name="bg object 19"/>
          <p:cNvSpPr/>
          <p:nvPr/>
        </p:nvSpPr>
        <p:spPr>
          <a:xfrm>
            <a:off x="0" y="326142"/>
            <a:ext cx="10692130" cy="1656714"/>
          </a:xfrm>
          <a:custGeom>
            <a:avLst/>
            <a:gdLst/>
            <a:ahLst/>
            <a:cxnLst/>
            <a:rect l="l" t="t" r="r" b="b"/>
            <a:pathLst>
              <a:path w="10692130" h="1656714">
                <a:moveTo>
                  <a:pt x="10691990" y="1552308"/>
                </a:moveTo>
                <a:lnTo>
                  <a:pt x="0" y="1552308"/>
                </a:lnTo>
                <a:lnTo>
                  <a:pt x="0" y="1656689"/>
                </a:lnTo>
                <a:lnTo>
                  <a:pt x="10691990" y="1656689"/>
                </a:lnTo>
                <a:lnTo>
                  <a:pt x="10691990" y="1552308"/>
                </a:lnTo>
                <a:close/>
              </a:path>
              <a:path w="10692130" h="1656714">
                <a:moveTo>
                  <a:pt x="10691990" y="0"/>
                </a:moveTo>
                <a:lnTo>
                  <a:pt x="0" y="0"/>
                </a:lnTo>
                <a:lnTo>
                  <a:pt x="0" y="104381"/>
                </a:lnTo>
                <a:lnTo>
                  <a:pt x="10691990" y="104381"/>
                </a:lnTo>
                <a:lnTo>
                  <a:pt x="10691990" y="0"/>
                </a:lnTo>
                <a:close/>
              </a:path>
            </a:pathLst>
          </a:custGeom>
          <a:solidFill>
            <a:srgbClr val="D2AB67"/>
          </a:solidFill>
        </p:spPr>
        <p:txBody>
          <a:bodyPr wrap="square" lIns="0" tIns="0" rIns="0" bIns="0" rtlCol="0"/>
          <a:lstStyle/>
          <a:p/>
        </p:txBody>
      </p:sp>
      <p:sp>
        <p:nvSpPr>
          <p:cNvPr id="2" name="Holder 2"/>
          <p:cNvSpPr>
            <a:spLocks noGrp="1"/>
          </p:cNvSpPr>
          <p:nvPr>
            <p:ph type="title"/>
          </p:nvPr>
        </p:nvSpPr>
        <p:spPr>
          <a:xfrm>
            <a:off x="4776001" y="922297"/>
            <a:ext cx="1141397" cy="695960"/>
          </a:xfrm>
          <a:prstGeom prst="rect">
            <a:avLst/>
          </a:prstGeom>
        </p:spPr>
        <p:txBody>
          <a:bodyPr wrap="square" lIns="0" tIns="0" rIns="0" bIns="0">
            <a:spAutoFit/>
          </a:bodyPr>
          <a:lstStyle>
            <a:lvl1pPr>
              <a:defRPr sz="4400" b="1" i="0">
                <a:solidFill>
                  <a:schemeClr val="bg1"/>
                </a:solidFill>
                <a:latin typeface="Arial" panose="020B0604020202020204"/>
                <a:cs typeface="Arial" panose="020B0604020202020204"/>
              </a:defRPr>
            </a:lvl1pPr>
          </a:lstStyle>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8715147" y="6899328"/>
            <a:ext cx="1635125" cy="163829"/>
          </a:xfrm>
          <a:prstGeom prst="rect">
            <a:avLst/>
          </a:prstGeom>
        </p:spPr>
        <p:txBody>
          <a:bodyPr wrap="square" lIns="0" tIns="0" rIns="0" bIns="0">
            <a:spAutoFit/>
          </a:bodyPr>
          <a:lstStyle>
            <a:lvl1pPr>
              <a:defRPr sz="1050" b="1" i="0">
                <a:solidFill>
                  <a:srgbClr val="282781"/>
                </a:solidFill>
                <a:latin typeface="Arial" panose="020B0604020202020204"/>
                <a:cs typeface="Arial" panose="020B0604020202020204"/>
              </a:defRPr>
            </a:lvl1pPr>
          </a:lstStyle>
          <a:p>
            <a:pPr marL="12700">
              <a:lnSpc>
                <a:spcPts val="1135"/>
              </a:lnSpc>
            </a:pPr>
            <a:r>
              <a:t>UNIVERSITY </a:t>
            </a:r>
            <a:r>
              <a:rPr spc="30"/>
              <a:t>OF</a:t>
            </a:r>
            <a:r>
              <a:t> </a:t>
            </a:r>
            <a:r>
              <a:rPr spc="65"/>
              <a:t>GHANA</a:t>
            </a:r>
            <a:endParaRPr spc="65"/>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0692130" cy="5039995"/>
            <a:chOff x="0" y="0"/>
            <a:chExt cx="10692130" cy="5039995"/>
          </a:xfrm>
        </p:grpSpPr>
        <p:sp>
          <p:nvSpPr>
            <p:cNvPr id="3" name="object 3"/>
            <p:cNvSpPr/>
            <p:nvPr/>
          </p:nvSpPr>
          <p:spPr>
            <a:xfrm>
              <a:off x="0" y="0"/>
              <a:ext cx="10692130" cy="4720590"/>
            </a:xfrm>
            <a:custGeom>
              <a:avLst/>
              <a:gdLst/>
              <a:ahLst/>
              <a:cxnLst/>
              <a:rect l="l" t="t" r="r" b="b"/>
              <a:pathLst>
                <a:path w="10692130" h="4720590">
                  <a:moveTo>
                    <a:pt x="10692000" y="0"/>
                  </a:moveTo>
                  <a:lnTo>
                    <a:pt x="0" y="0"/>
                  </a:lnTo>
                  <a:lnTo>
                    <a:pt x="0" y="4720226"/>
                  </a:lnTo>
                  <a:lnTo>
                    <a:pt x="10692000" y="4720226"/>
                  </a:lnTo>
                  <a:lnTo>
                    <a:pt x="10692000" y="0"/>
                  </a:lnTo>
                  <a:close/>
                </a:path>
              </a:pathLst>
            </a:custGeom>
            <a:solidFill>
              <a:srgbClr val="282781"/>
            </a:solidFill>
          </p:spPr>
          <p:txBody>
            <a:bodyPr wrap="square" lIns="0" tIns="0" rIns="0" bIns="0" rtlCol="0"/>
            <a:lstStyle/>
            <a:p/>
          </p:txBody>
        </p:sp>
        <p:sp>
          <p:nvSpPr>
            <p:cNvPr id="4" name="object 4"/>
            <p:cNvSpPr/>
            <p:nvPr/>
          </p:nvSpPr>
          <p:spPr>
            <a:xfrm>
              <a:off x="0" y="4720226"/>
              <a:ext cx="10692130" cy="319405"/>
            </a:xfrm>
            <a:custGeom>
              <a:avLst/>
              <a:gdLst/>
              <a:ahLst/>
              <a:cxnLst/>
              <a:rect l="l" t="t" r="r" b="b"/>
              <a:pathLst>
                <a:path w="10692130" h="319404">
                  <a:moveTo>
                    <a:pt x="10692000" y="0"/>
                  </a:moveTo>
                  <a:lnTo>
                    <a:pt x="0" y="0"/>
                  </a:lnTo>
                  <a:lnTo>
                    <a:pt x="0" y="319218"/>
                  </a:lnTo>
                  <a:lnTo>
                    <a:pt x="10692000" y="319218"/>
                  </a:lnTo>
                  <a:lnTo>
                    <a:pt x="10692000" y="0"/>
                  </a:lnTo>
                  <a:close/>
                </a:path>
              </a:pathLst>
            </a:custGeom>
            <a:solidFill>
              <a:srgbClr val="D2AB67"/>
            </a:solidFill>
          </p:spPr>
          <p:txBody>
            <a:bodyPr wrap="square" lIns="0" tIns="0" rIns="0" bIns="0" rtlCol="0"/>
            <a:lstStyle/>
            <a:p/>
          </p:txBody>
        </p:sp>
      </p:grpSp>
      <p:sp>
        <p:nvSpPr>
          <p:cNvPr id="5" name="object 5"/>
          <p:cNvSpPr txBox="1">
            <a:spLocks noGrp="1"/>
          </p:cNvSpPr>
          <p:nvPr>
            <p:ph type="title"/>
          </p:nvPr>
        </p:nvSpPr>
        <p:spPr>
          <a:xfrm>
            <a:off x="165101" y="257761"/>
            <a:ext cx="10230724" cy="2598147"/>
          </a:xfrm>
          <a:prstGeom prst="rect">
            <a:avLst/>
          </a:prstGeom>
        </p:spPr>
        <p:txBody>
          <a:bodyPr vert="horz" wrap="square" lIns="0" tIns="12700" rIns="0" bIns="0" rtlCol="0" anchor="t">
            <a:spAutoFit/>
          </a:bodyPr>
          <a:lstStyle/>
          <a:p>
            <a:pPr marL="27940" algn="ctr">
              <a:spcBef>
                <a:spcPts val="100"/>
              </a:spcBef>
            </a:pPr>
            <a:r>
              <a:rPr lang="en-US" sz="4200" dirty="0">
                <a:solidFill>
                  <a:srgbClr val="FFFFFF"/>
                </a:solidFill>
                <a:latin typeface="Times New Roman" panose="02020603050405020304"/>
                <a:cs typeface="Times New Roman" panose="02020603050405020304"/>
                <a:sym typeface="Lora"/>
              </a:rPr>
              <a:t>DEVELOPMENT OF INTEGRATED WEARABLE DEVICE FOR REMOTE MONITORING OF PREGNANT WOMEN IN GHANA</a:t>
            </a:r>
            <a:endParaRPr lang="en-US" sz="4200" spc="-5" dirty="0">
              <a:latin typeface="Times New Roman" panose="02020603050405020304"/>
              <a:cs typeface="Times New Roman" panose="02020603050405020304"/>
            </a:endParaRPr>
          </a:p>
        </p:txBody>
      </p:sp>
      <p:sp>
        <p:nvSpPr>
          <p:cNvPr id="7" name="object 7"/>
          <p:cNvSpPr/>
          <p:nvPr/>
        </p:nvSpPr>
        <p:spPr>
          <a:xfrm>
            <a:off x="722036" y="5645484"/>
            <a:ext cx="1097474" cy="1316949"/>
          </a:xfrm>
          <a:prstGeom prst="rect">
            <a:avLst/>
          </a:prstGeom>
          <a:blipFill>
            <a:blip r:embed="rId1" cstate="print"/>
            <a:stretch>
              <a:fillRect/>
            </a:stretch>
          </a:blipFill>
        </p:spPr>
        <p:txBody>
          <a:bodyPr wrap="square" lIns="0" tIns="0" rIns="0" bIns="0" rtlCol="0"/>
          <a:lstStyle/>
          <a:p/>
        </p:txBody>
      </p:sp>
      <p:sp>
        <p:nvSpPr>
          <p:cNvPr id="8" name="object 8"/>
          <p:cNvSpPr txBox="1"/>
          <p:nvPr/>
        </p:nvSpPr>
        <p:spPr>
          <a:xfrm>
            <a:off x="2146300" y="5915025"/>
            <a:ext cx="6562725" cy="676466"/>
          </a:xfrm>
          <a:prstGeom prst="rect">
            <a:avLst/>
          </a:prstGeom>
        </p:spPr>
        <p:txBody>
          <a:bodyPr vert="horz" wrap="square" lIns="0" tIns="14604" rIns="0" bIns="0" rtlCol="0">
            <a:spAutoFit/>
          </a:bodyPr>
          <a:lstStyle/>
          <a:p>
            <a:pPr marL="12700">
              <a:lnSpc>
                <a:spcPct val="100000"/>
              </a:lnSpc>
              <a:spcBef>
                <a:spcPts val="115"/>
              </a:spcBef>
            </a:pPr>
            <a:r>
              <a:rPr sz="4300" b="1" spc="-80" dirty="0">
                <a:solidFill>
                  <a:srgbClr val="282781"/>
                </a:solidFill>
                <a:latin typeface="Times New Roman" panose="02020603050405020304" pitchFamily="18" charset="0"/>
                <a:cs typeface="Times New Roman" panose="02020603050405020304" pitchFamily="18" charset="0"/>
              </a:rPr>
              <a:t>UNIVERSITY </a:t>
            </a:r>
            <a:r>
              <a:rPr sz="4300" b="1" spc="35" dirty="0">
                <a:solidFill>
                  <a:srgbClr val="282781"/>
                </a:solidFill>
                <a:latin typeface="Times New Roman" panose="02020603050405020304" pitchFamily="18" charset="0"/>
                <a:cs typeface="Times New Roman" panose="02020603050405020304" pitchFamily="18" charset="0"/>
              </a:rPr>
              <a:t>OF</a:t>
            </a:r>
            <a:r>
              <a:rPr sz="4300" b="1" spc="285" dirty="0">
                <a:solidFill>
                  <a:srgbClr val="282781"/>
                </a:solidFill>
                <a:latin typeface="Times New Roman" panose="02020603050405020304" pitchFamily="18" charset="0"/>
                <a:cs typeface="Times New Roman" panose="02020603050405020304" pitchFamily="18" charset="0"/>
              </a:rPr>
              <a:t> </a:t>
            </a:r>
            <a:r>
              <a:rPr sz="4300" b="1" spc="160" dirty="0">
                <a:solidFill>
                  <a:srgbClr val="282781"/>
                </a:solidFill>
                <a:latin typeface="Times New Roman" panose="02020603050405020304" pitchFamily="18" charset="0"/>
                <a:cs typeface="Times New Roman" panose="02020603050405020304" pitchFamily="18" charset="0"/>
              </a:rPr>
              <a:t>GHANA</a:t>
            </a:r>
            <a:endParaRPr sz="43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65101" y="2709567"/>
            <a:ext cx="10363198" cy="1938020"/>
          </a:xfrm>
          <a:prstGeom prst="rect">
            <a:avLst/>
          </a:prstGeom>
          <a:noFill/>
        </p:spPr>
        <p:txBody>
          <a:bodyPr wrap="square" lIns="91440" tIns="45720" rIns="91440" bIns="45720" rtlCol="0" anchor="t">
            <a:spAutoFit/>
          </a:bodyPr>
          <a:lstStyle/>
          <a:p>
            <a:r>
              <a:rPr lang="en-US" sz="2400" b="1" u="sng" dirty="0">
                <a:solidFill>
                  <a:schemeClr val="bg1"/>
                </a:solidFill>
                <a:latin typeface="Times New Roman" panose="02020603050405020304"/>
                <a:ea typeface="Inter" panose="020B0604020202020204" charset="0"/>
                <a:cs typeface="Times New Roman" panose="02020603050405020304"/>
              </a:rPr>
              <a:t>Group Members</a:t>
            </a:r>
            <a:endParaRPr lang="en-US" sz="2400" b="1" u="sng"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Owoh </a:t>
            </a:r>
            <a:r>
              <a:rPr lang="en-US" sz="2400" dirty="0" err="1">
                <a:solidFill>
                  <a:schemeClr val="bg1"/>
                </a:solidFill>
                <a:latin typeface="Times New Roman" panose="02020603050405020304"/>
                <a:ea typeface="Inter" panose="020B0604020202020204" charset="0"/>
                <a:cs typeface="Times New Roman" panose="02020603050405020304"/>
              </a:rPr>
              <a:t>Einsteina</a:t>
            </a:r>
            <a:r>
              <a:rPr lang="en-US" sz="2400" dirty="0">
                <a:solidFill>
                  <a:schemeClr val="bg1"/>
                </a:solidFill>
                <a:latin typeface="Times New Roman" panose="02020603050405020304"/>
                <a:ea typeface="Inter" panose="020B0604020202020204" charset="0"/>
                <a:cs typeface="Times New Roman" panose="02020603050405020304"/>
              </a:rPr>
              <a:t> Ofunne - 10943874</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Anane George Nyarko – 10947340</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Times New Roman" panose="02020603050405020304"/>
                <a:ea typeface="Inter" panose="020B0604020202020204" charset="0"/>
                <a:cs typeface="Times New Roman" panose="02020603050405020304"/>
              </a:rPr>
              <a:t>Adika Nathaniel - 10957036</a:t>
            </a:r>
            <a:endParaRPr lang="en-US" sz="2400" dirty="0">
              <a:solidFill>
                <a:schemeClr val="bg1"/>
              </a:solidFill>
              <a:latin typeface="Times New Roman" panose="02020603050405020304"/>
              <a:ea typeface="Inter" panose="020B0604020202020204" charset="0"/>
              <a:cs typeface="Times New Roman" panose="02020603050405020304"/>
            </a:endParaRPr>
          </a:p>
          <a:p>
            <a:r>
              <a:rPr lang="en-US" sz="2400" dirty="0">
                <a:solidFill>
                  <a:schemeClr val="bg1"/>
                </a:solidFill>
                <a:latin typeface="Inter"/>
                <a:ea typeface="Inter" panose="020B0604020202020204" charset="0"/>
              </a:rPr>
              <a:t>                                </a:t>
            </a:r>
            <a:r>
              <a:rPr lang="en-US" sz="2400" dirty="0">
                <a:solidFill>
                  <a:schemeClr val="bg1"/>
                </a:solidFill>
                <a:latin typeface="Times New Roman" panose="02020603050405020304"/>
                <a:ea typeface="Inter" panose="020B0604020202020204" charset="0"/>
                <a:cs typeface="Times New Roman" panose="02020603050405020304"/>
              </a:rPr>
              <a:t>DATE: 2nd May 2025</a:t>
            </a:r>
            <a:r>
              <a:rPr lang="en-US" sz="2400" baseline="30000" dirty="0">
                <a:solidFill>
                  <a:schemeClr val="bg1"/>
                </a:solidFill>
                <a:latin typeface="Times New Roman" panose="02020603050405020304"/>
                <a:ea typeface="Inter" panose="020B0604020202020204" charset="0"/>
                <a:cs typeface="Times New Roman" panose="02020603050405020304"/>
              </a:rPr>
              <a:t> </a:t>
            </a:r>
            <a:endParaRPr lang="en-US" sz="2400" dirty="0">
              <a:solidFill>
                <a:schemeClr val="bg1"/>
              </a:solidFill>
              <a:latin typeface="Times New Roman" panose="02020603050405020304"/>
              <a:ea typeface="Inter" panose="020B0604020202020204" charset="0"/>
              <a:cs typeface="Times New Roman" panose="02020603050405020304"/>
            </a:endParaRPr>
          </a:p>
        </p:txBody>
      </p:sp>
      <p:sp>
        <p:nvSpPr>
          <p:cNvPr id="10" name="TextBox 9"/>
          <p:cNvSpPr txBox="1"/>
          <p:nvPr/>
        </p:nvSpPr>
        <p:spPr>
          <a:xfrm>
            <a:off x="7023100" y="2643850"/>
            <a:ext cx="5078896" cy="2306955"/>
          </a:xfrm>
          <a:prstGeom prst="rect">
            <a:avLst/>
          </a:prstGeom>
          <a:noFill/>
        </p:spPr>
        <p:txBody>
          <a:bodyPr wrap="square" rtlCol="0">
            <a:spAutoFit/>
          </a:bodyPr>
          <a:lstStyle/>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Project 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Dr. Godfrey Mills</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rPr>
              <a:t>Co-Supervisor</a:t>
            </a:r>
            <a:endParaRPr lang="en-US" sz="2400" b="1" u="sng">
              <a:solidFill>
                <a:schemeClr val="bg1"/>
              </a:solidFill>
              <a:latin typeface="Times New Roman" panose="02020603050405020304" pitchFamily="18" charset="0"/>
              <a:ea typeface="Inter" panose="020B0604020202020204" charset="0"/>
              <a:cs typeface="Times New Roman" panose="02020603050405020304" pitchFamily="18" charset="0"/>
            </a:endParaRPr>
          </a:p>
          <a:p>
            <a:r>
              <a:rPr lang="en-US" sz="2400">
                <a:solidFill>
                  <a:schemeClr val="bg1"/>
                </a:solidFill>
                <a:latin typeface="Times New Roman" panose="02020603050405020304" pitchFamily="18" charset="0"/>
                <a:ea typeface="Inter" panose="020B0604020202020204" charset="0"/>
                <a:cs typeface="Times New Roman" panose="02020603050405020304" pitchFamily="18" charset="0"/>
              </a:rPr>
              <a:t>Prof.</a:t>
            </a:r>
            <a:r>
              <a:rPr lang="en-US" sz="2400">
                <a:latin typeface="Times New Roman" panose="02020603050405020304" pitchFamily="18" charset="0"/>
                <a:cs typeface="Times New Roman" panose="02020603050405020304" pitchFamily="18" charset="0"/>
              </a:rPr>
              <a:t> </a:t>
            </a:r>
            <a:r>
              <a:rPr lang="en-US" sz="2400">
                <a:solidFill>
                  <a:schemeClr val="bg1"/>
                </a:solidFill>
                <a:latin typeface="Times New Roman" panose="02020603050405020304" pitchFamily="18" charset="0"/>
                <a:cs typeface="Times New Roman" panose="02020603050405020304" pitchFamily="18" charset="0"/>
              </a:rPr>
              <a:t>Elsie Effah Kaufmann</a:t>
            </a:r>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a:p>
            <a:endParaRPr lang="en-US" sz="2400">
              <a:solidFill>
                <a:schemeClr val="bg1"/>
              </a:solidFill>
              <a:latin typeface="Times New Roman" panose="02020603050405020304" pitchFamily="18" charset="0"/>
              <a:ea typeface="Inter" panose="020B0604020202020204" charset="0"/>
              <a:cs typeface="Times New Roman" panose="02020603050405020304" pitchFamily="18"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7494" y="5558914"/>
            <a:ext cx="1303216" cy="13078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2128" y="747391"/>
            <a:ext cx="8524572" cy="936154"/>
          </a:xfrm>
          <a:prstGeom prst="rect">
            <a:avLst/>
          </a:prstGeom>
        </p:spPr>
        <p:txBody>
          <a:bodyPr vert="horz" wrap="square" lIns="0" tIns="12700" rIns="0" bIns="0" rtlCol="0" anchor="t">
            <a:spAutoFit/>
          </a:bodyPr>
          <a:lstStyle/>
          <a:p>
            <a:pPr marL="12700">
              <a:lnSpc>
                <a:spcPct val="100000"/>
              </a:lnSpc>
              <a:spcBef>
                <a:spcPts val="100"/>
              </a:spcBef>
            </a:pPr>
            <a:r>
              <a:rPr lang="en-GB" sz="6000" spc="-165" dirty="0">
                <a:latin typeface="Times New Roman" panose="02020603050405020304"/>
                <a:cs typeface="Times New Roman" panose="02020603050405020304"/>
              </a:rPr>
              <a:t>COLLABORATORS</a:t>
            </a:r>
            <a:endParaRPr lang="en-GB" sz="6000" spc="-16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2495" y="1895835"/>
            <a:ext cx="10701809" cy="2091726"/>
          </a:xfrm>
          <a:prstGeom prst="rect">
            <a:avLst/>
          </a:prstGeom>
        </p:spPr>
        <p:txBody>
          <a:bodyPr vert="horz" wrap="square" lIns="0" tIns="216535" rIns="0" bIns="0" rtlCol="0" anchor="t">
            <a:spAutoFit/>
          </a:bodyPr>
          <a:lstStyle/>
          <a:p>
            <a:pPr marL="469265" indent="-457200">
              <a:lnSpc>
                <a:spcPct val="150000"/>
              </a:lnSpc>
              <a:spcBef>
                <a:spcPts val="1605"/>
              </a:spcBef>
              <a:buFont typeface="Wingdings" panose="05000000000000000000" pitchFamily="2" charset="2"/>
              <a:buChar char="v"/>
              <a:tabLst>
                <a:tab pos="469265" algn="l"/>
                <a:tab pos="469900" algn="l"/>
              </a:tabLst>
            </a:pPr>
            <a:r>
              <a:rPr lang="en-US" sz="2200" b="1" spc="-5" dirty="0">
                <a:latin typeface="Times New Roman" panose="02020603050405020304"/>
                <a:cs typeface="Times New Roman" panose="02020603050405020304"/>
              </a:rPr>
              <a:t> </a:t>
            </a:r>
            <a:r>
              <a:rPr lang="en-US" sz="2200" spc="-5" dirty="0">
                <a:latin typeface="Times New Roman" panose="02020603050405020304"/>
                <a:cs typeface="Times New Roman" panose="02020603050405020304"/>
              </a:rPr>
              <a:t>Nathaniel   Sakyi Adibuer, IT Consortium</a:t>
            </a:r>
            <a:endParaRPr lang="en-US" sz="2200" spc="-5" baseline="30000" dirty="0">
              <a:latin typeface="Times New Roman" panose="02020603050405020304"/>
              <a:cs typeface="Times New Roman" panose="02020603050405020304"/>
            </a:endParaRPr>
          </a:p>
          <a:p>
            <a:pPr marL="469265" indent="-457200">
              <a:lnSpc>
                <a:spcPct val="150000"/>
              </a:lnSpc>
              <a:spcBef>
                <a:spcPts val="1605"/>
              </a:spcBef>
              <a:buFont typeface="Wingdings" panose="05000000000000000000" pitchFamily="2" charset="2"/>
              <a:buChar char="v"/>
              <a:tabLst>
                <a:tab pos="469265" algn="l"/>
                <a:tab pos="469900" algn="l"/>
              </a:tabLst>
            </a:pPr>
            <a:r>
              <a:rPr lang="en-US" sz="2200" spc="-5" dirty="0">
                <a:latin typeface="Times New Roman" panose="02020603050405020304"/>
                <a:cs typeface="Times New Roman" panose="02020603050405020304"/>
              </a:rPr>
              <a:t>Dr. Frank Amegah, Korle-Bu Teaching Hospital</a:t>
            </a:r>
            <a:endParaRPr lang="en-US" sz="2200" spc="-5" dirty="0">
              <a:latin typeface="Times New Roman" panose="02020603050405020304"/>
              <a:cs typeface="Times New Roman" panose="02020603050405020304"/>
            </a:endParaRPr>
          </a:p>
          <a:p>
            <a:pPr marL="12065">
              <a:lnSpc>
                <a:spcPct val="150000"/>
              </a:lnSpc>
              <a:spcBef>
                <a:spcPts val="1605"/>
              </a:spcBef>
              <a:tabLst>
                <a:tab pos="469265" algn="l"/>
                <a:tab pos="469900" algn="l"/>
              </a:tabLst>
            </a:pPr>
            <a:endParaRPr lang="en-US" sz="2200" b="1" spc="-5"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884" y="939896"/>
            <a:ext cx="10693400"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TASK DELEGATION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7430770"/>
          </a:xfrm>
          <a:prstGeom prst="rect">
            <a:avLst/>
          </a:prstGeom>
        </p:spPr>
        <p:txBody>
          <a:bodyPr vert="horz" wrap="square" lIns="0" tIns="216535" rIns="0" bIns="0" rtlCol="0" anchor="t">
            <a:spAutoFit/>
          </a:bodyPr>
          <a:lstStyle/>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Owoh Einsteina Ofunne           -        AI Model Development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George Anane  Nyarko             -         Mobile App Development</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v"/>
              <a:tabLst>
                <a:tab pos="469265" algn="l"/>
                <a:tab pos="469900" algn="l"/>
              </a:tabLst>
            </a:pPr>
            <a:endParaRPr lang="en-US" sz="2200" baseline="30000" dirty="0">
              <a:latin typeface="Times New Roman" panose="02020603050405020304" pitchFamily="18" charset="0"/>
              <a:cs typeface="Times New Roman" panose="02020603050405020304" pitchFamily="18" charset="0"/>
            </a:endParaRPr>
          </a:p>
          <a:p>
            <a:pPr marL="457200" indent="-457200">
              <a:buFont typeface="Wingdings" panose="05000000000000000000" charset="0"/>
              <a:buChar char="v"/>
              <a:tabLst>
                <a:tab pos="469265" algn="l"/>
                <a:tab pos="469900" algn="l"/>
              </a:tabLst>
            </a:pPr>
            <a:r>
              <a:rPr lang="en-US" sz="2200" dirty="0">
                <a:latin typeface="Times New Roman" panose="02020603050405020304" pitchFamily="18" charset="0"/>
                <a:cs typeface="Times New Roman" panose="02020603050405020304" pitchFamily="18" charset="0"/>
              </a:rPr>
              <a:t>Adika Nathaniel                          -      Wearable Device Development</a:t>
            </a:r>
            <a:endParaRPr lang="en-US" sz="22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AI MODEL PROGRESS </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9" name="TextBox 8"/>
          <p:cNvSpPr txBox="1"/>
          <p:nvPr/>
        </p:nvSpPr>
        <p:spPr>
          <a:xfrm>
            <a:off x="0" y="1956096"/>
            <a:ext cx="8715147" cy="4154984"/>
          </a:xfrm>
          <a:prstGeom prst="rect">
            <a:avLst/>
          </a:prstGeom>
          <a:noFill/>
        </p:spPr>
        <p:txBody>
          <a:bodyPr wrap="square" rtlCol="0">
            <a:spAutoFit/>
          </a:bodyPr>
          <a:lstStyle/>
          <a:p>
            <a:pPr algn="ctr">
              <a:buNone/>
            </a:pPr>
            <a:r>
              <a:rPr lang="en-US" sz="2200" b="1" dirty="0">
                <a:latin typeface="Times New Roman" panose="02020603050405020304" pitchFamily="18" charset="0"/>
                <a:cs typeface="Times New Roman" panose="02020603050405020304" pitchFamily="18" charset="0"/>
              </a:rPr>
              <a:t>KEY  OBJECTIVES</a:t>
            </a:r>
            <a:endParaRPr lang="en-US" sz="2200" b="1" dirty="0">
              <a:latin typeface="Times New Roman" panose="02020603050405020304" pitchFamily="18" charset="0"/>
              <a:cs typeface="Times New Roman" panose="02020603050405020304" pitchFamily="18" charset="0"/>
            </a:endParaRPr>
          </a:p>
          <a:p>
            <a:pPr>
              <a:buNone/>
            </a:pPr>
            <a:endParaRPr lang="en-US"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Train separate models for detecting preeclampsia, and gestational diabetes.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Use real-world medical datasets to analyze health indicators.</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Implement a structured machine learning pipeline from preprocessing to evaluation.</a:t>
            </a: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Compare different models to find the best-performing approach for each condition.</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5047536"/>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preeclampsia_dataset.csv</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Manually generated</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10,000</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Low, mild or High</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 Dataset of 10,000 records generated to predict preeclampsia risk (Low, Mild, High) based on diastolic pressure, systolic pressure, temperature and urine protein levels, with added noise to simulate real-world variability.</a:t>
            </a:r>
            <a:endParaRPr lang="en-US" sz="2200" b="1" dirty="0">
              <a:latin typeface="Times New Roman" panose="02020603050405020304" pitchFamily="18" charset="0"/>
              <a:cs typeface="Times New Roman" panose="02020603050405020304" pitchFamily="18" charset="0"/>
            </a:endParaRPr>
          </a:p>
          <a:p>
            <a:endParaRPr lang="en-US" b="1" dirty="0"/>
          </a:p>
          <a:p>
            <a:endParaRPr lang="en-US" dirty="0"/>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2677656"/>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Systolic blood pressure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Diastolic blood pressure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Protein in urine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Body temperature</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THRESHOLD DESCRIPTION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0" y="2613746"/>
            <a:ext cx="10861842" cy="477053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SOURCES:</a:t>
            </a:r>
            <a:endParaRPr lang="en-US" sz="2200" b="1"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ACOG Practice Bulletin No. 222</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Gestational Hypertension and Preeclampsia</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NICE_guidance_on-Pre-eclampsia_VB2020</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altLang="en-US" sz="2400" dirty="0">
                <a:latin typeface="Times New Roman" panose="02020603050405020304" pitchFamily="18" charset="0"/>
                <a:cs typeface="Times New Roman" panose="02020603050405020304" pitchFamily="18" charset="0"/>
              </a:rPr>
              <a:t>UpToDate: Clinical features and diagnosis of preeclampsia</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WHO Guidelines</a:t>
            </a:r>
            <a:r>
              <a:rPr lang="en-US" altLang="en-US" sz="2400" dirty="0">
                <a:latin typeface="Times New Roman" panose="02020603050405020304" pitchFamily="18" charset="0"/>
                <a:cs typeface="Times New Roman" panose="02020603050405020304" pitchFamily="18" charset="0"/>
              </a:rPr>
              <a:t>: WHO Recommendations for Prevention and Treatment of Preeclampsia and Eclampsia</a:t>
            </a:r>
            <a:endParaRPr lang="en-US" altLang="en-US" sz="2400" dirty="0">
              <a:latin typeface="Times New Roman" panose="02020603050405020304" pitchFamily="18" charset="0"/>
              <a:cs typeface="Times New Roman" panose="02020603050405020304" pitchFamily="18" charset="0"/>
            </a:endParaRPr>
          </a:p>
          <a:p>
            <a:endParaRPr lang="en-US" altLang="en-US" sz="2400"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PREECLAMPSIA</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4185761"/>
          </a:xfrm>
          <a:prstGeom prst="rect">
            <a:avLst/>
          </a:prstGeom>
          <a:noFill/>
        </p:spPr>
        <p:txBody>
          <a:bodyPr wrap="square" rtlCol="0">
            <a:spAutoFit/>
          </a:bodyPr>
          <a:lstStyle/>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Dataset Name: Gestational Diabetes 3.csv</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Source: Manually generated  </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Samples: 10,000</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Number of Input Features: 4</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Output States: Low, mild or high</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Description:</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FEATURES</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4" name="TextBox 3"/>
          <p:cNvSpPr txBox="1"/>
          <p:nvPr/>
        </p:nvSpPr>
        <p:spPr>
          <a:xfrm>
            <a:off x="-25966" y="2640603"/>
            <a:ext cx="10693400" cy="2677656"/>
          </a:xfrm>
          <a:prstGeom prst="rect">
            <a:avLst/>
          </a:prstGeom>
          <a:noFill/>
        </p:spPr>
        <p:txBody>
          <a:bodyPr wrap="square" rtlCol="0">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Blood Glucose level</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BMI</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Family history</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Body Temperature</a:t>
            </a:r>
            <a:endParaRPr lang="en-US" sz="2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GESTATIONAL DIABETES</a:t>
            </a:r>
            <a:endParaRPr lang="en-US" sz="2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DATASET OVERVIEW</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t>ANEMIA</a:t>
            </a:r>
            <a:endParaRPr lang="en-US" sz="2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MODEL SELECTION</a:t>
            </a:r>
            <a:endParaRPr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PREECLAMPSIA</a:t>
            </a:r>
            <a:endParaRPr lang="en-US" sz="24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5104" y="2500232"/>
            <a:ext cx="10648296"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We chose the best performing model which was Logistic Regression. Although Decision Tree and Random Forest performed slightly better overall, they tend to overfit, whereas Logistic Regression generalizes well to unseen data.</a:t>
            </a:r>
            <a:endParaRPr lang="en-US" dirty="0">
              <a:latin typeface="Times New Roman" panose="02020603050405020304" pitchFamily="18" charset="0"/>
              <a:cs typeface="Times New Roman" panose="02020603050405020304" pitchFamily="18" charset="0"/>
            </a:endParaRPr>
          </a:p>
          <a:p>
            <a:endParaRPr lang="en-US" dirty="0"/>
          </a:p>
        </p:txBody>
      </p:sp>
      <p:graphicFrame>
        <p:nvGraphicFramePr>
          <p:cNvPr id="9" name="Table 8"/>
          <p:cNvGraphicFramePr>
            <a:graphicFrameLocks noGrp="1"/>
          </p:cNvGraphicFramePr>
          <p:nvPr/>
        </p:nvGraphicFramePr>
        <p:xfrm>
          <a:off x="22552" y="3422156"/>
          <a:ext cx="10648296" cy="4338361"/>
        </p:xfrm>
        <a:graphic>
          <a:graphicData uri="http://schemas.openxmlformats.org/drawingml/2006/table">
            <a:tbl>
              <a:tblPr firstRow="1" bandRow="1">
                <a:tableStyleId>{5C22544A-7EE6-4342-B048-85BDC9FD1C3A}</a:tableStyleId>
              </a:tblPr>
              <a:tblGrid>
                <a:gridCol w="1331037"/>
                <a:gridCol w="1331037"/>
                <a:gridCol w="1331037"/>
                <a:gridCol w="1331037"/>
                <a:gridCol w="1331037"/>
                <a:gridCol w="1331037"/>
                <a:gridCol w="1331037"/>
                <a:gridCol w="1331037"/>
              </a:tblGrid>
              <a:tr h="1090882">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Random Forest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Precision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0.9646</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0.969644</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F1 Score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0.969549</a:t>
                      </a:r>
                      <a:endParaRPr lang="en-US" dirty="0">
                        <a:latin typeface="Times New Roman" panose="02020603050405020304" pitchFamily="18" charset="0"/>
                        <a:cs typeface="Times New Roman" panose="02020603050405020304" pitchFamily="18" charset="0"/>
                      </a:endParaRPr>
                    </a:p>
                  </a:txBody>
                  <a:tcPr/>
                </a:tc>
              </a:tr>
              <a:tr h="442413">
                <a:tc>
                  <a:txBody>
                    <a:bodyPr/>
                    <a:lstStyle/>
                    <a:p>
                      <a:r>
                        <a:rPr lang="en-US" dirty="0">
                          <a:latin typeface="Times New Roman" panose="02020603050405020304" pitchFamily="18" charset="0"/>
                          <a:cs typeface="Times New Roman" panose="02020603050405020304" pitchFamily="18" charset="0"/>
                        </a:rPr>
                        <a:t>Recall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0.969503</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Training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0.9637</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0.9658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1.0000</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defRPr/>
                      </a:pPr>
                      <a:r>
                        <a:rPr lang="en-US" dirty="0">
                          <a:latin typeface="Times New Roman" panose="02020603050405020304" pitchFamily="18" charset="0"/>
                          <a:cs typeface="Times New Roman" panose="02020603050405020304" pitchFamily="18" charset="0"/>
                        </a:rPr>
                        <a:t>0.9998</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0.9809</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0.965494</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Test 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0.9710</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t>0.9635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0.9700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0.9415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0.9630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t>0.9700</a:t>
                      </a:r>
                      <a:endParaRPr lang="en-US" dirty="0">
                        <a:latin typeface="Times New Roman" panose="02020603050405020304" pitchFamily="18" charset="0"/>
                        <a:cs typeface="Times New Roman" panose="02020603050405020304" pitchFamily="18" charset="0"/>
                      </a:endParaRPr>
                    </a:p>
                  </a:txBody>
                  <a:tcPr/>
                </a:tc>
              </a:tr>
              <a:tr h="569032">
                <a:tc>
                  <a:txBody>
                    <a:bodyPr/>
                    <a:lstStyle/>
                    <a:p>
                      <a:r>
                        <a:rPr lang="en-US" dirty="0">
                          <a:latin typeface="Times New Roman" panose="02020603050405020304" pitchFamily="18" charset="0"/>
                          <a:cs typeface="Times New Roman" panose="02020603050405020304" pitchFamily="18" charset="0"/>
                        </a:rPr>
                        <a:t>Validation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Accuracy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0.9645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0.9690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0.9425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0.9625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0.9645</a:t>
                      </a:r>
                      <a:endParaRPr lang="en-US" dirty="0">
                        <a:latin typeface="Times New Roman" panose="02020603050405020304" pitchFamily="18" charset="0"/>
                        <a:cs typeface="Times New Roman" panose="02020603050405020304" pitchFamily="18" charset="0"/>
                      </a:endParaRPr>
                    </a:p>
                  </a:txBody>
                  <a:tcPr/>
                </a:tc>
                <a:tc>
                  <a:txBody>
                    <a:bodyPr/>
                    <a:lstStyle/>
                    <a:p>
                      <a:r>
                        <a:rPr lang="en-US" b="0" i="0" dirty="0">
                          <a:solidFill>
                            <a:schemeClr val="dk1"/>
                          </a:solidFill>
                          <a:effectLst/>
                          <a:latin typeface="+mn-lt"/>
                          <a:ea typeface="+mn-ea"/>
                          <a:cs typeface="+mn-cs"/>
                        </a:rPr>
                        <a:t>0.9695</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TIME TAKEN (S)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980902" y="2038567"/>
            <a:ext cx="6993467"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nvGraphicFramePr>
        <p:xfrm>
          <a:off x="141316" y="3097352"/>
          <a:ext cx="10410768" cy="2323210"/>
        </p:xfrm>
        <a:graphic>
          <a:graphicData uri="http://schemas.openxmlformats.org/drawingml/2006/table">
            <a:tbl>
              <a:tblPr firstRow="1" bandRow="1">
                <a:tableStyleId>{5C22544A-7EE6-4342-B048-85BDC9FD1C3A}</a:tableStyleId>
              </a:tblPr>
              <a:tblGrid>
                <a:gridCol w="1301346"/>
                <a:gridCol w="1301346"/>
                <a:gridCol w="1301346"/>
                <a:gridCol w="1301346"/>
                <a:gridCol w="1301346"/>
                <a:gridCol w="1301346"/>
                <a:gridCol w="1301346"/>
                <a:gridCol w="1301346"/>
              </a:tblGrid>
              <a:tr h="1043050">
                <a:tc>
                  <a:txBody>
                    <a:bodyPr/>
                    <a:lstStyle/>
                    <a:p>
                      <a:r>
                        <a:rPr lang="en-US" dirty="0">
                          <a:latin typeface="Times New Roman" panose="02020603050405020304" pitchFamily="18" charset="0"/>
                          <a:cs typeface="Times New Roman" panose="02020603050405020304" pitchFamily="18" charset="0"/>
                        </a:rPr>
                        <a:t>Performance Metrics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Logistic Regression</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K-Nearest </a:t>
                      </a:r>
                      <a:r>
                        <a:rPr lang="en-US" dirty="0" err="1">
                          <a:latin typeface="Times New Roman" panose="02020603050405020304" pitchFamily="18" charset="0"/>
                          <a:cs typeface="Times New Roman" panose="02020603050405020304" pitchFamily="18" charset="0"/>
                        </a:rPr>
                        <a:t>Neighbour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Support Vector Machine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Decision Tree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bg1"/>
                          </a:solidFill>
                          <a:latin typeface="Times New Roman" panose="02020603050405020304" pitchFamily="18" charset="0"/>
                          <a:cs typeface="Times New Roman" panose="02020603050405020304" pitchFamily="18" charset="0"/>
                        </a:rPr>
                        <a:t>Random Forest Classifier</a:t>
                      </a:r>
                      <a:endParaRPr lang="en-US"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Gradient Boosting Classifier</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MLP Classifier</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Training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0.1112</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0.0179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0.3972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0.0549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2.3782</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9.0418</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5.0945</a:t>
                      </a:r>
                      <a:endParaRPr lang="en-US" dirty="0">
                        <a:latin typeface="Times New Roman" panose="02020603050405020304" pitchFamily="18" charset="0"/>
                        <a:cs typeface="Times New Roman" panose="02020603050405020304" pitchFamily="18" charset="0"/>
                      </a:endParaRPr>
                    </a:p>
                  </a:txBody>
                  <a:tcPr/>
                </a:tc>
              </a:tr>
              <a:tr h="417220">
                <a:tc>
                  <a:txBody>
                    <a:bodyPr/>
                    <a:lstStyle/>
                    <a:p>
                      <a:r>
                        <a:rPr lang="en-US" dirty="0">
                          <a:latin typeface="Times New Roman" panose="02020603050405020304" pitchFamily="18" charset="0"/>
                          <a:cs typeface="Times New Roman" panose="02020603050405020304" pitchFamily="18" charset="0"/>
                        </a:rPr>
                        <a:t>Prediction Time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rgbClr val="C00000"/>
                          </a:solidFill>
                          <a:latin typeface="Times New Roman" panose="02020603050405020304" pitchFamily="18" charset="0"/>
                          <a:cs typeface="Times New Roman" panose="02020603050405020304" pitchFamily="18" charset="0"/>
                        </a:rPr>
                        <a:t>0.0005</a:t>
                      </a:r>
                      <a:endParaRPr lang="en-US" dirty="0">
                        <a:solidFill>
                          <a:srgbClr val="C00000"/>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0.3580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0.3481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0.0010</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solidFill>
                            <a:schemeClr val="tx1"/>
                          </a:solidFill>
                          <a:latin typeface="Times New Roman" panose="02020603050405020304" pitchFamily="18" charset="0"/>
                          <a:cs typeface="Times New Roman" panose="02020603050405020304" pitchFamily="18" charset="0"/>
                        </a:rPr>
                        <a:t>0.0379</a:t>
                      </a:r>
                      <a:endParaRPr lang="en-US"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0.0169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0.0047</a:t>
                      </a:r>
                      <a:endParaRPr lang="en-US"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K - FOLD CROSS VALIDATION</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2038567"/>
            <a:ext cx="10693400"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PREECLAMPSIA</a:t>
            </a:r>
            <a:endParaRPr lang="en-US" sz="2200" b="1"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947651" y="2942705"/>
          <a:ext cx="8495605" cy="3531246"/>
        </p:xfrm>
        <a:graphic>
          <a:graphicData uri="http://schemas.openxmlformats.org/drawingml/2006/table">
            <a:tbl>
              <a:tblPr firstRow="1" bandRow="1">
                <a:tableStyleId>{5C22544A-7EE6-4342-B048-85BDC9FD1C3A}</a:tableStyleId>
              </a:tblPr>
              <a:tblGrid>
                <a:gridCol w="1699121"/>
                <a:gridCol w="1699121"/>
                <a:gridCol w="1699121"/>
                <a:gridCol w="1699121"/>
                <a:gridCol w="1699121"/>
              </a:tblGrid>
              <a:tr h="588541">
                <a:tc>
                  <a:txBody>
                    <a:bodyPr/>
                    <a:lstStyle/>
                    <a:p>
                      <a:r>
                        <a:rPr lang="en-US" dirty="0"/>
                        <a:t>Fold</a:t>
                      </a:r>
                      <a:endParaRPr lang="en-US" dirty="0"/>
                    </a:p>
                  </a:txBody>
                  <a:tcPr/>
                </a:tc>
                <a:tc>
                  <a:txBody>
                    <a:bodyPr/>
                    <a:lstStyle/>
                    <a:p>
                      <a:r>
                        <a:rPr lang="en-US" dirty="0"/>
                        <a:t>Accuracy</a:t>
                      </a:r>
                      <a:endParaRPr lang="en-US" dirty="0"/>
                    </a:p>
                  </a:txBody>
                  <a:tcPr/>
                </a:tc>
                <a:tc>
                  <a:txBody>
                    <a:bodyPr/>
                    <a:lstStyle/>
                    <a:p>
                      <a:r>
                        <a:rPr lang="en-US" dirty="0"/>
                        <a:t>Precision </a:t>
                      </a:r>
                      <a:endParaRPr lang="en-US" dirty="0"/>
                    </a:p>
                  </a:txBody>
                  <a:tcPr/>
                </a:tc>
                <a:tc>
                  <a:txBody>
                    <a:bodyPr/>
                    <a:lstStyle/>
                    <a:p>
                      <a:r>
                        <a:rPr lang="en-US" dirty="0"/>
                        <a:t>Recall</a:t>
                      </a:r>
                      <a:endParaRPr lang="en-US" dirty="0"/>
                    </a:p>
                  </a:txBody>
                  <a:tcPr/>
                </a:tc>
                <a:tc>
                  <a:txBody>
                    <a:bodyPr/>
                    <a:lstStyle/>
                    <a:p>
                      <a:r>
                        <a:rPr lang="en-US" dirty="0"/>
                        <a:t>F1-Score</a:t>
                      </a:r>
                      <a:endParaRPr lang="en-US" dirty="0"/>
                    </a:p>
                  </a:txBody>
                  <a:tcPr/>
                </a:tc>
              </a:tr>
              <a:tr h="588541">
                <a:tc>
                  <a:txBody>
                    <a:bodyPr/>
                    <a:lstStyle/>
                    <a:p>
                      <a:r>
                        <a:rPr lang="en-US" dirty="0"/>
                        <a:t>1</a:t>
                      </a:r>
                      <a:endParaRPr lang="en-US" dirty="0"/>
                    </a:p>
                  </a:txBody>
                  <a:tcPr/>
                </a:tc>
                <a:tc>
                  <a:txBody>
                    <a:bodyPr/>
                    <a:lstStyle/>
                    <a:p>
                      <a:pPr algn="r" fontAlgn="ctr"/>
                      <a:r>
                        <a:rPr lang="en-US" dirty="0">
                          <a:effectLst/>
                        </a:rPr>
                        <a:t>0.970833</a:t>
                      </a:r>
                      <a:endParaRPr lang="en-US" dirty="0">
                        <a:effectLst/>
                      </a:endParaRPr>
                    </a:p>
                  </a:txBody>
                  <a:tcPr anchor="ctr"/>
                </a:tc>
                <a:tc>
                  <a:txBody>
                    <a:bodyPr/>
                    <a:lstStyle/>
                    <a:p>
                      <a:pPr algn="r" fontAlgn="ctr"/>
                      <a:r>
                        <a:rPr lang="en-US">
                          <a:effectLst/>
                        </a:rPr>
                        <a:t>0.970777</a:t>
                      </a:r>
                      <a:endParaRPr lang="en-US">
                        <a:effectLst/>
                      </a:endParaRPr>
                    </a:p>
                  </a:txBody>
                  <a:tcPr anchor="ctr"/>
                </a:tc>
                <a:tc>
                  <a:txBody>
                    <a:bodyPr/>
                    <a:lstStyle/>
                    <a:p>
                      <a:pPr algn="r" fontAlgn="ctr"/>
                      <a:r>
                        <a:rPr lang="en-US">
                          <a:effectLst/>
                        </a:rPr>
                        <a:t>0.970833</a:t>
                      </a:r>
                      <a:endParaRPr lang="en-US">
                        <a:effectLst/>
                      </a:endParaRPr>
                    </a:p>
                  </a:txBody>
                  <a:tcPr anchor="ctr"/>
                </a:tc>
                <a:tc>
                  <a:txBody>
                    <a:bodyPr/>
                    <a:lstStyle/>
                    <a:p>
                      <a:pPr algn="r" fontAlgn="ctr"/>
                      <a:r>
                        <a:rPr lang="en-US" dirty="0">
                          <a:effectLst/>
                        </a:rPr>
                        <a:t>0.970774</a:t>
                      </a:r>
                      <a:endParaRPr lang="en-US" dirty="0">
                        <a:effectLst/>
                      </a:endParaRPr>
                    </a:p>
                  </a:txBody>
                  <a:tcPr anchor="ctr"/>
                </a:tc>
              </a:tr>
              <a:tr h="588541">
                <a:tc>
                  <a:txBody>
                    <a:bodyPr/>
                    <a:lstStyle/>
                    <a:p>
                      <a:r>
                        <a:rPr lang="en-US" dirty="0"/>
                        <a:t>2</a:t>
                      </a:r>
                      <a:endParaRPr lang="en-US" dirty="0"/>
                    </a:p>
                  </a:txBody>
                  <a:tcPr/>
                </a:tc>
                <a:tc>
                  <a:txBody>
                    <a:bodyPr/>
                    <a:lstStyle/>
                    <a:p>
                      <a:pPr algn="r" fontAlgn="ctr"/>
                      <a:r>
                        <a:rPr lang="en-US" dirty="0">
                          <a:effectLst/>
                        </a:rPr>
                        <a:t>0.960833</a:t>
                      </a:r>
                      <a:endParaRPr lang="en-US" dirty="0">
                        <a:effectLst/>
                      </a:endParaRPr>
                    </a:p>
                  </a:txBody>
                  <a:tcPr anchor="ctr"/>
                </a:tc>
                <a:tc>
                  <a:txBody>
                    <a:bodyPr/>
                    <a:lstStyle/>
                    <a:p>
                      <a:pPr algn="r" fontAlgn="ctr"/>
                      <a:r>
                        <a:rPr lang="en-US">
                          <a:effectLst/>
                        </a:rPr>
                        <a:t>0.961512</a:t>
                      </a:r>
                      <a:endParaRPr lang="en-US">
                        <a:effectLst/>
                      </a:endParaRPr>
                    </a:p>
                  </a:txBody>
                  <a:tcPr anchor="ctr"/>
                </a:tc>
                <a:tc>
                  <a:txBody>
                    <a:bodyPr/>
                    <a:lstStyle/>
                    <a:p>
                      <a:pPr algn="r" fontAlgn="ctr"/>
                      <a:r>
                        <a:rPr lang="en-US">
                          <a:effectLst/>
                        </a:rPr>
                        <a:t>0.960833</a:t>
                      </a:r>
                      <a:endParaRPr lang="en-US">
                        <a:effectLst/>
                      </a:endParaRPr>
                    </a:p>
                  </a:txBody>
                  <a:tcPr anchor="ctr"/>
                </a:tc>
                <a:tc>
                  <a:txBody>
                    <a:bodyPr/>
                    <a:lstStyle/>
                    <a:p>
                      <a:pPr algn="r" fontAlgn="ctr"/>
                      <a:r>
                        <a:rPr lang="en-US" dirty="0">
                          <a:effectLst/>
                        </a:rPr>
                        <a:t>0.961008</a:t>
                      </a:r>
                      <a:endParaRPr lang="en-US" dirty="0">
                        <a:effectLst/>
                      </a:endParaRPr>
                    </a:p>
                  </a:txBody>
                  <a:tcPr anchor="ctr"/>
                </a:tc>
              </a:tr>
              <a:tr h="588541">
                <a:tc>
                  <a:txBody>
                    <a:bodyPr/>
                    <a:lstStyle/>
                    <a:p>
                      <a:r>
                        <a:rPr lang="en-US" dirty="0"/>
                        <a:t>3</a:t>
                      </a:r>
                      <a:endParaRPr lang="en-US" dirty="0"/>
                    </a:p>
                  </a:txBody>
                  <a:tcPr/>
                </a:tc>
                <a:tc>
                  <a:txBody>
                    <a:bodyPr/>
                    <a:lstStyle/>
                    <a:p>
                      <a:pPr algn="r" fontAlgn="ctr"/>
                      <a:r>
                        <a:rPr lang="en-US" dirty="0">
                          <a:effectLst/>
                        </a:rPr>
                        <a:t>0.966667</a:t>
                      </a:r>
                      <a:endParaRPr lang="en-US" dirty="0">
                        <a:effectLst/>
                      </a:endParaRPr>
                    </a:p>
                  </a:txBody>
                  <a:tcPr anchor="ctr"/>
                </a:tc>
                <a:tc>
                  <a:txBody>
                    <a:bodyPr/>
                    <a:lstStyle/>
                    <a:p>
                      <a:pPr algn="r" fontAlgn="ctr"/>
                      <a:r>
                        <a:rPr lang="en-US">
                          <a:effectLst/>
                        </a:rPr>
                        <a:t>0.966666</a:t>
                      </a:r>
                      <a:endParaRPr lang="en-US">
                        <a:effectLst/>
                      </a:endParaRPr>
                    </a:p>
                  </a:txBody>
                  <a:tcPr anchor="ctr"/>
                </a:tc>
                <a:tc>
                  <a:txBody>
                    <a:bodyPr/>
                    <a:lstStyle/>
                    <a:p>
                      <a:pPr algn="r" fontAlgn="ctr"/>
                      <a:r>
                        <a:rPr lang="en-US">
                          <a:effectLst/>
                        </a:rPr>
                        <a:t>0.966667</a:t>
                      </a:r>
                      <a:endParaRPr lang="en-US">
                        <a:effectLst/>
                      </a:endParaRPr>
                    </a:p>
                  </a:txBody>
                  <a:tcPr anchor="ctr"/>
                </a:tc>
                <a:tc>
                  <a:txBody>
                    <a:bodyPr/>
                    <a:lstStyle/>
                    <a:p>
                      <a:pPr algn="r" fontAlgn="ctr"/>
                      <a:r>
                        <a:rPr lang="en-US" dirty="0">
                          <a:effectLst/>
                        </a:rPr>
                        <a:t>0.966657</a:t>
                      </a:r>
                      <a:endParaRPr lang="en-US" dirty="0">
                        <a:effectLst/>
                      </a:endParaRPr>
                    </a:p>
                  </a:txBody>
                  <a:tcPr anchor="ctr"/>
                </a:tc>
              </a:tr>
              <a:tr h="588541">
                <a:tc>
                  <a:txBody>
                    <a:bodyPr/>
                    <a:lstStyle/>
                    <a:p>
                      <a:r>
                        <a:rPr lang="en-US" dirty="0"/>
                        <a:t>4</a:t>
                      </a:r>
                      <a:endParaRPr lang="en-US" dirty="0"/>
                    </a:p>
                  </a:txBody>
                  <a:tcPr/>
                </a:tc>
                <a:tc>
                  <a:txBody>
                    <a:bodyPr/>
                    <a:lstStyle/>
                    <a:p>
                      <a:pPr algn="r" fontAlgn="ctr"/>
                      <a:r>
                        <a:rPr lang="en-US" dirty="0">
                          <a:effectLst/>
                        </a:rPr>
                        <a:t>0.958333</a:t>
                      </a:r>
                      <a:endParaRPr lang="en-US" dirty="0">
                        <a:effectLst/>
                      </a:endParaRPr>
                    </a:p>
                  </a:txBody>
                  <a:tcPr anchor="ctr"/>
                </a:tc>
                <a:tc>
                  <a:txBody>
                    <a:bodyPr/>
                    <a:lstStyle/>
                    <a:p>
                      <a:pPr algn="r" fontAlgn="ctr"/>
                      <a:r>
                        <a:rPr lang="en-US">
                          <a:effectLst/>
                        </a:rPr>
                        <a:t>0.958416</a:t>
                      </a:r>
                      <a:endParaRPr lang="en-US">
                        <a:effectLst/>
                      </a:endParaRPr>
                    </a:p>
                  </a:txBody>
                  <a:tcPr anchor="ctr"/>
                </a:tc>
                <a:tc>
                  <a:txBody>
                    <a:bodyPr/>
                    <a:lstStyle/>
                    <a:p>
                      <a:pPr algn="r" fontAlgn="ctr"/>
                      <a:r>
                        <a:rPr lang="en-US">
                          <a:effectLst/>
                        </a:rPr>
                        <a:t>0.958333</a:t>
                      </a:r>
                      <a:endParaRPr lang="en-US">
                        <a:effectLst/>
                      </a:endParaRPr>
                    </a:p>
                  </a:txBody>
                  <a:tcPr anchor="ctr"/>
                </a:tc>
                <a:tc>
                  <a:txBody>
                    <a:bodyPr/>
                    <a:lstStyle/>
                    <a:p>
                      <a:pPr algn="r" fontAlgn="ctr"/>
                      <a:r>
                        <a:rPr lang="en-US" dirty="0">
                          <a:effectLst/>
                        </a:rPr>
                        <a:t>0.958367</a:t>
                      </a:r>
                      <a:endParaRPr lang="en-US" dirty="0">
                        <a:effectLst/>
                      </a:endParaRPr>
                    </a:p>
                  </a:txBody>
                  <a:tcPr anchor="ctr"/>
                </a:tc>
              </a:tr>
              <a:tr h="588541">
                <a:tc>
                  <a:txBody>
                    <a:bodyPr/>
                    <a:lstStyle/>
                    <a:p>
                      <a:r>
                        <a:rPr lang="en-US" dirty="0"/>
                        <a:t>5</a:t>
                      </a:r>
                      <a:endParaRPr lang="en-US" dirty="0"/>
                    </a:p>
                  </a:txBody>
                  <a:tcPr/>
                </a:tc>
                <a:tc>
                  <a:txBody>
                    <a:bodyPr/>
                    <a:lstStyle/>
                    <a:p>
                      <a:pPr algn="r" fontAlgn="ctr"/>
                      <a:r>
                        <a:rPr lang="en-US" dirty="0">
                          <a:effectLst/>
                        </a:rPr>
                        <a:t>0.958299</a:t>
                      </a:r>
                      <a:endParaRPr lang="en-US" dirty="0">
                        <a:effectLst/>
                      </a:endParaRPr>
                    </a:p>
                  </a:txBody>
                  <a:tcPr anchor="ctr"/>
                </a:tc>
                <a:tc>
                  <a:txBody>
                    <a:bodyPr/>
                    <a:lstStyle/>
                    <a:p>
                      <a:pPr algn="r" fontAlgn="ctr"/>
                      <a:r>
                        <a:rPr lang="en-US">
                          <a:effectLst/>
                        </a:rPr>
                        <a:t>0.958337</a:t>
                      </a:r>
                      <a:endParaRPr lang="en-US">
                        <a:effectLst/>
                      </a:endParaRPr>
                    </a:p>
                  </a:txBody>
                  <a:tcPr anchor="ctr"/>
                </a:tc>
                <a:tc>
                  <a:txBody>
                    <a:bodyPr/>
                    <a:lstStyle/>
                    <a:p>
                      <a:pPr algn="r" fontAlgn="ctr"/>
                      <a:r>
                        <a:rPr lang="en-US">
                          <a:effectLst/>
                        </a:rPr>
                        <a:t>0.958283</a:t>
                      </a:r>
                      <a:endParaRPr lang="en-US">
                        <a:effectLst/>
                      </a:endParaRPr>
                    </a:p>
                  </a:txBody>
                  <a:tcPr anchor="ctr"/>
                </a:tc>
                <a:tc>
                  <a:txBody>
                    <a:bodyPr/>
                    <a:lstStyle/>
                    <a:p>
                      <a:pPr algn="r" fontAlgn="ctr"/>
                      <a:r>
                        <a:rPr lang="en-US" dirty="0">
                          <a:effectLst/>
                        </a:rPr>
                        <a:t>0.958306</a:t>
                      </a:r>
                      <a:endParaRPr lang="en-US" dirty="0">
                        <a:effectLst/>
                      </a:endParaRPr>
                    </a:p>
                  </a:txBody>
                  <a:tcPr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BRIEF DESCRIPTION OF MODELS</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
        <p:nvSpPr>
          <p:cNvPr id="3" name="TextBox 2"/>
          <p:cNvSpPr txBox="1"/>
          <p:nvPr/>
        </p:nvSpPr>
        <p:spPr>
          <a:xfrm>
            <a:off x="0" y="1925053"/>
            <a:ext cx="10693400" cy="2677656"/>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LOGISTIC REGRESSION </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ea typeface="Tahoma" panose="020B0604030504040204" pitchFamily="34" charset="0"/>
                <a:cs typeface="Times New Roman" panose="02020603050405020304" pitchFamily="18" charset="0"/>
              </a:rPr>
              <a:t>Logistic regression is a statistical model used for binary classification tasks, where the output is a categorical variable with two possible outcomes. The model uses a sigmoid function to map predicted values to probabilities. </a:t>
            </a:r>
            <a:endParaRPr lang="en-US" sz="2400" dirty="0">
              <a:latin typeface="Times New Roman" panose="02020603050405020304" pitchFamily="18" charset="0"/>
              <a:ea typeface="Tahoma" panose="020B0604030504040204" pitchFamily="34" charset="0"/>
              <a:cs typeface="Times New Roman" panose="02020603050405020304" pitchFamily="18" charset="0"/>
            </a:endParaRPr>
          </a:p>
          <a:p>
            <a:pPr>
              <a:buNone/>
            </a:pPr>
            <a:endParaRPr lang="en-US" sz="2400" dirty="0"/>
          </a:p>
          <a:p>
            <a:pPr>
              <a:buNone/>
            </a:pPr>
            <a:endParaRPr lang="en-US" sz="24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488"/>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MACHINE LEARNING WORKFLOW</a:t>
            </a:r>
            <a:endParaRPr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5820119"/>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pic>
        <p:nvPicPr>
          <p:cNvPr id="8" name="Picture 7" descr="A diagram of a flowchart&#10;&#10;AI-generated content may be incorrect."/>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742733"/>
            <a:ext cx="10693400" cy="58201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MOBILE APP PROGRESS</a:t>
            </a:r>
            <a:endParaRPr lang="en-US" sz="4800" spc="-95" dirty="0">
              <a:latin typeface="Times New Roman" panose="02020603050405020304" pitchFamily="18" charset="0"/>
              <a:cs typeface="Times New Roman" panose="02020603050405020304" pitchFamily="18" charset="0"/>
            </a:endParaRPr>
          </a:p>
        </p:txBody>
      </p:sp>
      <p:sp>
        <p:nvSpPr>
          <p:cNvPr id="7" name="object 3"/>
          <p:cNvSpPr txBox="1"/>
          <p:nvPr/>
        </p:nvSpPr>
        <p:spPr>
          <a:xfrm>
            <a:off x="0" y="1925053"/>
            <a:ext cx="10693400" cy="6871970"/>
          </a:xfrm>
          <a:prstGeom prst="rect">
            <a:avLst/>
          </a:prstGeom>
        </p:spPr>
        <p:txBody>
          <a:bodyPr vert="horz" wrap="square" lIns="0" tIns="216535" rIns="0" bIns="0" rtlCol="0" anchor="t">
            <a:spAutoFit/>
          </a:bodyPr>
          <a:lstStyle/>
          <a:p>
            <a:pP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sz="2200" b="1" dirty="0">
                <a:latin typeface="Times New Roman" panose="02020603050405020304" pitchFamily="18" charset="0"/>
                <a:cs typeface="Times New Roman" panose="02020603050405020304" pitchFamily="18" charset="0"/>
              </a:rPr>
              <a:t>Setting up backend functionality for SMS Notifications for:</a:t>
            </a: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tabLst>
                <a:tab pos="469265" algn="l"/>
                <a:tab pos="469900" algn="l"/>
              </a:tabLst>
            </a:pPr>
            <a:r>
              <a:rPr lang="en-US" sz="2200" b="1" dirty="0">
                <a:latin typeface="Times New Roman" panose="02020603050405020304" pitchFamily="18" charset="0"/>
                <a:cs typeface="Times New Roman" panose="02020603050405020304" pitchFamily="18" charset="0"/>
              </a:rPr>
              <a:t>Medication Reminders</a:t>
            </a: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tabLst>
                <a:tab pos="469265" algn="l"/>
                <a:tab pos="469900" algn="l"/>
              </a:tabLst>
            </a:pPr>
            <a:r>
              <a:rPr lang="en-US" sz="2200" b="1" dirty="0">
                <a:latin typeface="Times New Roman" panose="02020603050405020304" pitchFamily="18" charset="0"/>
                <a:cs typeface="Times New Roman" panose="02020603050405020304" pitchFamily="18" charset="0"/>
              </a:rPr>
              <a:t>Antenatal Visit Reminder</a:t>
            </a:r>
            <a:endParaRPr lang="en-US" sz="2200" b="1"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tabLst>
                <a:tab pos="469265" algn="l"/>
                <a:tab pos="469900" algn="l"/>
              </a:tabLst>
            </a:pPr>
            <a:r>
              <a:rPr lang="en-US" sz="2200" b="1" dirty="0">
                <a:latin typeface="Times New Roman" panose="02020603050405020304" pitchFamily="18" charset="0"/>
                <a:cs typeface="Times New Roman" panose="02020603050405020304" pitchFamily="18" charset="0"/>
              </a:rPr>
              <a:t>Daily Pregnancy Tips Based on Subsription or Not</a:t>
            </a: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435605"/>
            <a:ext cx="11030284" cy="1489710"/>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BODY TEMPERATURE MEASUREMENT</a:t>
            </a:r>
            <a:endParaRPr lang="en-US"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6970395"/>
          </a:xfrm>
          <a:prstGeom prst="rect">
            <a:avLst/>
          </a:prstGeom>
        </p:spPr>
        <p:txBody>
          <a:bodyPr vert="horz" wrap="square" lIns="0" tIns="216535" rIns="0" bIns="0" rtlCol="0" anchor="t">
            <a:spAutoFit/>
          </a:bodyPr>
          <a:lstStyle/>
          <a:p>
            <a:pPr indent="0">
              <a:buFont typeface="+mj-lt"/>
              <a:buNone/>
              <a:tabLst>
                <a:tab pos="469265" algn="l"/>
                <a:tab pos="469900" algn="l"/>
              </a:tabLst>
            </a:pPr>
            <a:r>
              <a:rPr lang="en-US" altLang="en-US" sz="3500" b="1" baseline="30000" dirty="0">
                <a:latin typeface="Times New Roman" panose="02020603050405020304" pitchFamily="18" charset="0"/>
                <a:cs typeface="Times New Roman" panose="02020603050405020304" pitchFamily="18" charset="0"/>
              </a:rPr>
              <a:t> (A) TMP117 Temperature Sensor </a:t>
            </a: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r>
              <a:rPr lang="en-US" altLang="en-US" sz="3500" b="1" baseline="30000" dirty="0">
                <a:latin typeface="Times New Roman" panose="02020603050405020304" pitchFamily="18" charset="0"/>
                <a:cs typeface="Times New Roman" panose="02020603050405020304" pitchFamily="18" charset="0"/>
              </a:rPr>
              <a:t>(B) MAX30205 Temperature Sensor </a:t>
            </a: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altLang="en-US" sz="3500" b="1" baseline="30000"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r>
              <a:rPr lang="en-US" altLang="en-US" sz="3500" b="1" baseline="30000" dirty="0">
                <a:latin typeface="Times New Roman" panose="02020603050405020304" pitchFamily="18" charset="0"/>
                <a:cs typeface="Times New Roman" panose="02020603050405020304" pitchFamily="18" charset="0"/>
              </a:rPr>
              <a:t>(C) ADT7420 Temperature Sensor </a:t>
            </a:r>
            <a:endParaRPr lang="en-US" altLang="en-US" sz="35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TMP117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65277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Voltage Range: 1.7 V to 5.5 V</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Power Consumption:</a:t>
            </a:r>
            <a:endParaRPr lang="en-US" altLang="en-US" sz="2600" b="1" dirty="0">
              <a:latin typeface="Times New Roman" panose="02020603050405020304"/>
              <a:cs typeface="Calibri" panose="020F0502020204030204"/>
            </a:endParaRPr>
          </a:p>
          <a:p>
            <a:pPr marL="469900" lvl="1">
              <a:lnSpc>
                <a:spcPct val="150000"/>
              </a:lnSpc>
              <a:spcBef>
                <a:spcPts val="1605"/>
              </a:spcBef>
              <a:tabLst>
                <a:tab pos="469265" algn="l"/>
                <a:tab pos="469900" algn="l"/>
              </a:tabLst>
            </a:pPr>
            <a:r>
              <a:rPr lang="en-US" altLang="en-US" sz="2600" b="1" dirty="0">
                <a:latin typeface="Times New Roman" panose="02020603050405020304"/>
                <a:cs typeface="Calibri" panose="020F0502020204030204"/>
              </a:rPr>
              <a:t>• Active: 3.5 μA (typical)</a:t>
            </a:r>
            <a:endParaRPr lang="en-US" altLang="en-US" sz="2600" b="1" dirty="0">
              <a:latin typeface="Times New Roman" panose="02020603050405020304"/>
              <a:cs typeface="Calibri" panose="020F0502020204030204"/>
            </a:endParaRPr>
          </a:p>
          <a:p>
            <a:pPr marL="469900" lvl="1">
              <a:lnSpc>
                <a:spcPct val="150000"/>
              </a:lnSpc>
              <a:spcBef>
                <a:spcPts val="1605"/>
              </a:spcBef>
              <a:tabLst>
                <a:tab pos="469265" algn="l"/>
                <a:tab pos="469900" algn="l"/>
              </a:tabLst>
            </a:pPr>
            <a:r>
              <a:rPr lang="en-US" altLang="en-US" sz="2600" b="1" dirty="0">
                <a:latin typeface="Times New Roman" panose="02020603050405020304"/>
                <a:cs typeface="Calibri" panose="020F0502020204030204"/>
              </a:rPr>
              <a:t>• Shutdown: 150 nA</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Conversion Rate: 1 Hz (1 reading/second)</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Operating Temp Range: –55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to 150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a:t>
            </a:r>
            <a:endParaRPr lang="en-US" altLang="en-US" sz="2600" b="1" dirty="0">
              <a:latin typeface="Times New Roman" panose="02020603050405020304"/>
              <a:cs typeface="Calibri" panose="020F0502020204030204"/>
            </a:endParaRPr>
          </a:p>
          <a:p>
            <a:pPr marL="12700" indent="0">
              <a:lnSpc>
                <a:spcPct val="150000"/>
              </a:lnSpc>
              <a:spcBef>
                <a:spcPts val="1605"/>
              </a:spcBef>
              <a:buFont typeface="+mj-lt"/>
              <a:buNone/>
              <a:tabLst>
                <a:tab pos="469265" algn="l"/>
                <a:tab pos="469900" algn="l"/>
              </a:tabLst>
            </a:pPr>
            <a:endParaRPr lang="en-US" altLang="en-US" sz="2600" b="1" dirty="0">
              <a:latin typeface="Times New Roman" panose="02020603050405020304"/>
              <a:cs typeface="Calibri" panose="020F0502020204030204"/>
            </a:endParaRPr>
          </a:p>
        </p:txBody>
      </p:sp>
      <p:pic>
        <p:nvPicPr>
          <p:cNvPr id="3" name="Picture 2" descr="TMP117"/>
          <p:cNvPicPr>
            <a:picLocks noChangeAspect="1"/>
          </p:cNvPicPr>
          <p:nvPr/>
        </p:nvPicPr>
        <p:blipFill>
          <a:blip r:embed="rId2"/>
          <a:stretch>
            <a:fillRect/>
          </a:stretch>
        </p:blipFill>
        <p:spPr>
          <a:xfrm>
            <a:off x="6773545" y="2180590"/>
            <a:ext cx="3576955" cy="31369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TMP117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65277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Accuracy:</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±0.1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(–20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to 50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±0.3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(–55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 to 150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a:t>
            </a:r>
            <a:endParaRPr lang="en-US" altLang="en-US" sz="2600" b="1" dirty="0">
              <a:latin typeface="Times New Roman" panose="02020603050405020304"/>
              <a:cs typeface="Calibri" panose="020F0502020204030204"/>
            </a:endParaRPr>
          </a:p>
          <a:p>
            <a:pPr marL="527050" lvl="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Resolution: 16-bit → 0.0078 </a:t>
            </a:r>
            <a:r>
              <a:rPr lang="" altLang="en-US" sz="2600" b="1" dirty="0">
                <a:latin typeface="Times New Roman" panose="02020603050405020304"/>
                <a:cs typeface="Calibri" panose="020F0502020204030204"/>
              </a:rPr>
              <a:t>°</a:t>
            </a:r>
            <a:r>
              <a:rPr lang="en-US" altLang="en-US" sz="2600" b="1" dirty="0">
                <a:latin typeface="Times New Roman" panose="02020603050405020304"/>
                <a:cs typeface="Calibri" panose="020F0502020204030204"/>
              </a:rPr>
              <a:t>C/LSB</a:t>
            </a:r>
            <a:endParaRPr lang="en-US" altLang="en-US" sz="2600" b="1" dirty="0">
              <a:latin typeface="Times New Roman" panose="02020603050405020304"/>
              <a:cs typeface="Calibri" panose="020F0502020204030204"/>
            </a:endParaRPr>
          </a:p>
          <a:p>
            <a:pPr marL="527050" lvl="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Thermal Response Time: ~0.39 to 0.72 s</a:t>
            </a:r>
            <a:endParaRPr lang="en-US" altLang="en-US" sz="2600" b="1" dirty="0">
              <a:latin typeface="Times New Roman" panose="02020603050405020304"/>
              <a:cs typeface="Calibri" panose="020F0502020204030204"/>
            </a:endParaRPr>
          </a:p>
          <a:p>
            <a:pPr marL="527050" lvl="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Communication Protocol: I²C</a:t>
            </a:r>
            <a:endParaRPr lang="en-US" altLang="en-US" sz="2600" b="1" dirty="0">
              <a:latin typeface="Times New Roman" panose="02020603050405020304"/>
              <a:cs typeface="Calibri" panose="020F0502020204030204"/>
            </a:endParaRPr>
          </a:p>
          <a:p>
            <a:pPr marL="12700" indent="0">
              <a:lnSpc>
                <a:spcPct val="150000"/>
              </a:lnSpc>
              <a:spcBef>
                <a:spcPts val="1605"/>
              </a:spcBef>
              <a:buFont typeface="+mj-lt"/>
              <a:buNone/>
              <a:tabLst>
                <a:tab pos="469265" algn="l"/>
                <a:tab pos="469900" algn="l"/>
              </a:tabLst>
            </a:pPr>
            <a:endParaRPr lang="en-US" altLang="en-US" sz="2600" b="1" dirty="0">
              <a:latin typeface="Times New Roman" panose="02020603050405020304"/>
              <a:cs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TMP117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556006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Size:</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WSON: 2.00 mm × 2.00 mm</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600" b="1" dirty="0">
                <a:latin typeface="Times New Roman" panose="02020603050405020304"/>
                <a:cs typeface="Calibri" panose="020F0502020204030204"/>
              </a:rPr>
              <a:t>• DSBGA: 1.53 mm × 1.00 mm</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Applications: Wearables, industrial sensing, medical devices</a:t>
            </a:r>
            <a:endParaRPr lang="en-US" altLang="en-US" sz="26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600" b="1" dirty="0">
                <a:latin typeface="Times New Roman" panose="02020603050405020304"/>
                <a:cs typeface="Calibri" panose="020F0502020204030204"/>
              </a:rPr>
              <a:t>Cost Range: $2.15 – $7.68 USD</a:t>
            </a:r>
            <a:endParaRPr lang="en-US" altLang="en-US" sz="26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$2.15 → TMP117MAIDRVR</a:t>
            </a:r>
            <a:endParaRPr lang="en-US" altLang="en-US" sz="24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$7.68 → TMP117AIDRVT Digi-Reel</a:t>
            </a:r>
            <a:endParaRPr lang="en-US" altLang="en-US" sz="2400" b="1" dirty="0">
              <a:latin typeface="Times New Roman" panose="02020603050405020304"/>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MAX30205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3049905"/>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Temperature Range: 0 </a:t>
            </a:r>
            <a:r>
              <a:rPr lang="" altLang="en-US" sz="2400" b="1" dirty="0">
                <a:latin typeface="Times New Roman" panose="02020603050405020304"/>
                <a:cs typeface="Calibri" panose="020F0502020204030204"/>
              </a:rPr>
              <a:t>°</a:t>
            </a:r>
            <a:r>
              <a:rPr lang="en-US" altLang="en-US" sz="2400" b="1" dirty="0">
                <a:latin typeface="Times New Roman" panose="02020603050405020304"/>
                <a:cs typeface="Calibri" panose="020F0502020204030204"/>
              </a:rPr>
              <a:t>C to +50 </a:t>
            </a:r>
            <a:r>
              <a:rPr lang="" altLang="en-US" sz="2400" b="1" dirty="0">
                <a:latin typeface="Times New Roman" panose="02020603050405020304"/>
                <a:cs typeface="Calibri" panose="020F0502020204030204"/>
              </a:rPr>
              <a:t>°</a:t>
            </a:r>
            <a:r>
              <a:rPr lang="en-US" altLang="en-US" sz="2400" b="1" dirty="0">
                <a:latin typeface="Times New Roman" panose="02020603050405020304"/>
                <a:cs typeface="Calibri" panose="020F0502020204030204"/>
              </a:rPr>
              <a:t>C</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Accuracy: ±0.1 </a:t>
            </a:r>
            <a:r>
              <a:rPr lang="" altLang="en-US" sz="2400" b="1" dirty="0">
                <a:latin typeface="Times New Roman" panose="02020603050405020304"/>
                <a:cs typeface="Calibri" panose="020F0502020204030204"/>
              </a:rPr>
              <a:t>°</a:t>
            </a:r>
            <a:r>
              <a:rPr lang="en-US" altLang="en-US" sz="2400" b="1" dirty="0">
                <a:latin typeface="Times New Roman" panose="02020603050405020304"/>
                <a:cs typeface="Calibri" panose="020F0502020204030204"/>
              </a:rPr>
              <a:t>C (medical-grade)</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Supply Voltage: 2.7 V to 3.3 V</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Communication Protocol: I²C</a:t>
            </a:r>
            <a:endParaRPr lang="en-US" altLang="en-US" sz="2400" b="1" dirty="0">
              <a:latin typeface="Times New Roman" panose="02020603050405020304"/>
              <a:cs typeface="Calibri" panose="020F0502020204030204"/>
            </a:endParaRPr>
          </a:p>
        </p:txBody>
      </p:sp>
      <p:pic>
        <p:nvPicPr>
          <p:cNvPr id="3" name="Picture 2" descr="MAX30205"/>
          <p:cNvPicPr>
            <a:picLocks noChangeAspect="1"/>
          </p:cNvPicPr>
          <p:nvPr/>
        </p:nvPicPr>
        <p:blipFill>
          <a:blip r:embed="rId2"/>
          <a:stretch>
            <a:fillRect/>
          </a:stretch>
        </p:blipFill>
        <p:spPr>
          <a:xfrm>
            <a:off x="5997575" y="2414905"/>
            <a:ext cx="4014470" cy="27679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MAX30205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6849110"/>
          </a:xfrm>
          <a:prstGeom prst="rect">
            <a:avLst/>
          </a:prstGeom>
        </p:spPr>
        <p:txBody>
          <a:bodyPr vert="horz" wrap="square" lIns="0" tIns="216535" rIns="0" bIns="0" rtlCol="0" anchor="t">
            <a:spAutoFit/>
          </a:bodyPr>
          <a:lstStyle/>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Power Consumption:</a:t>
            </a:r>
            <a:endParaRPr lang="en-US" altLang="en-US" sz="24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Active: 600 µA (typical)</a:t>
            </a:r>
            <a:endParaRPr lang="en-US" altLang="en-US" sz="2400" b="1" dirty="0">
              <a:latin typeface="Times New Roman" panose="02020603050405020304"/>
              <a:cs typeface="Calibri" panose="020F0502020204030204"/>
            </a:endParaRPr>
          </a:p>
          <a:p>
            <a:pPr marL="469900" lvl="1" indent="0">
              <a:lnSpc>
                <a:spcPct val="150000"/>
              </a:lnSpc>
              <a:spcBef>
                <a:spcPts val="1605"/>
              </a:spcBef>
              <a:buFont typeface="+mj-lt"/>
              <a:buNone/>
              <a:tabLst>
                <a:tab pos="469265" algn="l"/>
                <a:tab pos="469900" algn="l"/>
              </a:tabLst>
            </a:pPr>
            <a:r>
              <a:rPr lang="en-US" altLang="en-US" sz="2400" b="1" dirty="0">
                <a:latin typeface="Times New Roman" panose="02020603050405020304"/>
                <a:cs typeface="Calibri" panose="020F0502020204030204"/>
              </a:rPr>
              <a:t>• Shutdown: 0.1 µA</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Response Time: Fast (real-time optimized)</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Applications: Wearables, health monitors, medical devices</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rPr>
              <a:t>Cost: $11.69 USD</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r>
              <a:rPr lang="en-US" altLang="en-US" sz="2400" b="1" dirty="0">
                <a:latin typeface="Times New Roman" panose="02020603050405020304"/>
                <a:cs typeface="Calibri" panose="020F0502020204030204"/>
                <a:sym typeface="+mn-ea"/>
              </a:rPr>
              <a:t>Dimensions: 4.9 mm × 3.9 mm</a:t>
            </a: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endParaRPr lang="en-US" altLang="en-US" sz="2400" b="1" dirty="0">
              <a:latin typeface="Times New Roman" panose="02020603050405020304"/>
              <a:cs typeface="Calibri" panose="020F0502020204030204"/>
            </a:endParaRPr>
          </a:p>
          <a:p>
            <a:pPr marL="527050" indent="-514350">
              <a:lnSpc>
                <a:spcPct val="150000"/>
              </a:lnSpc>
              <a:spcBef>
                <a:spcPts val="1605"/>
              </a:spcBef>
              <a:buFont typeface="+mj-lt"/>
              <a:buAutoNum type="arabicParenR"/>
              <a:tabLst>
                <a:tab pos="469265" algn="l"/>
                <a:tab pos="469900" algn="l"/>
              </a:tabLst>
            </a:pPr>
            <a:endParaRPr lang="en-US" altLang="en-US" sz="2400" b="1" dirty="0">
              <a:latin typeface="Times New Roman" panose="02020603050405020304"/>
              <a:cs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952495"/>
            <a:ext cx="11030284" cy="612775"/>
          </a:xfrm>
          <a:prstGeom prst="rect">
            <a:avLst/>
          </a:prstGeom>
        </p:spPr>
        <p:txBody>
          <a:bodyPr vert="horz" wrap="square" lIns="0" tIns="12700" rIns="0" bIns="0" rtlCol="0">
            <a:spAutoFit/>
          </a:bodyPr>
          <a:lstStyle/>
          <a:p>
            <a:pPr marL="12700" algn="ctr">
              <a:lnSpc>
                <a:spcPct val="100000"/>
              </a:lnSpc>
              <a:spcBef>
                <a:spcPts val="100"/>
              </a:spcBef>
            </a:pPr>
            <a:r>
              <a:rPr lang="en-US" altLang="en-US" sz="6000" baseline="30000" dirty="0">
                <a:latin typeface="Times New Roman" panose="02020603050405020304" pitchFamily="18" charset="0"/>
                <a:cs typeface="Times New Roman" panose="02020603050405020304" pitchFamily="18" charset="0"/>
                <a:sym typeface="+mn-ea"/>
              </a:rPr>
              <a:t>ADT7420  Temperature Sensor</a:t>
            </a:r>
            <a:endParaRPr lang="en-US" sz="60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Temperature Range: –40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+150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Accuracy: ±0.1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(medical-grade)</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Supply Voltage: 2.7 V to 5.5 V</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Protocols: I²C or SPI</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Power Consumption:</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Active: 210 µA</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Shutdown: 2 µA</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Package Size: 16-lead LFCSP (3 mm × 3 mm)</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Applications: Wearables, industrial equipment, healthcare devices</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r>
              <a:rPr lang="en-US" altLang="en-US" sz="2400" b="1">
                <a:latin typeface="Times New Roman" panose="02020603050405020304" pitchFamily="18" charset="0"/>
                <a:cs typeface="Times New Roman" panose="02020603050405020304" pitchFamily="18" charset="0"/>
              </a:rPr>
              <a:t>Cost: $9.87 USD</a:t>
            </a:r>
            <a:endParaRPr lang="en-US" altLang="en-US" sz="2400" b="1">
              <a:latin typeface="Times New Roman" panose="02020603050405020304" pitchFamily="18" charset="0"/>
              <a:cs typeface="Times New Roman" panose="02020603050405020304" pitchFamily="18" charset="0"/>
            </a:endParaRPr>
          </a:p>
          <a:p>
            <a:pPr marL="342900" indent="-3429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pic>
        <p:nvPicPr>
          <p:cNvPr id="4" name="Picture 3" descr="ADT7"/>
          <p:cNvPicPr>
            <a:picLocks noChangeAspect="1"/>
          </p:cNvPicPr>
          <p:nvPr/>
        </p:nvPicPr>
        <p:blipFill>
          <a:blip r:embed="rId2"/>
          <a:stretch>
            <a:fillRect/>
          </a:stretch>
        </p:blipFill>
        <p:spPr>
          <a:xfrm>
            <a:off x="7094220" y="2326640"/>
            <a:ext cx="2742565" cy="22802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sz="4500" spc="-95" dirty="0">
                <a:latin typeface="Times New Roman" panose="02020603050405020304" pitchFamily="18" charset="0"/>
                <a:cs typeface="Times New Roman" panose="02020603050405020304" pitchFamily="18" charset="0"/>
              </a:rPr>
              <a:t>KEY ADVANTAGES OF TMP117 SENSOR</a:t>
            </a:r>
            <a:endParaRPr 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Ultra-low power consumption : extends battery life in wearables </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Tiny size : Fits in compact designs like smart patches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Medical-grade accuracy : ±0.1</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in body temperature range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Cost-effective </a:t>
            </a: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Heart Rate and Oxygen Saturation Sensor</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MAX30102 Sensor</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SparkFun Pulse Oximeter (MAX32664C Integrated)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MAX30112 Sensor </a:t>
            </a: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MAX30102 Sensor</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Functionality: Measures Heart Rate (PPG) and SpO₂</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 I²C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Supply Voltage: VDD = 1.8V; LED Driver = 3.3V–5.5V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Temp Range: –40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+85</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Consumption:</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Active: 1.6 mA</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Shutdown: 0.7 µA</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Size: 5.6 mm × 3.3 mm × 1.55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Continuous Power Dissipation: 440 mW @ 70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 Supports I²C protocol</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 $12.99 USD</a:t>
            </a:r>
            <a:endParaRPr lang="en-US" altLang="en-US" sz="2400" b="1">
              <a:latin typeface="Times New Roman" panose="02020603050405020304" pitchFamily="18" charset="0"/>
              <a:cs typeface="Times New Roman" panose="02020603050405020304" pitchFamily="18" charset="0"/>
            </a:endParaRPr>
          </a:p>
        </p:txBody>
      </p:sp>
      <p:pic>
        <p:nvPicPr>
          <p:cNvPr id="7" name="Picture 6" descr="max30102"/>
          <p:cNvPicPr>
            <a:picLocks noChangeAspect="1"/>
          </p:cNvPicPr>
          <p:nvPr/>
        </p:nvPicPr>
        <p:blipFill>
          <a:blip r:embed="rId2"/>
          <a:stretch>
            <a:fillRect/>
          </a:stretch>
        </p:blipFill>
        <p:spPr>
          <a:xfrm>
            <a:off x="7600950" y="3781425"/>
            <a:ext cx="2794000" cy="23749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SparkFun Pulse Oximeter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Functionality: Measures Heart Rate and SpO₂</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Consumption: ~0.7 mA (operating)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 I²C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Supply Voltage: 1.8V to 3.3V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Size: 12.7 mm × 10.2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Pre-calibrated sensor (saves setup time)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Optimized for ESP32 and prototyping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 $52.52 USD</a:t>
            </a:r>
            <a:endParaRPr lang="en-US" altLang="en-US" sz="2400" b="1">
              <a:latin typeface="Times New Roman" panose="02020603050405020304" pitchFamily="18" charset="0"/>
              <a:cs typeface="Times New Roman" panose="02020603050405020304" pitchFamily="18" charset="0"/>
            </a:endParaRPr>
          </a:p>
        </p:txBody>
      </p:sp>
      <p:pic>
        <p:nvPicPr>
          <p:cNvPr id="4" name="Picture 3" descr="spark"/>
          <p:cNvPicPr>
            <a:picLocks noChangeAspect="1"/>
          </p:cNvPicPr>
          <p:nvPr/>
        </p:nvPicPr>
        <p:blipFill>
          <a:blip r:embed="rId2"/>
          <a:stretch>
            <a:fillRect/>
          </a:stretch>
        </p:blipFill>
        <p:spPr>
          <a:xfrm>
            <a:off x="6957695" y="2375535"/>
            <a:ext cx="3629660" cy="417068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MAX30112 Sensor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Supply Voltage:</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Core: 1.8V</a:t>
            </a:r>
            <a:endParaRPr lang="en-US" altLang="en-US" sz="2400" b="1">
              <a:latin typeface="Times New Roman" panose="02020603050405020304" pitchFamily="18" charset="0"/>
              <a:cs typeface="Times New Roman" panose="02020603050405020304" pitchFamily="18" charset="0"/>
            </a:endParaRPr>
          </a:p>
          <a:p>
            <a:pPr lvl="1" indent="0">
              <a:buFont typeface="+mj-lt"/>
              <a:buNone/>
            </a:pPr>
            <a:r>
              <a:rPr lang="en-US" altLang="en-US" sz="2400" b="1">
                <a:latin typeface="Times New Roman" panose="02020603050405020304" pitchFamily="18" charset="0"/>
                <a:cs typeface="Times New Roman" panose="02020603050405020304" pitchFamily="18" charset="0"/>
              </a:rPr>
              <a:t>• LED: 3.1V to 5.25V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Temp Range: –40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+85</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Shutdown Current: 1.4 µA </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Communication Protocol: I²C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Size: 2.8 mm × 2.0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Package: 6×4 ball WLP (0.4 mm pitch)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Continuous Power Dissipation: 440 mW @ 70</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Cost: $6.80 USD</a:t>
            </a:r>
            <a:endParaRPr lang="en-US" altLang="en-US" sz="2400" b="1">
              <a:latin typeface="Times New Roman" panose="02020603050405020304" pitchFamily="18" charset="0"/>
              <a:cs typeface="Times New Roman" panose="02020603050405020304" pitchFamily="18" charset="0"/>
            </a:endParaRPr>
          </a:p>
        </p:txBody>
      </p:sp>
      <p:pic>
        <p:nvPicPr>
          <p:cNvPr id="4" name="Picture 3" descr="max3112"/>
          <p:cNvPicPr>
            <a:picLocks noChangeAspect="1"/>
          </p:cNvPicPr>
          <p:nvPr/>
        </p:nvPicPr>
        <p:blipFill>
          <a:blip r:embed="rId2"/>
          <a:stretch>
            <a:fillRect/>
          </a:stretch>
        </p:blipFill>
        <p:spPr>
          <a:xfrm>
            <a:off x="6435090" y="2967355"/>
            <a:ext cx="3915410" cy="313563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952495"/>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KEY ADVANTAGES OF MAX30102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Compact Size – Ideal for Space Constraints</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At just 5.6 mm × 3.3 mm × 1.55 mm, the MAX30102 is small enough to fit into slim and stylish smartwatch designs without compromising aesthetics or comfort.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 Power Consumption – Crucial for Battery Life</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Active: 1.6 mA (typical)</a:t>
            </a:r>
            <a:endParaRPr lang="en-US" altLang="en-US" sz="24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Shutdown: 0.7 µA</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596895"/>
            <a:ext cx="11030284" cy="124333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BLOOD PRESSURE AND BLOOD GLUCOSE MEASUREMENT</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AS7263 Near Infrared (NIR) Spectral Sensor</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Functionality: Measures near-infrared reflectance for spectroscopy</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Detected Wavelengths: 610, 680, 730, 760, 810, 860 nm (±10 nm bandwidth)</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ADC: 16-bit digital output</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Operating Voltage: 2.7V to 3.6V</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Built-in NIR LED for illumination</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External LED pins for custom lighting</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2x Qwiic connectors for I²C integration</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Power Supply: Qwiic-enabled (1 mm pitch 4-pin JST)</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Communication Interfaces: I²C (Addr: 0x49) &amp; UART </a:t>
            </a:r>
            <a:endParaRPr lang="en-US" altLang="en-US" sz="2400" b="1">
              <a:latin typeface="Times New Roman" panose="02020603050405020304" pitchFamily="18" charset="0"/>
              <a:cs typeface="Times New Roman" panose="02020603050405020304" pitchFamily="18" charset="0"/>
            </a:endParaRPr>
          </a:p>
        </p:txBody>
      </p:sp>
      <p:pic>
        <p:nvPicPr>
          <p:cNvPr id="4" name="Picture 3" descr="NIR"/>
          <p:cNvPicPr>
            <a:picLocks noChangeAspect="1"/>
          </p:cNvPicPr>
          <p:nvPr/>
        </p:nvPicPr>
        <p:blipFill>
          <a:blip r:embed="rId2"/>
          <a:stretch>
            <a:fillRect/>
          </a:stretch>
        </p:blipFill>
        <p:spPr>
          <a:xfrm>
            <a:off x="6876415" y="3781425"/>
            <a:ext cx="3272155" cy="22904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596895"/>
            <a:ext cx="11030284" cy="124333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BLOOD PRESSURE AND BLOOD GLUCOSE MEASUREMENT</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Applications:</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Material classification</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Biomedical monitoring</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Wearable NIR sensing</a:t>
            </a:r>
            <a:endParaRPr lang="en-US" altLang="en-US" sz="2400" b="1">
              <a:latin typeface="Times New Roman" panose="02020603050405020304" pitchFamily="18" charset="0"/>
              <a:cs typeface="Times New Roman" panose="02020603050405020304" pitchFamily="18" charset="0"/>
            </a:endParaRPr>
          </a:p>
          <a:p>
            <a:pPr lvl="2" indent="0">
              <a:buFont typeface="Arial" panose="020B0604020202020204" pitchFamily="34" charset="0"/>
              <a:buNone/>
            </a:pPr>
            <a:r>
              <a:rPr lang="en-US" altLang="en-US" sz="2400" b="1">
                <a:latin typeface="Times New Roman" panose="02020603050405020304" pitchFamily="18" charset="0"/>
                <a:cs typeface="Times New Roman" panose="02020603050405020304" pitchFamily="18" charset="0"/>
              </a:rPr>
              <a:t>• Agricultural analysis</a:t>
            </a: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Cost: $33.59 USD</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Why I²C Communication ?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Compact Design = Fewer Wires = Smaller Wearable</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Ultra-Low Power = Longer Battery Life</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Multi-Sensor Support on One Bus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Code Efficiency with ESP32 Libraries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Scalable and Ready for Expansion</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MICROCONTROLLERS FOR WEARABLE DEVICE</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ESP32-S3-WROOM-1/1U/2</a:t>
            </a:r>
            <a:endParaRPr lang="en-US" altLang="en-US" sz="2400" b="1">
              <a:latin typeface="Times New Roman" panose="02020603050405020304" pitchFamily="18" charset="0"/>
              <a:cs typeface="Times New Roman" panose="02020603050405020304" pitchFamily="18" charset="0"/>
              <a:sym typeface="+mn-ea"/>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SiFli SF32LB5J</a:t>
            </a:r>
            <a:endParaRPr lang="en-US" altLang="en-US" sz="2400" b="1">
              <a:latin typeface="Times New Roman" panose="02020603050405020304" pitchFamily="18" charset="0"/>
              <a:cs typeface="Times New Roman" panose="02020603050405020304" pitchFamily="18" charset="0"/>
              <a:sym typeface="+mn-ea"/>
            </a:endParaRPr>
          </a:p>
          <a:p>
            <a:pPr marL="457200" indent="-457200">
              <a:buFont typeface="+mj-lt"/>
              <a:buAutoNum type="arabicParenR"/>
            </a:pPr>
            <a:r>
              <a:rPr lang="en-US" altLang="en-US" sz="2400" b="1" spc="-95" dirty="0">
                <a:latin typeface="Times New Roman" panose="02020603050405020304" pitchFamily="18" charset="0"/>
                <a:cs typeface="Times New Roman" panose="02020603050405020304" pitchFamily="18" charset="0"/>
                <a:sym typeface="+mn-ea"/>
              </a:rPr>
              <a:t>STM32F217</a:t>
            </a:r>
            <a:endParaRPr lang="en-US" altLang="en-US" sz="2400" b="1">
              <a:latin typeface="Times New Roman" panose="02020603050405020304" pitchFamily="18" charset="0"/>
              <a:cs typeface="Times New Roman" panose="02020603050405020304" pitchFamily="18" charset="0"/>
              <a:sym typeface="+mn-ea"/>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MICROCONTROLLERS FOR WEARABLE DEVICE</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Microcontroller: ESP32-S3-WROOM-1/1U/2</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CPU: Dual-core 32-bit Xtensa® LX7, up to 240 MHz</a:t>
            </a:r>
            <a:endParaRPr lang="en-US" altLang="en-US" sz="24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Wireless Connectivity: Wi-Fi 802.11 b/g/n (2.4 GHz), Bluetooth® 5 (LE)</a:t>
            </a:r>
            <a:endParaRPr lang="en-US" altLang="en-US" sz="24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en-US" altLang="en-US" sz="2400" b="1">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Memory: 8 MB Flash, up to 8 MB PSRAM (variant-dependent)</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GPIO: 22 digital I/O pins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Analog Inputs: 6 ADC channels                 </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PWM Outputs: 6 channels</a:t>
            </a: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lvl="0" indent="-457200">
              <a:buFont typeface="+mj-lt"/>
              <a:buAutoNum type="arabicParenR"/>
            </a:pPr>
            <a:r>
              <a:rPr lang="en-US" altLang="en-US" sz="2400" b="1">
                <a:latin typeface="Times New Roman" panose="02020603050405020304" pitchFamily="18" charset="0"/>
                <a:cs typeface="Times New Roman" panose="02020603050405020304" pitchFamily="18" charset="0"/>
              </a:rPr>
              <a:t>Interfaces Supported: I²C, SPI, UART, USB OTG, ADC, DAC</a:t>
            </a:r>
            <a:endParaRPr lang="en-US" altLang="en-US" sz="2400" b="1">
              <a:latin typeface="Times New Roman" panose="02020603050405020304" pitchFamily="18" charset="0"/>
              <a:cs typeface="Times New Roman" panose="02020603050405020304" pitchFamily="18" charset="0"/>
            </a:endParaRPr>
          </a:p>
        </p:txBody>
      </p:sp>
      <p:pic>
        <p:nvPicPr>
          <p:cNvPr id="4" name="Picture 3" descr="MCU-1"/>
          <p:cNvPicPr>
            <a:picLocks noChangeAspect="1"/>
          </p:cNvPicPr>
          <p:nvPr/>
        </p:nvPicPr>
        <p:blipFill>
          <a:blip r:embed="rId2"/>
          <a:stretch>
            <a:fillRect/>
          </a:stretch>
        </p:blipFill>
        <p:spPr>
          <a:xfrm>
            <a:off x="5986780" y="4874260"/>
            <a:ext cx="3923030" cy="1143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3500" spc="-95" dirty="0">
                <a:latin typeface="Times New Roman" panose="02020603050405020304" pitchFamily="18" charset="0"/>
                <a:cs typeface="Times New Roman" panose="02020603050405020304" pitchFamily="18" charset="0"/>
              </a:rPr>
              <a:t>MICROCONTROLLERS FOR WEARABLE DEVICE</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Voltage: 3.3 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5 V input via USB Type-C or 5V pin</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Onboard Regulator: 5 V to 3.3 V Low Dropout (LDO)</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Current Supply: Up to 800 mA from the 3.3 V rail</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LDO Regulator: Converts 5 V to stable 3.3 V output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Safe Power Delivery: Powers microcontroller and sensors safely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Flexibility: Accepts USB or Li-Ion battery modules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Ideal for Wearables: Efficient and compact for mobile power sources</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High-Performance Core: Arm Cortex-M33 @ 240 MHz (370 DMIPS, 984 CoreMark)</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Low-Power Core: Arm Cortex-M33 @ 24 MHz (64 KB SRAM)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Total SRAM: 512 KB (HCPU) + 64 KB (LCPU)</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Dual-core architecture for performance &amp; efficiency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NOR Flash (SiP): up to 96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OPI-PSRAM (SiP): up to 144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External Memory Support: NOR, NAND, OPI-PSRAM via QSPI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SD/SDIO/eMMC Support: SD3.0, SDIO3.0, eMMC</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GPU: ePicaso 2.0 for 2D/2.5D rendering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Max Resolution: 512×512</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Display Interfaces: 8080, SPI, Dual-/Quad-SPI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LCD Support: 1 layer + background with alpha blending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Bluetooth 5.3 Dual Mode with BLE Audio</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Sensitivity: –100 dBm (BLE 1 Mbps)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Tx Power: Up to 19 dBm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 Power BLE Mode: ~50 µA connected</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GPIOs: Up to 45</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Serial Interfaces: 3× UART, 4× I²C, 2×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12-bit ADC (8 channels) + Integrated Temp Sensor</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DMA: Internal + extDMA (external memory)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Timers: GPTIM, BTIM, ATIM, LPTIM, WDT, RTC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Supports advanced timing and system scheduling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Security: AES, HASH, CRC, TRNG, PSA Level 1</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Battery Charging: 560 mA lithium charger (4.2–4.45 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a:latin typeface="Times New Roman" panose="02020603050405020304" pitchFamily="18" charset="0"/>
                <a:cs typeface="Times New Roman" panose="02020603050405020304" pitchFamily="18" charset="0"/>
                <a:sym typeface="+mn-ea"/>
              </a:rPr>
              <a:t>SiFli SF32LB5J  MCU</a:t>
            </a:r>
            <a:r>
              <a:rPr lang="en-US" altLang="en-US" sz="4500" spc="-95" dirty="0">
                <a:latin typeface="Times New Roman" panose="02020603050405020304" pitchFamily="18" charset="0"/>
                <a:cs typeface="Times New Roman" panose="02020603050405020304" pitchFamily="18" charset="0"/>
              </a:rPr>
              <a:t> </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Low Power: 2 µA sleep current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sym typeface="+mn-ea"/>
              </a:rPr>
              <a:t>Power Input: VBAT 3.2–4.7V, VBUS 4.6–5.5V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Dimensions: 7 × 7 × 0.85 mm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Total GPIOs: 44</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Supports 4 I²C interfaces for flexible sensor integration</a:t>
            </a:r>
            <a:endParaRPr lang="en-US" altLang="en-US" sz="2400" b="1">
              <a:latin typeface="Times New Roman" panose="02020603050405020304" pitchFamily="18" charset="0"/>
              <a:cs typeface="Times New Roman" panose="02020603050405020304" pitchFamily="18" charset="0"/>
            </a:endParaRPr>
          </a:p>
          <a:p>
            <a:pPr indent="0">
              <a:buFont typeface="+mj-lt"/>
              <a:buNone/>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STM32F217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CPU Core: Arm Cortex-M3 32-bit RISC @ up to 120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Performance: 150 DMIPS / 398 CoreMark from Flash with ART Accelerator</a:t>
            </a:r>
            <a:r>
              <a:rPr lang="" altLang="en-US" sz="2400" b="1">
                <a:latin typeface="Times New Roman" panose="02020603050405020304" pitchFamily="18" charset="0"/>
                <a:cs typeface="Times New Roman" panose="02020603050405020304" pitchFamily="18" charset="0"/>
              </a:rPr>
              <a:t>™</a:t>
            </a:r>
            <a:endParaRPr lang=""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Embedded Flash Memory: 256 KB to 1 MB</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SRAM: Up to 128 KB + Boot ROM with ISP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90 nm CMOS process with dynamic voltage scaling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consumption: 175 µA/MHz at 120 MHz from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Modes: Sleep, Stop, Standby with fast wake-up</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Optimized for performance and low power</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STM32F217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6× USART, 3× SPI, 3× I²C, 2× CAN 2.0B, 1× SDIO</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Up to 17 timers: general-purpose, advanced, watchdog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Timer support for 16-/32-bit and time-critical tasks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STM32F217 only: Crypto/Hash engine (AES, 3DES, MD5, SHA-1)</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FSMC: Supports SRAM, PSRAM, NOR/NAND Flash, CompactFlash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Dual-bank Flash operation (read-while-write)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Boot Modes: Flash, system memory, or SRAM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TCSRAM: Fast access, tightly coupled SRAM</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TINY ML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indent="0">
              <a:buFont typeface="+mj-lt"/>
              <a:buNone/>
            </a:pPr>
            <a:r>
              <a:rPr lang="en-US" altLang="en-US" sz="2400" b="1" spc="-95" dirty="0">
                <a:latin typeface="Times New Roman" panose="02020603050405020304" pitchFamily="18" charset="0"/>
                <a:cs typeface="Times New Roman" panose="02020603050405020304" pitchFamily="18" charset="0"/>
                <a:sym typeface="+mn-ea"/>
              </a:rPr>
              <a:t>1)STM32H723ZG</a:t>
            </a:r>
            <a:endParaRPr lang="en-US" altLang="en-US" sz="2400" b="1" spc="-95" dirty="0">
              <a:latin typeface="Times New Roman" panose="02020603050405020304" pitchFamily="18" charset="0"/>
              <a:cs typeface="Times New Roman" panose="02020603050405020304" pitchFamily="18" charset="0"/>
              <a:sym typeface="+mn-ea"/>
            </a:endParaRPr>
          </a:p>
          <a:p>
            <a:pPr indent="0">
              <a:buFont typeface="+mj-lt"/>
              <a:buNone/>
            </a:pPr>
            <a:r>
              <a:rPr lang="en-US" altLang="en-US" sz="2400" b="1" spc="-95" dirty="0">
                <a:latin typeface="Times New Roman" panose="02020603050405020304" pitchFamily="18" charset="0"/>
                <a:cs typeface="Times New Roman" panose="02020603050405020304" pitchFamily="18" charset="0"/>
                <a:sym typeface="+mn-ea"/>
              </a:rPr>
              <a:t>2)</a:t>
            </a:r>
            <a:r>
              <a:rPr lang="en-US" altLang="en-US" sz="2400" spc="-95" dirty="0">
                <a:latin typeface="Times New Roman" panose="02020603050405020304" pitchFamily="18" charset="0"/>
                <a:cs typeface="Times New Roman" panose="02020603050405020304" pitchFamily="18" charset="0"/>
                <a:sym typeface="+mn-ea"/>
              </a:rPr>
              <a:t> </a:t>
            </a:r>
            <a:r>
              <a:rPr lang="en-US" altLang="en-US" sz="2400" b="1" spc="-95" dirty="0">
                <a:latin typeface="Times New Roman" panose="02020603050405020304" pitchFamily="18" charset="0"/>
                <a:cs typeface="Times New Roman" panose="02020603050405020304" pitchFamily="18" charset="0"/>
                <a:sym typeface="+mn-ea"/>
              </a:rPr>
              <a:t>ESP32-S3-DevKitC-1</a:t>
            </a:r>
            <a:endParaRPr lang="en-US" altLang="en-US" sz="2400" b="1">
              <a:latin typeface="Times New Roman" panose="02020603050405020304" pitchFamily="18" charset="0"/>
              <a:cs typeface="Times New Roman" panose="02020603050405020304" pitchFamily="18" charset="0"/>
            </a:endParaRPr>
          </a:p>
          <a:p>
            <a:pPr indent="0">
              <a:buFont typeface="+mj-lt"/>
              <a:buNone/>
            </a:pPr>
            <a:r>
              <a:rPr lang="en-US" altLang="en-US" sz="2400" b="1">
                <a:latin typeface="Times New Roman" panose="02020603050405020304" pitchFamily="18" charset="0"/>
                <a:cs typeface="Times New Roman" panose="02020603050405020304" pitchFamily="18" charset="0"/>
              </a:rPr>
              <a:t>3)ESP32-C3 </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STM32H723ZG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indent="0">
              <a:buFont typeface="+mj-lt"/>
              <a:buNone/>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Processor: 32-bit RISC-V single-core @ 160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Memory: 400 KB SRAM + 4 MB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Wireless: Wi-Fi (802.11 b/g/n) &amp; Bluetooth 5 (BLE)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Form Factor: Ultra-small (21 × 17.8 mm), single-sided components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3.7 V lithium battery with onboard charging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 11 digital I/O pins with PWM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Analog Inputs: 4 ADC pins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Deep Sleep Power Consumption: ~43 μA</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sym typeface="+mn-ea"/>
              </a:rPr>
              <a:t>STM32H723ZG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Ethernet MAC: 10/100 Mbps with IEEE 802.3</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USB: 1× OTG Full-/High-Speed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CAN: 3× Flexible Data-rate (FD-CAN)</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GPIOs: Up to 114 with external interrupt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UART/USART: Up to 4×</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SPI: Up to 6×</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I²C: Up to 4×</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I²S, SAI, SPDIF_RX, HDMI-CEC,</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sym typeface="+mn-ea"/>
              </a:rPr>
              <a:t>STM32H723ZG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Security: TRNG, MPU, ECC for memory protection</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Range: 1.62 V to 3.6 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Modes: Sleep, Stop, Standby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Backup Domain: VBAT for RTC &amp; backup registers</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ESP32-S3-DevKitC-1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Processor: Dual-core Xtensa® 32-bit LX7, up to 240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AI/Signal Acceleration: Vector instructions for neural networks &amp; DSP</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Internal Memory: 512 KB TCM SRAM, 384 KB ROM</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Cache: 256 KB embedded instruction/data cache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External Flash: Up to 32 MB (Quad/Octal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External PSRAM: Up to 8 MB (Quad/Octal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Instruction/Data Cache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Designed for high-performance memory access</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ESP32-S3-DevKitC-1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Wi-Fi: 802.11 b/g/n (2.4 GHz), up to 150 Mbps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Bluetooth 5 (LE): Long Range, Advertising Extensions, 2 Mbps PHY</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USB 1.1 OTG with PHY (native, full-speed)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Ideal for IoT &amp; wireless applications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Encryption: AES-128/256, SHA-2, RSA, HMAC, Digital Signature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GPIOs: Up to 45 configurable GPIOs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ADC/DAC: 2× 12-bit SAR ADC (20 channels), 2× 8-bit DAC</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ESP32-S3-DevKitC-1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Voltage: 1.8V or 3.3V</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Low Power Modes: Deep Sleep (~10 µA), Light Sleep</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Module Options: PCB or u.FL antenna, up to 32 MB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Operating Temp Range: –40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to +105 </a:t>
            </a:r>
            <a:r>
              <a:rPr lang="" altLang="en-US" sz="2400" b="1">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 with ±2 kV ESD protection</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ESP32-C3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Processor: 32-bit RISC-V single-core @ 160 MHz</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Memory: 400 KB SRAM + 4 MB Flash</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Wireless: Wi-Fi (802.11 b/g/n) &amp; Bluetooth 5 (BLE)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Form Factor: Ultra-small (21 × 17.8 mm), single-sided component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Power Supply: 3.7 V lithium battery with onboard charging</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GPIO: 11 digital I/O pins with PWM support</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Analog Inputs: 4 ADC pins</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Deep Sleep Power Consumption: ~43 μA</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8275" y="855340"/>
            <a:ext cx="11030284" cy="704850"/>
          </a:xfrm>
          <a:prstGeom prst="rect">
            <a:avLst/>
          </a:prstGeom>
        </p:spPr>
        <p:txBody>
          <a:bodyPr vert="horz" wrap="square" lIns="0" tIns="12700" rIns="0" bIns="0" rtlCol="0">
            <a:spAutoFit/>
          </a:bodyPr>
          <a:lstStyle/>
          <a:p>
            <a:pPr marL="12700" algn="ctr">
              <a:lnSpc>
                <a:spcPct val="100000"/>
              </a:lnSpc>
              <a:spcBef>
                <a:spcPts val="100"/>
              </a:spcBef>
            </a:pPr>
            <a:r>
              <a:rPr lang="en-US" altLang="en-US" sz="4500" spc="-95" dirty="0">
                <a:latin typeface="Times New Roman" panose="02020603050405020304" pitchFamily="18" charset="0"/>
                <a:cs typeface="Times New Roman" panose="02020603050405020304" pitchFamily="18" charset="0"/>
              </a:rPr>
              <a:t> ESP32-C3  MCU</a:t>
            </a:r>
            <a:endParaRPr lang="en-US" altLang="en-US" sz="45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3" name="Text Box 2"/>
          <p:cNvSpPr txBox="1"/>
          <p:nvPr/>
        </p:nvSpPr>
        <p:spPr>
          <a:xfrm>
            <a:off x="0" y="1955800"/>
            <a:ext cx="10693400" cy="5606415"/>
          </a:xfrm>
          <a:prstGeom prst="rect">
            <a:avLst/>
          </a:prstGeom>
          <a:noFill/>
        </p:spPr>
        <p:txBody>
          <a:bodyPr wrap="square" rtlCol="0">
            <a:noAutofit/>
          </a:bodyPr>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Interfaces: I²C, 2× UART, SPI</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RF Performance: External RF antenna included</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Buttons: Onboard Reset &amp; Bootloader mode</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Wake-Up Support: GPIO wake-up from deep sleep (D0–D3)</a:t>
            </a:r>
            <a:endParaRPr lang="en-US" altLang="en-US" sz="2400" b="1">
              <a:latin typeface="Times New Roman" panose="02020603050405020304" pitchFamily="18" charset="0"/>
              <a:cs typeface="Times New Roman" panose="02020603050405020304" pitchFamily="18" charset="0"/>
            </a:endParaRPr>
          </a:p>
          <a:p>
            <a:pPr marL="457200" indent="-457200">
              <a:buFont typeface="+mj-lt"/>
              <a:buAutoNum type="arabicParenR"/>
            </a:pPr>
            <a:r>
              <a:rPr lang="en-US" altLang="en-US" sz="2400" b="1">
                <a:latin typeface="Times New Roman" panose="02020603050405020304" pitchFamily="18" charset="0"/>
                <a:cs typeface="Times New Roman" panose="02020603050405020304" pitchFamily="18" charset="0"/>
              </a:rPr>
              <a:t>Security: AES-128/256, Hash, RSA, HMAC (hardware acceleration)</a:t>
            </a:r>
            <a:endParaRPr lang="en-US" altLang="en-US" sz="2400" b="1">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052190"/>
            <a:ext cx="11030284" cy="751205"/>
          </a:xfrm>
          <a:prstGeom prst="rect">
            <a:avLst/>
          </a:prstGeom>
        </p:spPr>
        <p:txBody>
          <a:bodyPr vert="horz" wrap="square" lIns="0" tIns="12700" rIns="0" bIns="0" rtlCol="0">
            <a:spAutoFit/>
          </a:bodyPr>
          <a:lstStyle/>
          <a:p>
            <a:pPr marL="12700" algn="ctr">
              <a:lnSpc>
                <a:spcPct val="100000"/>
              </a:lnSpc>
              <a:spcBef>
                <a:spcPts val="100"/>
              </a:spcBef>
            </a:pPr>
            <a:r>
              <a:rPr lang="en-US" sz="4800" spc="-95" dirty="0">
                <a:latin typeface="Times New Roman" panose="02020603050405020304" pitchFamily="18" charset="0"/>
                <a:cs typeface="Times New Roman" panose="02020603050405020304" pitchFamily="18" charset="0"/>
              </a:rPr>
              <a:t>COMPONENT SELECTIONS</a:t>
            </a:r>
            <a:endParaRPr lang="en-US" sz="4800" spc="-95" dirty="0">
              <a:latin typeface="Times New Roman" panose="02020603050405020304" pitchFamily="18" charset="0"/>
              <a:cs typeface="Times New Roman" panose="02020603050405020304" pitchFamily="18" charset="0"/>
            </a:endParaRPr>
          </a:p>
        </p:txBody>
      </p:sp>
      <p:sp>
        <p:nvSpPr>
          <p:cNvPr id="5" name="object 5"/>
          <p:cNvSpPr/>
          <p:nvPr/>
        </p:nvSpPr>
        <p:spPr>
          <a:xfrm>
            <a:off x="8369006" y="6809792"/>
            <a:ext cx="270236" cy="324349"/>
          </a:xfrm>
          <a:prstGeom prst="rect">
            <a:avLst/>
          </a:prstGeom>
          <a:blipFill>
            <a:blip r:embed="rId1" cstate="print"/>
            <a:stretch>
              <a:fillRect/>
            </a:stretch>
          </a:blipFill>
        </p:spPr>
        <p:txBody>
          <a:bodyPr wrap="square" lIns="0" tIns="0" rIns="0" bIns="0" rtlCol="0"/>
          <a:lstStyle/>
          <a:p/>
        </p:txBody>
      </p:sp>
      <p:sp>
        <p:nvSpPr>
          <p:cNvPr id="6" name="object 6"/>
          <p:cNvSpPr txBox="1">
            <a:spLocks noGrp="1"/>
          </p:cNvSpPr>
          <p:nvPr>
            <p:ph type="ftr" sz="quarter" idx="5"/>
          </p:nvPr>
        </p:nvSpPr>
        <p:spPr>
          <a:xfrm>
            <a:off x="8715147" y="6899328"/>
            <a:ext cx="1635125" cy="163829"/>
          </a:xfrm>
          <a:prstGeom prst="rect">
            <a:avLst/>
          </a:prstGeom>
        </p:spPr>
        <p:txBody>
          <a:bodyPr vert="horz" wrap="square" lIns="0" tIns="0" rIns="0" bIns="0" rtlCol="0">
            <a:spAutoFit/>
          </a:bodyPr>
          <a:lstStyle/>
          <a:p>
            <a:pPr marL="12700">
              <a:lnSpc>
                <a:spcPts val="1135"/>
              </a:lnSpc>
            </a:pPr>
            <a:r>
              <a:t>UNIVERSITY </a:t>
            </a:r>
            <a:r>
              <a:rPr spc="30"/>
              <a:t>OF</a:t>
            </a:r>
            <a:r>
              <a:t> </a:t>
            </a:r>
            <a:r>
              <a:rPr spc="65"/>
              <a:t>GH</a:t>
            </a:r>
            <a:r>
              <a:rPr lang="en-GB" spc="65"/>
              <a:t>AN</a:t>
            </a:r>
            <a:r>
              <a:rPr spc="65"/>
              <a:t>A</a:t>
            </a:r>
            <a:endParaRPr spc="65"/>
          </a:p>
        </p:txBody>
      </p:sp>
      <p:sp>
        <p:nvSpPr>
          <p:cNvPr id="7" name="object 3"/>
          <p:cNvSpPr txBox="1"/>
          <p:nvPr/>
        </p:nvSpPr>
        <p:spPr>
          <a:xfrm>
            <a:off x="0" y="1925053"/>
            <a:ext cx="10693400" cy="7549515"/>
          </a:xfrm>
          <a:prstGeom prst="rect">
            <a:avLst/>
          </a:prstGeom>
        </p:spPr>
        <p:txBody>
          <a:bodyPr vert="horz" wrap="square" lIns="0" tIns="216535" rIns="0" bIns="0" rtlCol="0" anchor="t">
            <a:spAutoFit/>
          </a:bodyPr>
          <a:lstStyle/>
          <a:p>
            <a:pPr marL="457200" indent="-457200">
              <a:buFont typeface="+mj-lt"/>
              <a:buAutoNum type="arabicParenR"/>
              <a:tabLst>
                <a:tab pos="469265" algn="l"/>
                <a:tab pos="469900" algn="l"/>
              </a:tabLst>
            </a:pPr>
            <a:r>
              <a:rPr lang="en-US" sz="2200" b="1" dirty="0">
                <a:latin typeface="Times New Roman" panose="02020603050405020304" pitchFamily="18" charset="0"/>
                <a:cs typeface="Times New Roman" panose="02020603050405020304" pitchFamily="18" charset="0"/>
              </a:rPr>
              <a:t>TMP117 Temperature Sensor     -   Body Temperature Measurement</a:t>
            </a:r>
            <a:endParaRPr 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sz="2200" b="1" dirty="0">
                <a:latin typeface="Times New Roman" panose="02020603050405020304" pitchFamily="18" charset="0"/>
                <a:cs typeface="Times New Roman" panose="02020603050405020304" pitchFamily="18" charset="0"/>
              </a:rPr>
              <a:t>MAX30102 Sensor                      -    Heart Rate and Oxygen Saturation</a:t>
            </a:r>
            <a:endParaRPr 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altLang="en-US" sz="2200" b="1" dirty="0">
                <a:latin typeface="Times New Roman" panose="02020603050405020304" pitchFamily="18" charset="0"/>
                <a:cs typeface="Times New Roman" panose="02020603050405020304" pitchFamily="18" charset="0"/>
              </a:rPr>
              <a:t>AS7263 NIR Spectral Sensor     -   Blood Pressure and Blood Glucose </a:t>
            </a:r>
            <a:endParaRPr lang="en-US" alt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altLang="en-US" sz="2200" b="1" dirty="0">
                <a:latin typeface="Times New Roman" panose="02020603050405020304" pitchFamily="18" charset="0"/>
                <a:cs typeface="Times New Roman" panose="02020603050405020304" pitchFamily="18" charset="0"/>
              </a:rPr>
              <a:t>SF32LB52J                                  -  MCU for wearable Device</a:t>
            </a:r>
            <a:endParaRPr lang="en-US" alt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r>
              <a:rPr lang="en-US" altLang="en-US" sz="2200" b="1" dirty="0">
                <a:latin typeface="Times New Roman" panose="02020603050405020304" pitchFamily="18" charset="0"/>
                <a:cs typeface="Times New Roman" panose="02020603050405020304" pitchFamily="18" charset="0"/>
              </a:rPr>
              <a:t>ESP32-S3-DevKitC-1                 -  MCU for tinyML</a:t>
            </a:r>
            <a:endParaRPr lang="en-US" altLang="en-US" sz="2200" b="1" dirty="0">
              <a:latin typeface="Times New Roman" panose="02020603050405020304" pitchFamily="18" charset="0"/>
              <a:cs typeface="Times New Roman" panose="02020603050405020304" pitchFamily="18" charset="0"/>
            </a:endParaRPr>
          </a:p>
          <a:p>
            <a:pPr marL="457200" indent="-457200">
              <a:buFont typeface="+mj-lt"/>
              <a:buAutoNum type="arabicParenR"/>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indent="0">
              <a:buFont typeface="+mj-lt"/>
              <a:buNone/>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baseline="30000" dirty="0">
              <a:latin typeface="Times New Roman" panose="02020603050405020304" pitchFamily="18" charset="0"/>
              <a:cs typeface="Times New Roman" panose="02020603050405020304" pitchFamily="18" charset="0"/>
            </a:endParaRPr>
          </a:p>
          <a:p>
            <a:pPr>
              <a:tabLst>
                <a:tab pos="469265" algn="l"/>
                <a:tab pos="469900" algn="l"/>
              </a:tabLst>
            </a:pPr>
            <a:r>
              <a:rPr lang="en-US" sz="2200" b="1" baseline="30000" dirty="0">
                <a:latin typeface="Times New Roman" panose="02020603050405020304" pitchFamily="18" charset="0"/>
                <a:cs typeface="Times New Roman" panose="02020603050405020304" pitchFamily="18" charset="0"/>
              </a:rPr>
              <a:t>                                             </a:t>
            </a:r>
            <a:endParaRPr lang="en-US" sz="2200" b="1" baseline="30000"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marL="457200" indent="-457200">
              <a:buFont typeface="Wingdings,Sans-Serif" panose="05000000000000000000" pitchFamily="2" charset="2"/>
              <a:buChar char="v"/>
              <a:tabLst>
                <a:tab pos="469265" algn="l"/>
                <a:tab pos="469900" algn="l"/>
              </a:tabLst>
            </a:pPr>
            <a:endParaRPr lang="en-US" sz="2200" b="1" dirty="0">
              <a:latin typeface="Times New Roman" panose="02020603050405020304" pitchFamily="18" charset="0"/>
              <a:cs typeface="Times New Roman" panose="02020603050405020304" pitchFamily="18" charset="0"/>
            </a:endParaRPr>
          </a:p>
          <a:p>
            <a:pPr>
              <a:tabLst>
                <a:tab pos="469265" algn="l"/>
                <a:tab pos="469900" algn="l"/>
              </a:tabLst>
            </a:pPr>
            <a:endParaRPr lang="en-US" sz="2200" dirty="0">
              <a:latin typeface="Times New Roman" panose="02020603050405020304" pitchFamily="18" charset="0"/>
              <a:cs typeface="Times New Roman" panose="02020603050405020304" pitchFamily="18" charset="0"/>
            </a:endParaRPr>
          </a:p>
          <a:p>
            <a:pPr marL="12700">
              <a:lnSpc>
                <a:spcPct val="150000"/>
              </a:lnSpc>
              <a:spcBef>
                <a:spcPts val="1605"/>
              </a:spcBef>
              <a:tabLst>
                <a:tab pos="469265" algn="l"/>
                <a:tab pos="469900" algn="l"/>
              </a:tabLst>
            </a:pPr>
            <a:endParaRPr lang="en-US" sz="2600" b="1" dirty="0">
              <a:latin typeface="Times New Roman" panose="02020603050405020304"/>
              <a:ea typeface="Calibri" panose="020F0502020204030204"/>
              <a:cs typeface="Calibri" panose="020F0502020204030204"/>
            </a:endParaRPr>
          </a:p>
          <a:p>
            <a:pPr marL="12700">
              <a:lnSpc>
                <a:spcPct val="150000"/>
              </a:lnSpc>
              <a:spcBef>
                <a:spcPts val="1605"/>
              </a:spcBef>
              <a:tabLst>
                <a:tab pos="469265" algn="l"/>
                <a:tab pos="469900" algn="l"/>
              </a:tabLst>
            </a:pPr>
            <a:endParaRPr lang="en-US" sz="2600" b="1" dirty="0">
              <a:latin typeface="Times New Roman" panose="02020603050405020304"/>
              <a:cs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70" y="733662"/>
            <a:ext cx="7707630" cy="923330"/>
          </a:xfrm>
        </p:spPr>
        <p:txBody>
          <a:bodyPr wrap="square" lIns="0" tIns="0" rIns="0" bIns="0" anchor="t">
            <a:spAutoFit/>
          </a:bodyPr>
          <a:lstStyle/>
          <a:p>
            <a:r>
              <a:rPr lang="en-GB" sz="6000">
                <a:latin typeface="Times New Roman" panose="02020603050405020304"/>
                <a:cs typeface="Times New Roman" panose="02020603050405020304"/>
              </a:rPr>
              <a:t>MISCELLANEOUS</a:t>
            </a:r>
            <a:endParaRPr lang="en-US" sz="6000">
              <a:latin typeface="Times New Roman" panose="02020603050405020304"/>
              <a:cs typeface="Times New Roman" panose="02020603050405020304"/>
            </a:endParaRPr>
          </a:p>
        </p:txBody>
      </p:sp>
      <p:sp>
        <p:nvSpPr>
          <p:cNvPr id="3" name="Text Placeholder 2"/>
          <p:cNvSpPr>
            <a:spLocks noGrp="1"/>
          </p:cNvSpPr>
          <p:nvPr>
            <p:ph type="body" idx="1"/>
          </p:nvPr>
        </p:nvSpPr>
        <p:spPr>
          <a:xfrm>
            <a:off x="393700" y="3009970"/>
            <a:ext cx="10363200" cy="2477601"/>
          </a:xfrm>
        </p:spPr>
        <p:txBody>
          <a:bodyPr/>
          <a:lstStyle/>
          <a:p>
            <a:r>
              <a:rPr lang="en-GB" sz="2600"/>
              <a:t>           </a:t>
            </a:r>
            <a:r>
              <a:rPr lang="en-GB" sz="8000" b="1"/>
              <a:t> </a:t>
            </a:r>
            <a:endParaRPr lang="en-GB" sz="8000" b="1"/>
          </a:p>
          <a:p>
            <a:pPr algn="ctr"/>
            <a:r>
              <a:rPr lang="en-GB" sz="5500" b="1">
                <a:latin typeface="Times New Roman" panose="02020603050405020304" pitchFamily="18" charset="0"/>
                <a:cs typeface="Times New Roman" panose="02020603050405020304" pitchFamily="18" charset="0"/>
              </a:rPr>
              <a:t>QUESTIONS/FEEDBACK</a:t>
            </a:r>
            <a:endParaRPr lang="en-GB" sz="55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15092</Words>
  <Application>WPS Presentation</Application>
  <PresentationFormat>Custom</PresentationFormat>
  <Paragraphs>1187</Paragraphs>
  <Slides>52</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52</vt:i4>
      </vt:variant>
    </vt:vector>
  </HeadingPairs>
  <TitlesOfParts>
    <vt:vector size="73" baseType="lpstr">
      <vt:lpstr>Arial</vt:lpstr>
      <vt:lpstr>SimSun</vt:lpstr>
      <vt:lpstr>Wingdings</vt:lpstr>
      <vt:lpstr>Arial</vt:lpstr>
      <vt:lpstr>Times New Roman</vt:lpstr>
      <vt:lpstr>Lora</vt:lpstr>
      <vt:lpstr>Segoe Print</vt:lpstr>
      <vt:lpstr>Times New Roman</vt:lpstr>
      <vt:lpstr>Inter</vt:lpstr>
      <vt:lpstr>Inter</vt:lpstr>
      <vt:lpstr>Wingdings</vt:lpstr>
      <vt:lpstr>Wingdings,Sans-Serif</vt:lpstr>
      <vt:lpstr>Calibri</vt:lpstr>
      <vt:lpstr>Microsoft YaHei</vt:lpstr>
      <vt:lpstr>Arial Unicode MS</vt:lpstr>
      <vt:lpstr>Aptos</vt:lpstr>
      <vt:lpstr>Segoe UI</vt:lpstr>
      <vt:lpstr>Tahoma</vt:lpstr>
      <vt:lpstr>Wingdings 3</vt:lpstr>
      <vt:lpstr>Calibri</vt:lpstr>
      <vt:lpstr>Office Theme</vt:lpstr>
      <vt:lpstr>DEVELOPMENT OF INTEGRATED WEARABLE DEVICE FOR REMOTE MONITORING OF PREGNANT WOMEN IN GHANA</vt:lpstr>
      <vt:lpstr>COLLABORATORS</vt:lpstr>
      <vt:lpstr>TASK DELEGATION</vt:lpstr>
      <vt:lpstr>AI MODEL PROGRESS </vt:lpstr>
      <vt:lpstr>DATASET OVERVIEW</vt:lpstr>
      <vt:lpstr>FEATURES</vt:lpstr>
      <vt:lpstr>THRESHOLD DESCRIPTION</vt:lpstr>
      <vt:lpstr>DATASET OVERVIEW</vt:lpstr>
      <vt:lpstr>FEATURES</vt:lpstr>
      <vt:lpstr>DATASET OVERVIEW</vt:lpstr>
      <vt:lpstr>MODEL SELECTION</vt:lpstr>
      <vt:lpstr>TIME TAKEN (S)</vt:lpstr>
      <vt:lpstr>K - FOLD CROSS VALIDATION</vt:lpstr>
      <vt:lpstr>BRIEF DESCRIPTION OF MODELS</vt:lpstr>
      <vt:lpstr>MACHINE LEARNING WORKFLOW</vt:lpstr>
      <vt:lpstr>MACHINE LEARNING WORKFLOW</vt:lpstr>
      <vt:lpstr>COMPONENTS FOR SIMULATION</vt:lpstr>
      <vt:lpstr>BODY TEMPERATURE MEASUREMENT</vt:lpstr>
      <vt:lpstr>TMP117 Temperature Sensor</vt:lpstr>
      <vt:lpstr>TMP117 Temperature Sensor</vt:lpstr>
      <vt:lpstr>TMP117 Temperature Sensor</vt:lpstr>
      <vt:lpstr>MAX30205 Temperature Sensor</vt:lpstr>
      <vt:lpstr>MAX30205 Temperature Sensor</vt:lpstr>
      <vt:lpstr>ADT7420  Temperature Sensor</vt:lpstr>
      <vt:lpstr>KEY ADVANTAGES OF TMP117 SENSOR</vt:lpstr>
      <vt:lpstr> Heart Rate and Oxygen Saturation Sensor</vt:lpstr>
      <vt:lpstr>MAX30102 Sensor</vt:lpstr>
      <vt:lpstr>SparkFun Pulse Oximeter </vt:lpstr>
      <vt:lpstr>MAX30112 Sensor </vt:lpstr>
      <vt:lpstr>KEY ADVANTAGES OF MAX30102 </vt:lpstr>
      <vt:lpstr>BLOOD PRESSURE AND BLOOD GLUCOSE MEASUREMENT </vt:lpstr>
      <vt:lpstr>BLOOD PRESSURE AND BLOOD GLUCOSE MEASUREMENT </vt:lpstr>
      <vt:lpstr>Why I²C Communication ? </vt:lpstr>
      <vt:lpstr>MICROCONTROLLERS FOR WEARABLE DEVICE </vt:lpstr>
      <vt:lpstr>MICROCONTROLLERS FOR WEARABLE DEVICE </vt:lpstr>
      <vt:lpstr>MICROCONTROLLERS FOR WEARABLE DEVICE </vt:lpstr>
      <vt:lpstr>SiFli SF32LB5J  MCU </vt:lpstr>
      <vt:lpstr>SiFli SF32LB5J  MCU </vt:lpstr>
      <vt:lpstr>SiFli SF32LB5J  MCU </vt:lpstr>
      <vt:lpstr>SiFli SF32LB5J  MCU </vt:lpstr>
      <vt:lpstr>STM32F217  MCU</vt:lpstr>
      <vt:lpstr>STM32F217  MCU</vt:lpstr>
      <vt:lpstr>TINY ML MCU</vt:lpstr>
      <vt:lpstr>ESP32-C3</vt:lpstr>
      <vt:lpstr>STM32H723ZG MCU</vt:lpstr>
      <vt:lpstr>ESP32-C3</vt:lpstr>
      <vt:lpstr> ESP32-S3-DevKitC-1  MCU</vt:lpstr>
      <vt:lpstr> ESP32-S3-DevKitC-1  MCU</vt:lpstr>
      <vt:lpstr> ESP32-S3-DevKitC-1  MCU</vt:lpstr>
      <vt:lpstr> ESP32-C3  MCU</vt:lpstr>
      <vt:lpstr>Esp32-s3-devkitc-1 Board</vt:lpstr>
      <vt:lpstr>MISCELLANEOUS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 Powerpoint template</dc:title>
  <dc:creator>Graham</dc:creator>
  <cp:lastModifiedBy>Richard</cp:lastModifiedBy>
  <cp:revision>870</cp:revision>
  <dcterms:created xsi:type="dcterms:W3CDTF">2021-02-07T15:10:00Z</dcterms:created>
  <dcterms:modified xsi:type="dcterms:W3CDTF">2025-05-16T08:10:09Z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2014-10-29T22:00:00Z</vt:filetime>
  </property>
  <property fmtid="{D5CDD505-2E9C-101B-9397-08002B2CF9AE}" pid="3" name="Creator">
    <vt:lpwstr>CorelDRAW</vt:lpwstr>
  </property>
  <property fmtid="{D5CDD505-2E9C-101B-9397-08002B2CF9AE}" pid="4" name="LastSaved">
    <vt:filetime>2021-02-06T22:00:00Z</vt:filetime>
  </property>
  <property fmtid="{D5CDD505-2E9C-101B-9397-08002B2CF9AE}" pid="5" name="ICV">
    <vt:lpwstr>D0E8206354194879ABE01E54E9C0028C_13</vt:lpwstr>
  </property>
  <property fmtid="{D5CDD505-2E9C-101B-9397-08002B2CF9AE}" pid="6" name="KSOProductBuildVer">
    <vt:lpwstr>1033-12.2.0.21179</vt:lpwstr>
  </property>
</Properties>
</file>